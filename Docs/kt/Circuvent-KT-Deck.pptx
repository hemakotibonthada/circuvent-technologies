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they should finish this session able to find things, not able to recite them. The documents are the deliverable; this is the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independence. The most common new-joiner mistake is assuming a change needs all four to be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counted from the tree at build time. If they look wrong, the generator is reading a different tree than you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remember one architectural fact from this session, make it this one. Nearly every confused question about users traces back to assuming one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this slowly. Almost every device bug is a misunderstanding of which step owns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voice exclusion list is asserted by traits.test.ts. Adding to it has to be argued for, not just typed.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list is the firmware tree. firmware-console-parity.test.ts fails if any of these has no console control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useful thing to teach. tests/ is full of parity guards; point at device-type-parity.test.ts as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Parsed straight out of Docs/00 §9 at build time, so this slide cannot fall behind the table new joiners actually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audit-swallowed.js is a ratchet: the number may fall and must never 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Docs/09 has the exact commands. The point of this slide is that 'it built' is not 'it deployed'.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them all now. 00 and 01 today; the rest when the task calls for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them to fix a wrong document in the same PR as the code. These documents only stay true because whoever notices the drift corrects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here. It is the habit that matters more than any individual fact in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2316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Engineering handover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94A3B8"/>
                </a:solidFill>
                <a:latin typeface="Calibri"/>
              </a:rPr>
              <a:t>Four deployables, one product — what to know before you change anything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120640"/>
            <a:ext cx="2011680" cy="4114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5840" y="53492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Generated 15 August 2026 · 999e5fe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172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15 August 2026 from the repository at 999e5fe · Docs/ is the source of truth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This deck is a map, not the territory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Docs/ is the source of truth — </a:t>
            </a:r>
            <a:r>
              <a:rPr sz="1700">
                <a:solidFill>
                  <a:srgbClr val="334155"/>
                </a:solidFill>
                <a:latin typeface="Calibri"/>
              </a:rPr>
              <a:t>29 documents, written from the code and kept with it.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This deck — </a:t>
            </a:r>
            <a:r>
              <a:rPr sz="1700">
                <a:solidFill>
                  <a:srgbClr val="334155"/>
                </a:solidFill>
                <a:latin typeface="Calibri"/>
              </a:rPr>
              <a:t>which of them to read, in what order, and the few facts that span all four deployables.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The handbook — </a:t>
            </a:r>
            <a:r>
              <a:rPr sz="1700">
                <a:solidFill>
                  <a:srgbClr val="334155"/>
                </a:solidFill>
                <a:latin typeface="Calibri"/>
              </a:rPr>
              <a:t>the same material in prose, for reading rather than presenting.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The quick reference — </a:t>
            </a:r>
            <a:r>
              <a:rPr sz="1700">
                <a:solidFill>
                  <a:srgbClr val="334155"/>
                </a:solidFill>
                <a:latin typeface="Calibri"/>
              </a:rPr>
              <a:t>commands and traps, meant to be printed and kept beside you.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Nothing here is typed by hand — </a:t>
            </a:r>
            <a:r>
              <a:rPr sz="1700">
                <a:solidFill>
                  <a:srgbClr val="334155"/>
                </a:solidFill>
                <a:latin typeface="Calibri"/>
              </a:rPr>
              <a:t>every count, device and trap on the following slides is read out of the repository at build time, so this pack cannot quietly fall behind the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SHAPE OF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Four deployables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1204"/>
                <a:gridCol w="1558902"/>
                <a:gridCol w="2934404"/>
                <a:gridCol w="2842704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Lives in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Runs on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Website, shop, console, admin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src/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TypeScript · Next.js 16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Vercel → circuvent.com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Control plane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platform/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TypeScript · Express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One VM, Docker Compose → api.circuvent.com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Mobile app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mobile/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TypeScript · React Native (Expo)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Play Store · com.circuvent.app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Device firmware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firmware/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C++ · Arduino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ESP32 hardware in customers' homes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Each can be built, tested and broken on its own. Most tasks touch one. They meet only at documented contracts — MQTT topics, the REST API, and the state keys a device publishes.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6B6D4"/>
                </a:solidFill>
                <a:latin typeface="Calibri"/>
              </a:rPr>
              <a:t>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What you are taking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5786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930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device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2860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3713" y="25786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143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34930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web API routes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22860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93027" y="25786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34930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control-plane routers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81" y="22860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32341" y="25786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34930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documents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148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44074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190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218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web test files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16553" y="41148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53713" y="44074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3713" y="53218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control-plane test files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5867" y="41148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93027" y="44074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115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3027" y="53218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React components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5181" y="41148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32341" y="44074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341" y="53218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separate databases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THE THING THAT SURPRISES EVERYBODY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There are two databases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5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9103"/>
                <a:gridCol w="4218206"/>
                <a:gridCol w="4309906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Shop database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Control-plane database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Neon (serverless HTTP)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Postgres 16 container on the VM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Reached from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The Next.js app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The control-plane API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Access code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src/lib/db.ts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platform/api/src/db.ts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Password hashing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scrypt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bcrypt, cost 12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Customers, orders, wallets, CMS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Fleet users, devices, telemetry, automations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Neither can see the other, and that is the point: a compromise or an outage of the shop cannot reach the device fleet. They are joined only by a single-sign-on bridge that lets each vouch for a customer it has already authenticated. See Docs/05-databases.md.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HOT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How a command reaches a device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892807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console or app calls POST /devices/:id/command.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41448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2478024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459736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API checks the caller's JWT and that they own that device.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08376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3044952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26664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API publishes to cv/&lt;deviceId&gt;/cmd on Mosquitto at QoS 1.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575304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3611880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593592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device applies the change and republishes its full state, retained.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42232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178808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160520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API persists that state and pushes it to every watching WebSocket.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09160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745736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727448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UI, which already applied the change optimistically, reconciles.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1324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Well under a second end to end, and there is no polling anywhere in it. The device is the authority on its own state — the UI never assumes it won.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Trust boundaries you must not blur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5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305"/>
                <a:gridCol w="706091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Enforced by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Browser → Next.js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HMAC session tokens; separate admin sessions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App → control plane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JWT bearer token, checked against a live session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Device → broker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Per-device username and secret over TLS; ACL limits it to cv/&lt;its own id&gt;/#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Control plane → broker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The control-plane user, reachable only on the internal Docker network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Shop ↔ console SSO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Shared FEDERATION_SECRET, HMAC and timestamp, server-to-server only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120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Two rules with teeth: device ownership is re-checked on every frame, not only when a client asks to watch a camera — so unclaiming a device cuts its feed immediately. And locks, gates, cameras, ANPR and drones are absent from the voice-assistant trait map on purpose: a spoken command must not unlock a door.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THE FLEET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24 device types ship from firmware/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agri-starter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anpr-cam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aquaguard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camera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curtain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drone-fc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drone-link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energy-monitor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facedoor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guardian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home-hub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meter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motion-sensor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rfid-gate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sentinel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smart-fan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82880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smart-light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smart-lock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smart-plug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smart-switch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touchboard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touchboard-8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watertank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watertank-sensor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A device type id is the worst thing in this codebase to get wrong: the same string appears in firmware, the API, both apps and the shop. Copy it, never retype it — and see Docs/07 before adding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6B6D4"/>
                </a:solidFill>
                <a:latin typeface="Calibri"/>
              </a:rPr>
              <a:t>HOW WORK IS DONE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rule that matters most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Almost every real bug in this codebase has been one surface knowing something another surface did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Not a crash — </a:t>
            </a:r>
            <a:r>
              <a:rPr sz="1700">
                <a:solidFill>
                  <a:srgbClr val="CBD5E1"/>
                </a:solidFill>
                <a:latin typeface="Calibri"/>
              </a:rPr>
              <a:t>a control that is simply absent, or a button that does nothing, on one screen out of six.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>
                <a:solidFill>
                  <a:srgbClr val="CBD5E1"/>
                </a:solidFill>
                <a:latin typeface="Calibri"/>
              </a:rPr>
              <a:t>A device type registered in the app but not the console: customers could dim a lamp on their phone and not in a browser.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>
                <a:solidFill>
                  <a:srgbClr val="CBD5E1"/>
                </a:solidFill>
                <a:latin typeface="Calibri"/>
              </a:rPr>
              <a:t>A scene editor offering a Power toggle for a curtain: the row was offered, configured, saved, and silently dropped.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They share a shape — </a:t>
            </a:r>
            <a:r>
              <a:rPr sz="1700">
                <a:solidFill>
                  <a:srgbClr val="CBD5E1"/>
                </a:solidFill>
                <a:latin typeface="Calibri"/>
              </a:rPr>
              <a:t>two tables that must agree, nothing forcing them to, and no error when they disagree.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6B6D4"/>
                </a:solidFill>
                <a:latin typeface="Calibri"/>
              </a:rPr>
              <a:t>So when you add a fact about a device — a type, a field, a control, an icon — find every table that already stores that kind of fact, and add a test that fails when they disagree.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LEARN FROM OTHER PEOPLE'S AFTERNOONS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Traps, each of which cost somebody a day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37214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9504"/>
                <a:gridCol w="3668005"/>
                <a:gridCol w="3759705"/>
              </a:tblGrid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happens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truth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pio not found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Firmware commands fail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Use python -m platformio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Editing mobile/android/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Change vanishes later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Generated; edit app.json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Editing mobile/app.json's extra.apiBase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Nothing happens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Nothing reads it; use src/config.ts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Writing expect(x, "message")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Expect takes at most one argument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This is Jest, not Vitest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Two dev servers at once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Weird module errors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Delete .next, run one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Assuming one database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Confusion about users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Shop and control plane have separate databases and separate user tables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Adding a device type in one place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Silently no controls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A type is registered in several tables; see 07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BEFORE YOU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Testing is the handover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7402"/>
                <a:gridCol w="4218206"/>
                <a:gridCol w="4401606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protects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Web app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npx tsc --noEmit &amp;&amp; npm test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Types, and the parity guards in tests/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Control plane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cd platform/api &amp;&amp; npm test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Auth, MQTT bridge, households, voice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Mobile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cd mobile &amp;&amp; npm run typecheck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tsc plus a dozen static audits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Firmware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python -m platformio run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It compiles for the board it ships on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1206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The mobile typecheck is not just tsc. It audits navigation targets, device-type coverage, the command map against firmware, contrast, screen theming, iOS-only dialogs, swallowed failures and permissions — and each of those exists because it once shipped a bug. Verify by running it, not by reading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GETTING IT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Four things deploy four different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Website — </a:t>
            </a:r>
            <a:r>
              <a:rPr sz="1700">
                <a:solidFill>
                  <a:srgbClr val="334155"/>
                </a:solidFill>
                <a:latin typeface="Calibri"/>
              </a:rPr>
              <a:t>push to the deploying remote; Vercel builds. Verify by build sha from /api/health, never by eye.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Control plane — </a:t>
            </a:r>
            <a:r>
              <a:rPr sz="1700">
                <a:solidFill>
                  <a:srgbClr val="334155"/>
                </a:solidFill>
                <a:latin typeface="Calibri"/>
              </a:rPr>
              <a:t>tar the tree, upload, and run scripts/deploy.sh on the VM. Hand it the tarball; do not extract it yourself, or the backup archives the new code and calls it a rollback.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Mobile — </a:t>
            </a:r>
            <a:r>
              <a:rPr sz="1700">
                <a:solidFill>
                  <a:srgbClr val="334155"/>
                </a:solidFill>
                <a:latin typeface="Calibri"/>
              </a:rPr>
              <a:t>bump version and versionCode together, then npm run build:android.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Firmware — </a:t>
            </a:r>
            <a:r>
              <a:rPr sz="1700">
                <a:solidFill>
                  <a:srgbClr val="334155"/>
                </a:solidFill>
                <a:latin typeface="Calibri"/>
              </a:rPr>
              <a:t>build, publish the binary, then push an OTA pointer to the device. The device verifies TLS against a pinned root.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Whatever you deploy — </a:t>
            </a:r>
            <a:r>
              <a:rPr sz="1700">
                <a:solidFill>
                  <a:srgbClr val="334155"/>
                </a:solidFill>
                <a:latin typeface="Calibri"/>
              </a:rPr>
              <a:t>confirm the thing you shipped is the thing that is running. A stale container that reports commit: unknown exists precisely so it cannot pretend to be healthy.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THE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29 documents — read them in this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00-start-here — </a:t>
            </a:r>
            <a:r>
              <a:rPr sz="1000">
                <a:solidFill>
                  <a:srgbClr val="334155"/>
                </a:solidFill>
                <a:latin typeface="Calibri"/>
              </a:rPr>
              <a:t>Start here (day one)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01-architecture — </a:t>
            </a:r>
            <a:r>
              <a:rPr sz="1000">
                <a:solidFill>
                  <a:srgbClr val="334155"/>
                </a:solidFill>
                <a:latin typeface="Calibri"/>
              </a:rPr>
              <a:t>Architecture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02-web-application — </a:t>
            </a:r>
            <a:r>
              <a:rPr sz="1000">
                <a:solidFill>
                  <a:srgbClr val="334155"/>
                </a:solidFill>
                <a:latin typeface="Calibri"/>
              </a:rPr>
              <a:t>Web application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03-control-plane-api — </a:t>
            </a:r>
            <a:r>
              <a:rPr sz="1000">
                <a:solidFill>
                  <a:srgbClr val="334155"/>
                </a:solidFill>
                <a:latin typeface="Calibri"/>
              </a:rPr>
              <a:t>Control plane API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04-mqtt-protocol — </a:t>
            </a:r>
            <a:r>
              <a:rPr sz="1000">
                <a:solidFill>
                  <a:srgbClr val="334155"/>
                </a:solidFill>
                <a:latin typeface="Calibri"/>
              </a:rPr>
              <a:t>MQTT protocol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05-databases — </a:t>
            </a:r>
            <a:r>
              <a:rPr sz="1000">
                <a:solidFill>
                  <a:srgbClr val="334155"/>
                </a:solidFill>
                <a:latin typeface="Calibri"/>
              </a:rPr>
              <a:t>Databases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06-devices-and-firmware — </a:t>
            </a:r>
            <a:r>
              <a:rPr sz="1000">
                <a:solidFill>
                  <a:srgbClr val="334155"/>
                </a:solidFill>
                <a:latin typeface="Calibri"/>
              </a:rPr>
              <a:t>Devices and firmware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07-adding-a-new-device — </a:t>
            </a:r>
            <a:r>
              <a:rPr sz="1000">
                <a:solidFill>
                  <a:srgbClr val="334155"/>
                </a:solidFill>
                <a:latin typeface="Calibri"/>
              </a:rPr>
              <a:t>Adding a new device type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08-mobile-application — </a:t>
            </a:r>
            <a:r>
              <a:rPr sz="1000">
                <a:solidFill>
                  <a:srgbClr val="334155"/>
                </a:solidFill>
                <a:latin typeface="Calibri"/>
              </a:rPr>
              <a:t>Mobile application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09-deployment — </a:t>
            </a:r>
            <a:r>
              <a:rPr sz="1000">
                <a:solidFill>
                  <a:srgbClr val="334155"/>
                </a:solidFill>
                <a:latin typeface="Calibri"/>
              </a:rPr>
              <a:t>Deployment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10-environments-and-domains — </a:t>
            </a:r>
            <a:r>
              <a:rPr sz="1000">
                <a:solidFill>
                  <a:srgbClr val="334155"/>
                </a:solidFill>
                <a:latin typeface="Calibri"/>
              </a:rPr>
              <a:t>Environments and domains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11-secrets — </a:t>
            </a:r>
            <a:r>
              <a:rPr sz="1000">
                <a:solidFill>
                  <a:srgbClr val="334155"/>
                </a:solidFill>
                <a:latin typeface="Calibri"/>
              </a:rPr>
              <a:t>Secrets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12-vm-runbook — </a:t>
            </a:r>
            <a:r>
              <a:rPr sz="1000">
                <a:solidFill>
                  <a:srgbClr val="334155"/>
                </a:solidFill>
                <a:latin typeface="Calibri"/>
              </a:rPr>
              <a:t>VM runbook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13-maintenance — </a:t>
            </a:r>
            <a:r>
              <a:rPr sz="1000">
                <a:solidFill>
                  <a:srgbClr val="334155"/>
                </a:solidFill>
                <a:latin typeface="Calibri"/>
              </a:rPr>
              <a:t>Maintenance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14-scaling — </a:t>
            </a:r>
            <a:r>
              <a:rPr sz="1000">
                <a:solidFill>
                  <a:srgbClr val="334155"/>
                </a:solidFill>
                <a:latin typeface="Calibri"/>
              </a:rPr>
              <a:t>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15-troubleshooting — </a:t>
            </a:r>
            <a:r>
              <a:rPr sz="1000">
                <a:solidFill>
                  <a:srgbClr val="334155"/>
                </a:solidFill>
                <a:latin typeface="Calibri"/>
              </a:rPr>
              <a:t>Troubleshooting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16-ai-assistant — </a:t>
            </a:r>
            <a:r>
              <a:rPr sz="1000">
                <a:solidFill>
                  <a:srgbClr val="334155"/>
                </a:solidFill>
                <a:latin typeface="Calibri"/>
              </a:rPr>
              <a:t>The AI assistant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17-session-security — </a:t>
            </a:r>
            <a:r>
              <a:rPr sz="1000">
                <a:solidFill>
                  <a:srgbClr val="334155"/>
                </a:solidFill>
                <a:latin typeface="Calibri"/>
              </a:rPr>
              <a:t>Session security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18-siri-and-apple-home — </a:t>
            </a:r>
            <a:r>
              <a:rPr sz="1000">
                <a:solidFill>
                  <a:srgbClr val="334155"/>
                </a:solidFill>
                <a:latin typeface="Calibri"/>
              </a:rPr>
              <a:t>Siri and Apple Home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19-android-play-store — </a:t>
            </a:r>
            <a:r>
              <a:rPr sz="1000">
                <a:solidFill>
                  <a:srgbClr val="334155"/>
                </a:solidFill>
                <a:latin typeface="Calibri"/>
              </a:rPr>
              <a:t>Publishing the Android app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20-anpr — </a:t>
            </a:r>
            <a:r>
              <a:rPr sz="1000">
                <a:solidFill>
                  <a:srgbClr val="334155"/>
                </a:solidFill>
                <a:latin typeface="Calibri"/>
              </a:rPr>
              <a:t>ANPR: reading vehicle number plates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21-drone — </a:t>
            </a:r>
            <a:r>
              <a:rPr sz="1000">
                <a:solidFill>
                  <a:srgbClr val="334155"/>
                </a:solidFill>
                <a:latin typeface="Calibri"/>
              </a:rPr>
              <a:t>Drone Link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22-drone-x1 — </a:t>
            </a:r>
            <a:r>
              <a:rPr sz="1000">
                <a:solidFill>
                  <a:srgbClr val="334155"/>
                </a:solidFill>
                <a:latin typeface="Calibri"/>
              </a:rPr>
              <a:t>Drone X1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23-conventions — </a:t>
            </a:r>
            <a:r>
              <a:rPr sz="1000">
                <a:solidFill>
                  <a:srgbClr val="334155"/>
                </a:solidFill>
                <a:latin typeface="Calibri"/>
              </a:rPr>
              <a:t>Conventions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24-testing — </a:t>
            </a:r>
            <a:r>
              <a:rPr sz="1000">
                <a:solidFill>
                  <a:srgbClr val="334155"/>
                </a:solidFill>
                <a:latin typeface="Calibri"/>
              </a:rPr>
              <a:t>Testing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25-git-and-releases — </a:t>
            </a:r>
            <a:r>
              <a:rPr sz="1000">
                <a:solidFill>
                  <a:srgbClr val="334155"/>
                </a:solidFill>
                <a:latin typeface="Calibri"/>
              </a:rPr>
              <a:t>Git, review and releases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26-glossary — </a:t>
            </a:r>
            <a:r>
              <a:rPr sz="1000">
                <a:solidFill>
                  <a:srgbClr val="334155"/>
                </a:solidFill>
                <a:latin typeface="Calibri"/>
              </a:rPr>
              <a:t>Glossary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27-first-tasks — </a:t>
            </a:r>
            <a:r>
              <a:rPr sz="1000">
                <a:solidFill>
                  <a:srgbClr val="334155"/>
                </a:solidFill>
                <a:latin typeface="Calibri"/>
              </a:rPr>
              <a:t>First tasks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28-watertank-radio-link — </a:t>
            </a:r>
            <a:r>
              <a:rPr sz="1000">
                <a:solidFill>
                  <a:srgbClr val="334155"/>
                </a:solidFill>
                <a:latin typeface="Calibri"/>
              </a:rPr>
              <a:t>WaterTank Duo and the tank radio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YOUR FIRST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Prove the environment, then pick something small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Day one — </a:t>
            </a:r>
            <a:r>
              <a:rPr sz="1700">
                <a:solidFill>
                  <a:srgbClr val="334155"/>
                </a:solidFill>
                <a:latin typeface="Calibri"/>
              </a:rPr>
              <a:t>work through Docs/00-start-here.md end to end. Four proofs: the site renders, the tests pass, the API answers, the firmware compiles.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>
                <a:solidFill>
                  <a:srgbClr val="334155"/>
                </a:solidFill>
                <a:latin typeface="Calibri"/>
              </a:rPr>
              <a:t>Then read Docs/01-architecture.md. It means much more once you have seen the pieces move.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>
                <a:solidFill>
                  <a:srgbClr val="334155"/>
                </a:solidFill>
                <a:latin typeface="Calibri"/>
              </a:rPr>
              <a:t>Pick a task that touches one deployable. Resist anything that needs all four running.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Before you open a pull request, ask the parity question — </a:t>
            </a:r>
            <a:r>
              <a:rPr sz="1700">
                <a:solidFill>
                  <a:srgbClr val="334155"/>
                </a:solidFill>
                <a:latin typeface="Calibri"/>
              </a:rPr>
              <a:t>is there another table, screen or app that also needs to know what I just added? No tool asks it for you.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>
                <a:solidFill>
                  <a:srgbClr val="334155"/>
                </a:solidFill>
                <a:latin typeface="Calibri"/>
              </a:rPr>
              <a:t>When something is wrong, say what you ran, what you expected and what you got. That turns a conversation into a fix.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6B6D4"/>
                </a:solidFill>
                <a:latin typeface="Calibri"/>
              </a:rPr>
              <a:t>IN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Verify by running it, not by reading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BD5E1"/>
                </a:solidFill>
                <a:latin typeface="Calibri"/>
              </a:rPr>
              <a:t>Nearly every defect found while this system was being built appeared only when it was executed — and several were in code written an hour earlier by the person who found them. The recurring shape is a control that looks present and does nothing: a chart labelled one thing and drawing another, a guard written and wired to nothing, a button that is undefined on half the phones it shipped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Calibri"/>
              </a:rPr>
              <a:t>They never announce themselves. Go and look.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