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that this deck goes stale the moment somebody edits infrastructure by hand instead of in the repo, and that is the point: it is generated, so regenerate it rather than patching a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attention to the broker being a single hinge, and to the dashed edge: everything else on this diagram stops working when the internet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retained/not-retained split is the part people get wrong. State is retained so a new subscriber learns reality immediately; telemetry must not be, or every reconnect replays an old reading as if it had just happened.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stressing: per-device credentials are minted automatically at provisioning by the control plane, so nobody touches the broker to add a device. The ACL is what keeps one compromised device from reading or driving the rest of the fleet.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Everybody reads 'Let's Encrypt' twice and stops paying attention before reaching the third column. That third one is the one whose expiry takes the whole fleet offline, and no ACME client is watching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branch-scoping of Vercel preview variables is a real trap: pulling env without naming the branch gives you production's values under a preview name.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Alexa category point is the one to dwell on. It is not cosmetic: a water pump typed as a plain switch gets caught by 'turn everything off' at bedtime, which stops an irrigation cycle halfway.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lower row: that is what a cross-room switch used to do every single time. Two boards two metres apart, and the command leaves the country and comes back. The dashed line is the same action after the local bus.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shipped. None threw, none logged. This is why the codebase is full of parity tests between two files that must agree: they are the only thing that catches this class at 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3771900"/>
            <a:ext cx="146304" cy="30861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1920240"/>
            <a:ext cx="10058400" cy="457200"/>
          </a:xfrm>
          <a:prstGeom prst="rect">
            <a:avLst/>
          </a:prstGeom>
          <a:noFill/>
        </p:spPr>
        <p:txBody>
          <a:bodyPr wrap="square" anchor="t">
            <a:spAutoFit/>
          </a:bodyPr>
          <a:lstStyle/>
          <a:p>
            <a:pPr algn="l">
              <a:lnSpc>
                <a:spcPct val="100000"/>
              </a:lnSpc>
            </a:pPr>
            <a:r>
              <a:rPr sz="1400" b="1">
                <a:solidFill>
                  <a:srgbClr val="06B6D4"/>
                </a:solidFill>
                <a:latin typeface="Calibri"/>
              </a:rPr>
              <a:t>CIRCUVENT TECHNOLOGIES</a:t>
            </a:r>
          </a:p>
        </p:txBody>
      </p:sp>
      <p:sp>
        <p:nvSpPr>
          <p:cNvPr id="5" name="TextBox 4"/>
          <p:cNvSpPr txBox="1"/>
          <p:nvPr/>
        </p:nvSpPr>
        <p:spPr>
          <a:xfrm>
            <a:off x="960120" y="2423160"/>
            <a:ext cx="10241280" cy="1371600"/>
          </a:xfrm>
          <a:prstGeom prst="rect">
            <a:avLst/>
          </a:prstGeom>
          <a:noFill/>
        </p:spPr>
        <p:txBody>
          <a:bodyPr wrap="square" anchor="t">
            <a:spAutoFit/>
          </a:bodyPr>
          <a:lstStyle/>
          <a:p>
            <a:pPr algn="l">
              <a:lnSpc>
                <a:spcPct val="100000"/>
              </a:lnSpc>
            </a:pPr>
            <a:r>
              <a:rPr sz="5400" b="1">
                <a:solidFill>
                  <a:srgbClr val="FFFFFF"/>
                </a:solidFill>
                <a:latin typeface="Calibri"/>
              </a:rPr>
              <a:t>Architecture &amp; operations</a:t>
            </a:r>
          </a:p>
        </p:txBody>
      </p:sp>
      <p:sp>
        <p:nvSpPr>
          <p:cNvPr id="6" name="TextBox 5"/>
          <p:cNvSpPr txBox="1"/>
          <p:nvPr/>
        </p:nvSpPr>
        <p:spPr>
          <a:xfrm>
            <a:off x="1005840" y="3977639"/>
            <a:ext cx="9601200" cy="914400"/>
          </a:xfrm>
          <a:prstGeom prst="rect">
            <a:avLst/>
          </a:prstGeom>
          <a:noFill/>
        </p:spPr>
        <p:txBody>
          <a:bodyPr wrap="square" anchor="t">
            <a:spAutoFit/>
          </a:bodyPr>
          <a:lstStyle/>
          <a:p>
            <a:pPr algn="l">
              <a:lnSpc>
                <a:spcPct val="130000"/>
              </a:lnSpc>
            </a:pPr>
            <a:r>
              <a:rPr sz="2000" b="0">
                <a:solidFill>
                  <a:srgbClr val="94A3B8"/>
                </a:solidFill>
                <a:latin typeface="Calibri"/>
              </a:rPr>
              <a:t>How it fits together, how it ships, and what to check when it does not</a:t>
            </a:r>
          </a:p>
        </p:txBody>
      </p:sp>
      <p:sp>
        <p:nvSpPr>
          <p:cNvPr id="7" name="Rectangle 6"/>
          <p:cNvSpPr/>
          <p:nvPr/>
        </p:nvSpPr>
        <p:spPr>
          <a:xfrm>
            <a:off x="1005840" y="5120640"/>
            <a:ext cx="201168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5349240"/>
            <a:ext cx="9601200" cy="365760"/>
          </a:xfrm>
          <a:prstGeom prst="rect">
            <a:avLst/>
          </a:prstGeom>
          <a:noFill/>
        </p:spPr>
        <p:txBody>
          <a:bodyPr wrap="square" anchor="t">
            <a:spAutoFit/>
          </a:bodyPr>
          <a:lstStyle/>
          <a:p>
            <a:pPr algn="l">
              <a:lnSpc>
                <a:spcPct val="100000"/>
              </a:lnSpc>
            </a:pPr>
            <a:r>
              <a:rPr sz="1300" b="0">
                <a:solidFill>
                  <a:srgbClr val="64748B"/>
                </a:solidFill>
                <a:latin typeface="Calibri"/>
              </a:rPr>
              <a:t>Generated 15 August 2026 · 999e5fe</a:t>
            </a:r>
          </a:p>
        </p:txBody>
      </p:sp>
      <p:sp>
        <p:nvSpPr>
          <p:cNvPr id="9" name="TextBox 8"/>
          <p:cNvSpPr txBox="1"/>
          <p:nvPr/>
        </p:nvSpPr>
        <p:spPr>
          <a:xfrm>
            <a:off x="1005840" y="6172200"/>
            <a:ext cx="10058400" cy="320040"/>
          </a:xfrm>
          <a:prstGeom prst="rect">
            <a:avLst/>
          </a:prstGeom>
          <a:noFill/>
        </p:spPr>
        <p:txBody>
          <a:bodyPr wrap="square" anchor="t">
            <a:spAutoFit/>
          </a:bodyPr>
          <a:lstStyle/>
          <a:p>
            <a:pPr algn="l">
              <a:lnSpc>
                <a:spcPct val="100000"/>
              </a:lnSpc>
            </a:pPr>
            <a:r>
              <a:rPr sz="950" b="0">
                <a:solidFill>
                  <a:srgbClr val="475569"/>
                </a:solidFill>
                <a:latin typeface="Calibri"/>
              </a:rPr>
              <a:t>Generated 15 August 2026 from the repository at 999e5fe · Docs/ is the source of truth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WHAT THIS DECK IS FOR</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The other KT deck is the map; this is the machine room</a:t>
            </a:r>
          </a:p>
        </p:txBody>
      </p:sp>
      <p:sp>
        <p:nvSpPr>
          <p:cNvPr id="6" name="TextBox 5"/>
          <p:cNvSpPr txBox="1"/>
          <p:nvPr/>
        </p:nvSpPr>
        <p:spPr>
          <a:xfrm>
            <a:off x="777240" y="1828800"/>
            <a:ext cx="10607040" cy="3291840"/>
          </a:xfrm>
          <a:prstGeom prst="rect">
            <a:avLst/>
          </a:prstGeom>
          <a:noFill/>
        </p:spPr>
        <p:txBody>
          <a:bodyPr wrap="square">
            <a:spAutoFit/>
          </a:bodyPr>
          <a:lstStyle/>
          <a:p>
            <a:pPr>
              <a:lnSpc>
                <a:spcPct val="125000"/>
              </a:lnSpc>
              <a:spcAft>
                <a:spcPts val="1000"/>
              </a:spcAft>
            </a:pPr>
            <a:r>
              <a:rPr sz="900">
                <a:solidFill>
                  <a:srgbClr val="0891B2"/>
                </a:solidFill>
                <a:latin typeface="Calibri"/>
              </a:rPr>
              <a:t>●  </a:t>
            </a:r>
            <a:r>
              <a:rPr sz="1400">
                <a:solidFill>
                  <a:srgbClr val="334155"/>
                </a:solidFill>
                <a:latin typeface="Calibri"/>
              </a:rPr>
              <a:t>Read the handover deck first if you are new. It answers what the four deployables are and which documents to open.</a:t>
            </a:r>
          </a:p>
          <a:p>
            <a:pPr>
              <a:lnSpc>
                <a:spcPct val="125000"/>
              </a:lnSpc>
              <a:spcAft>
                <a:spcPts val="1000"/>
              </a:spcAft>
            </a:pPr>
            <a:r>
              <a:rPr sz="900">
                <a:solidFill>
                  <a:srgbClr val="0891B2"/>
                </a:solidFill>
                <a:latin typeface="Calibri"/>
              </a:rPr>
              <a:t>●  </a:t>
            </a:r>
            <a:r>
              <a:rPr sz="1400">
                <a:solidFill>
                  <a:srgbClr val="334155"/>
                </a:solidFill>
                <a:latin typeface="Calibri"/>
              </a:rPr>
              <a:t>This one assumes you know that, and covers the parts you need when you are changing infrastructure or when something is down.</a:t>
            </a:r>
          </a:p>
          <a:p>
            <a:pPr>
              <a:lnSpc>
                <a:spcPct val="125000"/>
              </a:lnSpc>
              <a:spcAft>
                <a:spcPts val="1000"/>
              </a:spcAft>
            </a:pPr>
            <a:r>
              <a:rPr sz="900">
                <a:solidFill>
                  <a:srgbClr val="0891B2"/>
                </a:solidFill>
                <a:latin typeface="Calibri"/>
              </a:rPr>
              <a:t>●  </a:t>
            </a:r>
            <a:r>
              <a:rPr sz="1400" b="1">
                <a:solidFill>
                  <a:srgbClr val="0F1729"/>
                </a:solidFill>
                <a:latin typeface="Calibri"/>
              </a:rPr>
              <a:t>Every fact here is derived from the repository at build time — </a:t>
            </a:r>
            <a:r>
              <a:rPr sz="1400">
                <a:solidFill>
                  <a:srgbClr val="334155"/>
                </a:solidFill>
                <a:latin typeface="Calibri"/>
              </a:rPr>
              <a:t>topic names out of the firmware, limits out of mosquitto.conf, required secrets out of the schema that validates them.</a:t>
            </a:r>
          </a:p>
          <a:p>
            <a:pPr>
              <a:lnSpc>
                <a:spcPct val="125000"/>
              </a:lnSpc>
              <a:spcAft>
                <a:spcPts val="1000"/>
              </a:spcAft>
            </a:pPr>
            <a:r>
              <a:rPr sz="900">
                <a:solidFill>
                  <a:srgbClr val="0891B2"/>
                </a:solidFill>
                <a:latin typeface="Calibri"/>
              </a:rPr>
              <a:t>●  </a:t>
            </a:r>
            <a:r>
              <a:rPr sz="1400">
                <a:solidFill>
                  <a:srgbClr val="334155"/>
                </a:solidFill>
                <a:latin typeface="Calibri"/>
              </a:rPr>
              <a:t>Where a fact could not be derived, the file that owns it is named. Go and check it rather than trusting the slide.</a:t>
            </a:r>
          </a:p>
        </p:txBody>
      </p:sp>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THE SHAPE OF IT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Four deployables, one broker, two databases</a:t>
            </a:r>
          </a:p>
        </p:txBody>
      </p:sp>
      <p:sp>
        <p:nvSpPr>
          <p:cNvPr id="6" name="TextBox 5"/>
          <p:cNvSpPr txBox="1"/>
          <p:nvPr/>
        </p:nvSpPr>
        <p:spPr>
          <a:xfrm>
            <a:off x="777240" y="1380744"/>
            <a:ext cx="4572000" cy="182880"/>
          </a:xfrm>
          <a:prstGeom prst="rect">
            <a:avLst/>
          </a:prstGeom>
          <a:noFill/>
        </p:spPr>
        <p:txBody>
          <a:bodyPr wrap="square" anchor="t">
            <a:spAutoFit/>
          </a:bodyPr>
          <a:lstStyle/>
          <a:p>
            <a:pPr algn="l">
              <a:lnSpc>
                <a:spcPct val="100000"/>
              </a:lnSpc>
            </a:pPr>
            <a:r>
              <a:rPr sz="800" b="1">
                <a:solidFill>
                  <a:srgbClr val="64748B"/>
                </a:solidFill>
                <a:latin typeface="Calibri"/>
              </a:rPr>
              <a:t>WHAT PEOPLE TOUCH</a:t>
            </a:r>
          </a:p>
        </p:txBody>
      </p:sp>
      <p:sp>
        <p:nvSpPr>
          <p:cNvPr id="7" name="Rectangle 6"/>
          <p:cNvSpPr/>
          <p:nvPr/>
        </p:nvSpPr>
        <p:spPr>
          <a:xfrm>
            <a:off x="777240" y="1600200"/>
            <a:ext cx="3200400" cy="74980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600200"/>
            <a:ext cx="32004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1746504"/>
            <a:ext cx="3017520" cy="292608"/>
          </a:xfrm>
          <a:prstGeom prst="rect">
            <a:avLst/>
          </a:prstGeom>
          <a:noFill/>
        </p:spPr>
        <p:txBody>
          <a:bodyPr wrap="square" anchor="t">
            <a:spAutoFit/>
          </a:bodyPr>
          <a:lstStyle/>
          <a:p>
            <a:pPr algn="l">
              <a:lnSpc>
                <a:spcPct val="100000"/>
              </a:lnSpc>
            </a:pPr>
            <a:r>
              <a:rPr sz="1150" b="1">
                <a:solidFill>
                  <a:srgbClr val="0F1729"/>
                </a:solidFill>
                <a:latin typeface="Calibri"/>
              </a:rPr>
              <a:t>Website · shop · console</a:t>
            </a:r>
          </a:p>
        </p:txBody>
      </p:sp>
      <p:sp>
        <p:nvSpPr>
          <p:cNvPr id="10" name="TextBox 9"/>
          <p:cNvSpPr txBox="1"/>
          <p:nvPr/>
        </p:nvSpPr>
        <p:spPr>
          <a:xfrm>
            <a:off x="868680" y="2057400"/>
            <a:ext cx="3017520" cy="219456"/>
          </a:xfrm>
          <a:prstGeom prst="rect">
            <a:avLst/>
          </a:prstGeom>
          <a:noFill/>
        </p:spPr>
        <p:txBody>
          <a:bodyPr wrap="square" anchor="t">
            <a:spAutoFit/>
          </a:bodyPr>
          <a:lstStyle/>
          <a:p>
            <a:pPr algn="l">
              <a:lnSpc>
                <a:spcPct val="100000"/>
              </a:lnSpc>
            </a:pPr>
            <a:r>
              <a:rPr sz="850" b="0">
                <a:solidFill>
                  <a:srgbClr val="64748B"/>
                </a:solidFill>
                <a:latin typeface="Calibri"/>
              </a:rPr>
              <a:t>src/ · Next.js 16 on Vercel</a:t>
            </a:r>
          </a:p>
        </p:txBody>
      </p:sp>
      <p:sp>
        <p:nvSpPr>
          <p:cNvPr id="11" name="Rectangle 10"/>
          <p:cNvSpPr/>
          <p:nvPr/>
        </p:nvSpPr>
        <p:spPr>
          <a:xfrm>
            <a:off x="4206240" y="1600200"/>
            <a:ext cx="3200400" cy="74980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206240" y="1600200"/>
            <a:ext cx="32004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79" y="1746504"/>
            <a:ext cx="3017520" cy="292608"/>
          </a:xfrm>
          <a:prstGeom prst="rect">
            <a:avLst/>
          </a:prstGeom>
          <a:noFill/>
        </p:spPr>
        <p:txBody>
          <a:bodyPr wrap="square" anchor="t">
            <a:spAutoFit/>
          </a:bodyPr>
          <a:lstStyle/>
          <a:p>
            <a:pPr algn="l">
              <a:lnSpc>
                <a:spcPct val="100000"/>
              </a:lnSpc>
            </a:pPr>
            <a:r>
              <a:rPr sz="1150" b="1">
                <a:solidFill>
                  <a:srgbClr val="0F1729"/>
                </a:solidFill>
                <a:latin typeface="Calibri"/>
              </a:rPr>
              <a:t>Mobile app</a:t>
            </a:r>
          </a:p>
        </p:txBody>
      </p:sp>
      <p:sp>
        <p:nvSpPr>
          <p:cNvPr id="14" name="TextBox 13"/>
          <p:cNvSpPr txBox="1"/>
          <p:nvPr/>
        </p:nvSpPr>
        <p:spPr>
          <a:xfrm>
            <a:off x="4297679" y="2057400"/>
            <a:ext cx="3017520" cy="219456"/>
          </a:xfrm>
          <a:prstGeom prst="rect">
            <a:avLst/>
          </a:prstGeom>
          <a:noFill/>
        </p:spPr>
        <p:txBody>
          <a:bodyPr wrap="square" anchor="t">
            <a:spAutoFit/>
          </a:bodyPr>
          <a:lstStyle/>
          <a:p>
            <a:pPr algn="l">
              <a:lnSpc>
                <a:spcPct val="100000"/>
              </a:lnSpc>
            </a:pPr>
            <a:r>
              <a:rPr sz="850" b="0">
                <a:solidFill>
                  <a:srgbClr val="64748B"/>
                </a:solidFill>
                <a:latin typeface="Calibri"/>
              </a:rPr>
              <a:t>mobile/ · Expo · Play Store</a:t>
            </a:r>
          </a:p>
        </p:txBody>
      </p:sp>
      <p:sp>
        <p:nvSpPr>
          <p:cNvPr id="15" name="Rectangle 14"/>
          <p:cNvSpPr/>
          <p:nvPr/>
        </p:nvSpPr>
        <p:spPr>
          <a:xfrm>
            <a:off x="7635240" y="1600200"/>
            <a:ext cx="3749039" cy="74980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635240" y="1600200"/>
            <a:ext cx="3749039"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26679" y="1746504"/>
            <a:ext cx="3566159" cy="292608"/>
          </a:xfrm>
          <a:prstGeom prst="rect">
            <a:avLst/>
          </a:prstGeom>
          <a:noFill/>
        </p:spPr>
        <p:txBody>
          <a:bodyPr wrap="square" anchor="t">
            <a:spAutoFit/>
          </a:bodyPr>
          <a:lstStyle/>
          <a:p>
            <a:pPr algn="l">
              <a:lnSpc>
                <a:spcPct val="100000"/>
              </a:lnSpc>
            </a:pPr>
            <a:r>
              <a:rPr sz="1150" b="1">
                <a:solidFill>
                  <a:srgbClr val="0F1729"/>
                </a:solidFill>
                <a:latin typeface="Calibri"/>
              </a:rPr>
              <a:t>Admin</a:t>
            </a:r>
          </a:p>
        </p:txBody>
      </p:sp>
      <p:sp>
        <p:nvSpPr>
          <p:cNvPr id="18" name="TextBox 17"/>
          <p:cNvSpPr txBox="1"/>
          <p:nvPr/>
        </p:nvSpPr>
        <p:spPr>
          <a:xfrm>
            <a:off x="7726679" y="2057400"/>
            <a:ext cx="3566159" cy="219456"/>
          </a:xfrm>
          <a:prstGeom prst="rect">
            <a:avLst/>
          </a:prstGeom>
          <a:noFill/>
        </p:spPr>
        <p:txBody>
          <a:bodyPr wrap="square" anchor="t">
            <a:spAutoFit/>
          </a:bodyPr>
          <a:lstStyle/>
          <a:p>
            <a:pPr algn="l">
              <a:lnSpc>
                <a:spcPct val="100000"/>
              </a:lnSpc>
            </a:pPr>
            <a:r>
              <a:rPr sz="850" b="0">
                <a:solidFill>
                  <a:srgbClr val="64748B"/>
                </a:solidFill>
                <a:latin typeface="Calibri"/>
              </a:rPr>
              <a:t>src/app/admin · same deployment</a:t>
            </a:r>
          </a:p>
        </p:txBody>
      </p:sp>
      <p:sp>
        <p:nvSpPr>
          <p:cNvPr id="19" name="TextBox 18"/>
          <p:cNvSpPr txBox="1"/>
          <p:nvPr/>
        </p:nvSpPr>
        <p:spPr>
          <a:xfrm>
            <a:off x="777240" y="2551176"/>
            <a:ext cx="4572000" cy="182880"/>
          </a:xfrm>
          <a:prstGeom prst="rect">
            <a:avLst/>
          </a:prstGeom>
          <a:noFill/>
        </p:spPr>
        <p:txBody>
          <a:bodyPr wrap="square" anchor="t">
            <a:spAutoFit/>
          </a:bodyPr>
          <a:lstStyle/>
          <a:p>
            <a:pPr algn="l">
              <a:lnSpc>
                <a:spcPct val="100000"/>
              </a:lnSpc>
            </a:pPr>
            <a:r>
              <a:rPr sz="800" b="1">
                <a:solidFill>
                  <a:srgbClr val="64748B"/>
                </a:solidFill>
                <a:latin typeface="Calibri"/>
              </a:rPr>
              <a:t>WHAT HOLDS STATE</a:t>
            </a:r>
          </a:p>
        </p:txBody>
      </p:sp>
      <p:sp>
        <p:nvSpPr>
          <p:cNvPr id="20" name="Rectangle 19"/>
          <p:cNvSpPr/>
          <p:nvPr/>
        </p:nvSpPr>
        <p:spPr>
          <a:xfrm>
            <a:off x="777240" y="2770632"/>
            <a:ext cx="3200400" cy="74980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77240" y="2770632"/>
            <a:ext cx="32004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2916936"/>
            <a:ext cx="3017520" cy="292608"/>
          </a:xfrm>
          <a:prstGeom prst="rect">
            <a:avLst/>
          </a:prstGeom>
          <a:noFill/>
        </p:spPr>
        <p:txBody>
          <a:bodyPr wrap="square" anchor="t">
            <a:spAutoFit/>
          </a:bodyPr>
          <a:lstStyle/>
          <a:p>
            <a:pPr algn="l">
              <a:lnSpc>
                <a:spcPct val="100000"/>
              </a:lnSpc>
            </a:pPr>
            <a:r>
              <a:rPr sz="1150" b="1">
                <a:solidFill>
                  <a:srgbClr val="0F1729"/>
                </a:solidFill>
                <a:latin typeface="Calibri"/>
              </a:rPr>
              <a:t>Neon Postgres</a:t>
            </a:r>
          </a:p>
        </p:txBody>
      </p:sp>
      <p:sp>
        <p:nvSpPr>
          <p:cNvPr id="23" name="TextBox 22"/>
          <p:cNvSpPr txBox="1"/>
          <p:nvPr/>
        </p:nvSpPr>
        <p:spPr>
          <a:xfrm>
            <a:off x="868680" y="3227832"/>
            <a:ext cx="3017520" cy="219456"/>
          </a:xfrm>
          <a:prstGeom prst="rect">
            <a:avLst/>
          </a:prstGeom>
          <a:noFill/>
        </p:spPr>
        <p:txBody>
          <a:bodyPr wrap="square" anchor="t">
            <a:spAutoFit/>
          </a:bodyPr>
          <a:lstStyle/>
          <a:p>
            <a:pPr algn="l">
              <a:lnSpc>
                <a:spcPct val="100000"/>
              </a:lnSpc>
            </a:pPr>
            <a:r>
              <a:rPr sz="850" b="0">
                <a:solidFill>
                  <a:srgbClr val="64748B"/>
                </a:solidFill>
                <a:latin typeface="Calibri"/>
              </a:rPr>
              <a:t>shop · orders · customers</a:t>
            </a:r>
          </a:p>
        </p:txBody>
      </p:sp>
      <p:sp>
        <p:nvSpPr>
          <p:cNvPr id="24" name="Rectangle 23"/>
          <p:cNvSpPr/>
          <p:nvPr/>
        </p:nvSpPr>
        <p:spPr>
          <a:xfrm>
            <a:off x="4206240" y="2770632"/>
            <a:ext cx="3200400" cy="74980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206240" y="2770632"/>
            <a:ext cx="32004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97679" y="2916936"/>
            <a:ext cx="3017520" cy="292608"/>
          </a:xfrm>
          <a:prstGeom prst="rect">
            <a:avLst/>
          </a:prstGeom>
          <a:noFill/>
        </p:spPr>
        <p:txBody>
          <a:bodyPr wrap="square" anchor="t">
            <a:spAutoFit/>
          </a:bodyPr>
          <a:lstStyle/>
          <a:p>
            <a:pPr algn="l">
              <a:lnSpc>
                <a:spcPct val="100000"/>
              </a:lnSpc>
            </a:pPr>
            <a:r>
              <a:rPr sz="1150" b="1">
                <a:solidFill>
                  <a:srgbClr val="0F1729"/>
                </a:solidFill>
                <a:latin typeface="Calibri"/>
              </a:rPr>
              <a:t>Control plane</a:t>
            </a:r>
          </a:p>
        </p:txBody>
      </p:sp>
      <p:sp>
        <p:nvSpPr>
          <p:cNvPr id="27" name="TextBox 26"/>
          <p:cNvSpPr txBox="1"/>
          <p:nvPr/>
        </p:nvSpPr>
        <p:spPr>
          <a:xfrm>
            <a:off x="4297679" y="3227832"/>
            <a:ext cx="3017520" cy="219456"/>
          </a:xfrm>
          <a:prstGeom prst="rect">
            <a:avLst/>
          </a:prstGeom>
          <a:noFill/>
        </p:spPr>
        <p:txBody>
          <a:bodyPr wrap="square" anchor="t">
            <a:spAutoFit/>
          </a:bodyPr>
          <a:lstStyle/>
          <a:p>
            <a:pPr algn="l">
              <a:lnSpc>
                <a:spcPct val="100000"/>
              </a:lnSpc>
            </a:pPr>
            <a:r>
              <a:rPr sz="850" b="0">
                <a:solidFill>
                  <a:srgbClr val="64748B"/>
                </a:solidFill>
                <a:latin typeface="Calibri"/>
              </a:rPr>
              <a:t>platform/ · Express · api.circuvent.com</a:t>
            </a:r>
          </a:p>
        </p:txBody>
      </p:sp>
      <p:sp>
        <p:nvSpPr>
          <p:cNvPr id="28" name="Rectangle 27"/>
          <p:cNvSpPr/>
          <p:nvPr/>
        </p:nvSpPr>
        <p:spPr>
          <a:xfrm>
            <a:off x="7635240" y="2770632"/>
            <a:ext cx="3749039" cy="74980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5240" y="2770632"/>
            <a:ext cx="3749039"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726679" y="2916936"/>
            <a:ext cx="3566159" cy="292608"/>
          </a:xfrm>
          <a:prstGeom prst="rect">
            <a:avLst/>
          </a:prstGeom>
          <a:noFill/>
        </p:spPr>
        <p:txBody>
          <a:bodyPr wrap="square" anchor="t">
            <a:spAutoFit/>
          </a:bodyPr>
          <a:lstStyle/>
          <a:p>
            <a:pPr algn="l">
              <a:lnSpc>
                <a:spcPct val="100000"/>
              </a:lnSpc>
            </a:pPr>
            <a:r>
              <a:rPr sz="1150" b="1">
                <a:solidFill>
                  <a:srgbClr val="0F1729"/>
                </a:solidFill>
                <a:latin typeface="Calibri"/>
              </a:rPr>
              <a:t>Postgres 16</a:t>
            </a:r>
          </a:p>
        </p:txBody>
      </p:sp>
      <p:sp>
        <p:nvSpPr>
          <p:cNvPr id="31" name="TextBox 30"/>
          <p:cNvSpPr txBox="1"/>
          <p:nvPr/>
        </p:nvSpPr>
        <p:spPr>
          <a:xfrm>
            <a:off x="7726679" y="3227832"/>
            <a:ext cx="3566159" cy="219456"/>
          </a:xfrm>
          <a:prstGeom prst="rect">
            <a:avLst/>
          </a:prstGeom>
          <a:noFill/>
        </p:spPr>
        <p:txBody>
          <a:bodyPr wrap="square" anchor="t">
            <a:spAutoFit/>
          </a:bodyPr>
          <a:lstStyle/>
          <a:p>
            <a:pPr algn="l">
              <a:lnSpc>
                <a:spcPct val="100000"/>
              </a:lnSpc>
            </a:pPr>
            <a:r>
              <a:rPr sz="850" b="0">
                <a:solidFill>
                  <a:srgbClr val="64748B"/>
                </a:solidFill>
                <a:latin typeface="Calibri"/>
              </a:rPr>
              <a:t>devices · telemetry · automations</a:t>
            </a:r>
          </a:p>
        </p:txBody>
      </p:sp>
      <p:sp>
        <p:nvSpPr>
          <p:cNvPr id="32" name="Rectangle 31"/>
          <p:cNvSpPr/>
          <p:nvPr/>
        </p:nvSpPr>
        <p:spPr>
          <a:xfrm>
            <a:off x="4206240" y="3904488"/>
            <a:ext cx="3200400" cy="658368"/>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206240" y="3904488"/>
            <a:ext cx="3200400" cy="457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297680" y="4014216"/>
            <a:ext cx="3017520" cy="256032"/>
          </a:xfrm>
          <a:prstGeom prst="rect">
            <a:avLst/>
          </a:prstGeom>
          <a:noFill/>
        </p:spPr>
        <p:txBody>
          <a:bodyPr wrap="square" anchor="t">
            <a:spAutoFit/>
          </a:bodyPr>
          <a:lstStyle/>
          <a:p>
            <a:pPr algn="l">
              <a:lnSpc>
                <a:spcPct val="100000"/>
              </a:lnSpc>
            </a:pPr>
            <a:r>
              <a:rPr sz="1100" b="1">
                <a:solidFill>
                  <a:srgbClr val="FFFFFF"/>
                </a:solidFill>
                <a:latin typeface="Calibri"/>
              </a:rPr>
              <a:t>Mosquitto broker</a:t>
            </a:r>
          </a:p>
        </p:txBody>
      </p:sp>
      <p:sp>
        <p:nvSpPr>
          <p:cNvPr id="35" name="TextBox 34"/>
          <p:cNvSpPr txBox="1"/>
          <p:nvPr/>
        </p:nvSpPr>
        <p:spPr>
          <a:xfrm>
            <a:off x="4297680" y="4288536"/>
            <a:ext cx="3017520" cy="219456"/>
          </a:xfrm>
          <a:prstGeom prst="rect">
            <a:avLst/>
          </a:prstGeom>
          <a:noFill/>
        </p:spPr>
        <p:txBody>
          <a:bodyPr wrap="square" anchor="t">
            <a:spAutoFit/>
          </a:bodyPr>
          <a:lstStyle/>
          <a:p>
            <a:pPr algn="l">
              <a:lnSpc>
                <a:spcPct val="100000"/>
              </a:lnSpc>
            </a:pPr>
            <a:r>
              <a:rPr sz="800" b="0">
                <a:solidFill>
                  <a:srgbClr val="94A3B8"/>
                </a:solidFill>
                <a:latin typeface="Calibri"/>
              </a:rPr>
              <a:t>1883 private · 8883 TLS</a:t>
            </a:r>
          </a:p>
        </p:txBody>
      </p:sp>
      <p:sp>
        <p:nvSpPr>
          <p:cNvPr id="36" name="TextBox 35"/>
          <p:cNvSpPr txBox="1"/>
          <p:nvPr/>
        </p:nvSpPr>
        <p:spPr>
          <a:xfrm>
            <a:off x="777240" y="4745736"/>
            <a:ext cx="4572000" cy="182880"/>
          </a:xfrm>
          <a:prstGeom prst="rect">
            <a:avLst/>
          </a:prstGeom>
          <a:noFill/>
        </p:spPr>
        <p:txBody>
          <a:bodyPr wrap="square" anchor="t">
            <a:spAutoFit/>
          </a:bodyPr>
          <a:lstStyle/>
          <a:p>
            <a:pPr algn="l">
              <a:lnSpc>
                <a:spcPct val="100000"/>
              </a:lnSpc>
            </a:pPr>
            <a:r>
              <a:rPr sz="800" b="1">
                <a:solidFill>
                  <a:srgbClr val="64748B"/>
                </a:solidFill>
                <a:latin typeface="Calibri"/>
              </a:rPr>
              <a:t>WHAT PHYSICALLY HAPPENS</a:t>
            </a:r>
          </a:p>
        </p:txBody>
      </p:sp>
      <p:sp>
        <p:nvSpPr>
          <p:cNvPr id="37" name="Rectangle 36"/>
          <p:cNvSpPr/>
          <p:nvPr/>
        </p:nvSpPr>
        <p:spPr>
          <a:xfrm>
            <a:off x="777240" y="4965192"/>
            <a:ext cx="3200400" cy="621792"/>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77240" y="4965192"/>
            <a:ext cx="32004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8680" y="5111496"/>
            <a:ext cx="3017520" cy="292608"/>
          </a:xfrm>
          <a:prstGeom prst="rect">
            <a:avLst/>
          </a:prstGeom>
          <a:noFill/>
        </p:spPr>
        <p:txBody>
          <a:bodyPr wrap="square" anchor="t">
            <a:spAutoFit/>
          </a:bodyPr>
          <a:lstStyle/>
          <a:p>
            <a:pPr algn="l">
              <a:lnSpc>
                <a:spcPct val="100000"/>
              </a:lnSpc>
            </a:pPr>
            <a:r>
              <a:rPr sz="1150" b="1">
                <a:solidFill>
                  <a:srgbClr val="0F1729"/>
                </a:solidFill>
                <a:latin typeface="Calibri"/>
              </a:rPr>
              <a:t>ESP32 boards</a:t>
            </a:r>
          </a:p>
        </p:txBody>
      </p:sp>
      <p:sp>
        <p:nvSpPr>
          <p:cNvPr id="40" name="TextBox 39"/>
          <p:cNvSpPr txBox="1"/>
          <p:nvPr/>
        </p:nvSpPr>
        <p:spPr>
          <a:xfrm>
            <a:off x="868680" y="5422392"/>
            <a:ext cx="3017520" cy="91440"/>
          </a:xfrm>
          <a:prstGeom prst="rect">
            <a:avLst/>
          </a:prstGeom>
          <a:noFill/>
        </p:spPr>
        <p:txBody>
          <a:bodyPr wrap="square" anchor="t">
            <a:spAutoFit/>
          </a:bodyPr>
          <a:lstStyle/>
          <a:p>
            <a:pPr algn="l">
              <a:lnSpc>
                <a:spcPct val="100000"/>
              </a:lnSpc>
            </a:pPr>
            <a:r>
              <a:rPr sz="850" b="0">
                <a:solidFill>
                  <a:srgbClr val="64748B"/>
                </a:solidFill>
                <a:latin typeface="Calibri"/>
              </a:rPr>
              <a:t>firmware/ · in customers' homes</a:t>
            </a:r>
          </a:p>
        </p:txBody>
      </p:sp>
      <p:sp>
        <p:nvSpPr>
          <p:cNvPr id="41" name="Rectangle 40"/>
          <p:cNvSpPr/>
          <p:nvPr/>
        </p:nvSpPr>
        <p:spPr>
          <a:xfrm>
            <a:off x="4206240" y="4965192"/>
            <a:ext cx="3200400" cy="621792"/>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4206240" y="4965192"/>
            <a:ext cx="32004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4297679" y="5111496"/>
            <a:ext cx="3017520" cy="292608"/>
          </a:xfrm>
          <a:prstGeom prst="rect">
            <a:avLst/>
          </a:prstGeom>
          <a:noFill/>
        </p:spPr>
        <p:txBody>
          <a:bodyPr wrap="square" anchor="t">
            <a:spAutoFit/>
          </a:bodyPr>
          <a:lstStyle/>
          <a:p>
            <a:pPr algn="l">
              <a:lnSpc>
                <a:spcPct val="100000"/>
              </a:lnSpc>
            </a:pPr>
            <a:r>
              <a:rPr sz="1150" b="1">
                <a:solidFill>
                  <a:srgbClr val="0F1729"/>
                </a:solidFill>
                <a:latin typeface="Calibri"/>
              </a:rPr>
              <a:t>Cameras</a:t>
            </a:r>
          </a:p>
        </p:txBody>
      </p:sp>
      <p:sp>
        <p:nvSpPr>
          <p:cNvPr id="44" name="TextBox 43"/>
          <p:cNvSpPr txBox="1"/>
          <p:nvPr/>
        </p:nvSpPr>
        <p:spPr>
          <a:xfrm>
            <a:off x="4297679" y="5422392"/>
            <a:ext cx="3017520" cy="91440"/>
          </a:xfrm>
          <a:prstGeom prst="rect">
            <a:avLst/>
          </a:prstGeom>
          <a:noFill/>
        </p:spPr>
        <p:txBody>
          <a:bodyPr wrap="square" anchor="t">
            <a:spAutoFit/>
          </a:bodyPr>
          <a:lstStyle/>
          <a:p>
            <a:pPr algn="l">
              <a:lnSpc>
                <a:spcPct val="100000"/>
              </a:lnSpc>
            </a:pPr>
            <a:r>
              <a:rPr sz="850" b="0">
                <a:solidFill>
                  <a:srgbClr val="64748B"/>
                </a:solidFill>
                <a:latin typeface="Calibri"/>
              </a:rPr>
              <a:t>binary frames over MQTT</a:t>
            </a:r>
          </a:p>
        </p:txBody>
      </p:sp>
      <p:sp>
        <p:nvSpPr>
          <p:cNvPr id="45" name="Rectangle 44"/>
          <p:cNvSpPr/>
          <p:nvPr/>
        </p:nvSpPr>
        <p:spPr>
          <a:xfrm>
            <a:off x="7635240" y="4965192"/>
            <a:ext cx="3749039" cy="621792"/>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7635240" y="4965192"/>
            <a:ext cx="3749039" cy="411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26679" y="5111496"/>
            <a:ext cx="3566159" cy="292608"/>
          </a:xfrm>
          <a:prstGeom prst="rect">
            <a:avLst/>
          </a:prstGeom>
          <a:noFill/>
        </p:spPr>
        <p:txBody>
          <a:bodyPr wrap="square" anchor="t">
            <a:spAutoFit/>
          </a:bodyPr>
          <a:lstStyle/>
          <a:p>
            <a:pPr algn="l">
              <a:lnSpc>
                <a:spcPct val="100000"/>
              </a:lnSpc>
            </a:pPr>
            <a:r>
              <a:rPr sz="1150" b="1">
                <a:solidFill>
                  <a:srgbClr val="0F1729"/>
                </a:solidFill>
                <a:latin typeface="Calibri"/>
              </a:rPr>
              <a:t>Local bus</a:t>
            </a:r>
          </a:p>
        </p:txBody>
      </p:sp>
      <p:sp>
        <p:nvSpPr>
          <p:cNvPr id="48" name="TextBox 47"/>
          <p:cNvSpPr txBox="1"/>
          <p:nvPr/>
        </p:nvSpPr>
        <p:spPr>
          <a:xfrm>
            <a:off x="7726679" y="5422392"/>
            <a:ext cx="3566159" cy="91440"/>
          </a:xfrm>
          <a:prstGeom prst="rect">
            <a:avLst/>
          </a:prstGeom>
          <a:noFill/>
        </p:spPr>
        <p:txBody>
          <a:bodyPr wrap="square" anchor="t">
            <a:spAutoFit/>
          </a:bodyPr>
          <a:lstStyle/>
          <a:p>
            <a:pPr algn="l">
              <a:lnSpc>
                <a:spcPct val="100000"/>
              </a:lnSpc>
            </a:pPr>
            <a:r>
              <a:rPr sz="850" b="0">
                <a:solidFill>
                  <a:srgbClr val="64748B"/>
                </a:solidFill>
                <a:latin typeface="Calibri"/>
              </a:rPr>
              <a:t>ESP-NOW, board to board</a:t>
            </a:r>
          </a:p>
        </p:txBody>
      </p:sp>
      <p:cxnSp>
        <p:nvCxnSpPr>
          <p:cNvPr id="49" name="Connector 48"/>
          <p:cNvCxnSpPr/>
          <p:nvPr/>
        </p:nvCxnSpPr>
        <p:spPr>
          <a:xfrm>
            <a:off x="2377440" y="2350008"/>
            <a:ext cx="0" cy="420624"/>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806440" y="2350008"/>
            <a:ext cx="0" cy="420624"/>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509760" y="2350008"/>
            <a:ext cx="0" cy="420624"/>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806440" y="3520440"/>
            <a:ext cx="0" cy="384048"/>
          </a:xfrm>
          <a:prstGeom prst="line">
            <a:avLst/>
          </a:prstGeom>
          <a:ln w="25400">
            <a:solidFill>
              <a:srgbClr val="0891B2"/>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806440" y="4562856"/>
            <a:ext cx="0" cy="402336"/>
          </a:xfrm>
          <a:prstGeom prst="line">
            <a:avLst/>
          </a:prstGeom>
          <a:ln w="25400">
            <a:solidFill>
              <a:srgbClr val="0891B2"/>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377440" y="5586984"/>
            <a:ext cx="0" cy="128016"/>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377440" y="5715000"/>
            <a:ext cx="7132320" cy="0"/>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509760" y="5586984"/>
            <a:ext cx="0" cy="128016"/>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77240" y="5989320"/>
            <a:ext cx="10607040" cy="320040"/>
          </a:xfrm>
          <a:prstGeom prst="rect">
            <a:avLst/>
          </a:prstGeom>
          <a:noFill/>
        </p:spPr>
        <p:txBody>
          <a:bodyPr wrap="square" anchor="t">
            <a:spAutoFit/>
          </a:bodyPr>
          <a:lstStyle/>
          <a:p>
            <a:pPr algn="l">
              <a:lnSpc>
                <a:spcPct val="100000"/>
              </a:lnSpc>
            </a:pPr>
            <a:r>
              <a:rPr sz="1000" b="0">
                <a:solidFill>
                  <a:srgbClr val="64748B"/>
                </a:solidFill>
                <a:latin typeface="Calibri"/>
              </a:rPr>
              <a:t>The broker is the only path between the top two bands and the bottom one. The dashed edge is the local bus — the one connection that never leaves the building.</a:t>
            </a:r>
          </a:p>
        </p:txBody>
      </p:sp>
      <p:sp>
        <p:nvSpPr>
          <p:cNvPr id="58" name="TextBox 57"/>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59" name="TextBox 58"/>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THE FOUR DEPLOYABLES</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Where each one lives and what it owns</a:t>
            </a:r>
          </a:p>
        </p:txBody>
      </p:sp>
      <p:graphicFrame>
        <p:nvGraphicFramePr>
          <p:cNvPr id="6" name="Table 5"/>
          <p:cNvGraphicFramePr>
            <a:graphicFrameLocks noGrp="1"/>
          </p:cNvGraphicFramePr>
          <p:nvPr/>
        </p:nvGraphicFramePr>
        <p:xfrm>
          <a:off x="777240" y="1783080"/>
          <a:ext cx="10607040" cy="1975104"/>
        </p:xfrm>
        <a:graphic>
          <a:graphicData uri="http://schemas.openxmlformats.org/drawingml/2006/table">
            <a:tbl>
              <a:tblPr firstRow="1" bandRow="1">
                <a:tableStyleId>{5C22544A-7EE6-4342-B048-85BDC9FD1C3A}</a:tableStyleId>
              </a:tblPr>
              <a:tblGrid>
                <a:gridCol w="2377440"/>
                <a:gridCol w="1371600"/>
                <a:gridCol w="2651760"/>
                <a:gridCol w="4206240"/>
              </a:tblGrid>
              <a:tr h="438912">
                <a:tc>
                  <a:txBody>
                    <a:bodyPr/>
                    <a:lstStyle/>
                    <a:p>
                      <a:r>
                        <a:rPr sz="1050" b="1">
                          <a:solidFill>
                            <a:srgbClr val="FFFFFF"/>
                          </a:solidFill>
                          <a:latin typeface="Calibri"/>
                        </a:rPr>
                        <a:t>What</a:t>
                      </a:r>
                    </a:p>
                  </a:txBody>
                  <a:tcPr anchor="ctr" marL="91440">
                    <a:solidFill>
                      <a:srgbClr val="0F1729"/>
                    </a:solidFill>
                  </a:tcPr>
                </a:tc>
                <a:tc>
                  <a:txBody>
                    <a:bodyPr/>
                    <a:lstStyle/>
                    <a:p>
                      <a:r>
                        <a:rPr sz="1050" b="1">
                          <a:solidFill>
                            <a:srgbClr val="FFFFFF"/>
                          </a:solidFill>
                          <a:latin typeface="Calibri"/>
                        </a:rPr>
                        <a:t>Lives in</a:t>
                      </a:r>
                    </a:p>
                  </a:txBody>
                  <a:tcPr anchor="ctr" marL="91440">
                    <a:solidFill>
                      <a:srgbClr val="0F1729"/>
                    </a:solidFill>
                  </a:tcPr>
                </a:tc>
                <a:tc>
                  <a:txBody>
                    <a:bodyPr/>
                    <a:lstStyle/>
                    <a:p>
                      <a:r>
                        <a:rPr sz="1050" b="1">
                          <a:solidFill>
                            <a:srgbClr val="FFFFFF"/>
                          </a:solidFill>
                          <a:latin typeface="Calibri"/>
                        </a:rPr>
                        <a:t>Runs on</a:t>
                      </a:r>
                    </a:p>
                  </a:txBody>
                  <a:tcPr anchor="ctr" marL="91440">
                    <a:solidFill>
                      <a:srgbClr val="0F1729"/>
                    </a:solidFill>
                  </a:tcPr>
                </a:tc>
                <a:tc>
                  <a:txBody>
                    <a:bodyPr/>
                    <a:lstStyle/>
                    <a:p>
                      <a:r>
                        <a:rPr sz="1050" b="1">
                          <a:solidFill>
                            <a:srgbClr val="FFFFFF"/>
                          </a:solidFill>
                          <a:latin typeface="Calibri"/>
                        </a:rPr>
                        <a:t>Owns</a:t>
                      </a:r>
                    </a:p>
                  </a:txBody>
                  <a:tcPr anchor="ctr" marL="91440">
                    <a:solidFill>
                      <a:srgbClr val="0F1729"/>
                    </a:solidFill>
                  </a:tcPr>
                </a:tc>
              </a:tr>
              <a:tr h="384048">
                <a:tc>
                  <a:txBody>
                    <a:bodyPr/>
                    <a:lstStyle/>
                    <a:p>
                      <a:pPr algn="l"/>
                      <a:r>
                        <a:rPr sz="1050">
                          <a:solidFill>
                            <a:srgbClr val="334155"/>
                          </a:solidFill>
                          <a:latin typeface="Calibri"/>
                        </a:rPr>
                        <a:t>Website, shop, console, admin</a:t>
                      </a:r>
                    </a:p>
                  </a:txBody>
                  <a:tcPr anchor="ctr" marL="91440">
                    <a:solidFill>
                      <a:srgbClr val="FFFFFF"/>
                    </a:solidFill>
                  </a:tcPr>
                </a:tc>
                <a:tc>
                  <a:txBody>
                    <a:bodyPr/>
                    <a:lstStyle/>
                    <a:p>
                      <a:pPr algn="l"/>
                      <a:r>
                        <a:rPr sz="1050">
                          <a:solidFill>
                            <a:srgbClr val="334155"/>
                          </a:solidFill>
                          <a:latin typeface="Calibri"/>
                        </a:rPr>
                        <a:t>src/</a:t>
                      </a:r>
                    </a:p>
                  </a:txBody>
                  <a:tcPr anchor="ctr" marL="91440">
                    <a:solidFill>
                      <a:srgbClr val="FFFFFF"/>
                    </a:solidFill>
                  </a:tcPr>
                </a:tc>
                <a:tc>
                  <a:txBody>
                    <a:bodyPr/>
                    <a:lstStyle/>
                    <a:p>
                      <a:pPr algn="l"/>
                      <a:r>
                        <a:rPr sz="1050">
                          <a:solidFill>
                            <a:srgbClr val="334155"/>
                          </a:solidFill>
                          <a:latin typeface="Calibri"/>
                        </a:rPr>
                        <a:t>Vercel → circuvent.com</a:t>
                      </a:r>
                    </a:p>
                  </a:txBody>
                  <a:tcPr anchor="ctr" marL="91440" marR="91440">
                    <a:solidFill>
                      <a:srgbClr val="FFFFFF"/>
                    </a:solidFill>
                  </a:tcPr>
                </a:tc>
                <a:tc>
                  <a:txBody>
                    <a:bodyPr/>
                    <a:lstStyle/>
                    <a:p>
                      <a:pPr algn="l"/>
                      <a:r>
                        <a:rPr sz="1050">
                          <a:solidFill>
                            <a:srgbClr val="334155"/>
                          </a:solidFill>
                          <a:latin typeface="Calibri"/>
                        </a:rPr>
                        <a:t>Marketing, storefront, orders, customer accounts, the /smarthome console and /admin.</a:t>
                      </a:r>
                    </a:p>
                  </a:txBody>
                  <a:tcPr anchor="ctr" marL="91440" marR="91440">
                    <a:solidFill>
                      <a:srgbClr val="FFFFFF"/>
                    </a:solidFill>
                  </a:tcPr>
                </a:tc>
              </a:tr>
              <a:tr h="384048">
                <a:tc>
                  <a:txBody>
                    <a:bodyPr/>
                    <a:lstStyle/>
                    <a:p>
                      <a:pPr algn="l"/>
                      <a:r>
                        <a:rPr sz="1050">
                          <a:solidFill>
                            <a:srgbClr val="334155"/>
                          </a:solidFill>
                          <a:latin typeface="Calibri"/>
                        </a:rPr>
                        <a:t>Control plane</a:t>
                      </a:r>
                    </a:p>
                  </a:txBody>
                  <a:tcPr anchor="ctr" marL="91440">
                    <a:solidFill>
                      <a:srgbClr val="F0F4F8"/>
                    </a:solidFill>
                  </a:tcPr>
                </a:tc>
                <a:tc>
                  <a:txBody>
                    <a:bodyPr/>
                    <a:lstStyle/>
                    <a:p>
                      <a:pPr algn="l"/>
                      <a:r>
                        <a:rPr sz="1050">
                          <a:solidFill>
                            <a:srgbClr val="334155"/>
                          </a:solidFill>
                          <a:latin typeface="Calibri"/>
                        </a:rPr>
                        <a:t>platform/</a:t>
                      </a:r>
                    </a:p>
                  </a:txBody>
                  <a:tcPr anchor="ctr" marL="91440">
                    <a:solidFill>
                      <a:srgbClr val="F0F4F8"/>
                    </a:solidFill>
                  </a:tcPr>
                </a:tc>
                <a:tc>
                  <a:txBody>
                    <a:bodyPr/>
                    <a:lstStyle/>
                    <a:p>
                      <a:pPr algn="l"/>
                      <a:r>
                        <a:rPr sz="1050">
                          <a:solidFill>
                            <a:srgbClr val="334155"/>
                          </a:solidFill>
                          <a:latin typeface="Calibri"/>
                        </a:rPr>
                        <a:t>One VM, Docker Compose → api.circuvent.com</a:t>
                      </a:r>
                    </a:p>
                  </a:txBody>
                  <a:tcPr anchor="ctr" marL="91440" marR="91440">
                    <a:solidFill>
                      <a:srgbClr val="F0F4F8"/>
                    </a:solidFill>
                  </a:tcPr>
                </a:tc>
                <a:tc>
                  <a:txBody>
                    <a:bodyPr/>
                    <a:lstStyle/>
                    <a:p>
                      <a:pPr algn="l"/>
                      <a:r>
                        <a:rPr sz="1050">
                          <a:solidFill>
                            <a:srgbClr val="334155"/>
                          </a:solidFill>
                          <a:latin typeface="Calibri"/>
                        </a:rPr>
                        <a:t>Devices, telemetry, commands, automations, scenes, rooms, households, voice assistants.</a:t>
                      </a:r>
                    </a:p>
                  </a:txBody>
                  <a:tcPr anchor="ctr" marL="91440" marR="91440">
                    <a:solidFill>
                      <a:srgbClr val="F0F4F8"/>
                    </a:solidFill>
                  </a:tcPr>
                </a:tc>
              </a:tr>
              <a:tr h="384048">
                <a:tc>
                  <a:txBody>
                    <a:bodyPr/>
                    <a:lstStyle/>
                    <a:p>
                      <a:pPr algn="l"/>
                      <a:r>
                        <a:rPr sz="1050">
                          <a:solidFill>
                            <a:srgbClr val="334155"/>
                          </a:solidFill>
                          <a:latin typeface="Calibri"/>
                        </a:rPr>
                        <a:t>Mobile app</a:t>
                      </a:r>
                    </a:p>
                  </a:txBody>
                  <a:tcPr anchor="ctr" marL="91440">
                    <a:solidFill>
                      <a:srgbClr val="FFFFFF"/>
                    </a:solidFill>
                  </a:tcPr>
                </a:tc>
                <a:tc>
                  <a:txBody>
                    <a:bodyPr/>
                    <a:lstStyle/>
                    <a:p>
                      <a:pPr algn="l"/>
                      <a:r>
                        <a:rPr sz="1050">
                          <a:solidFill>
                            <a:srgbClr val="334155"/>
                          </a:solidFill>
                          <a:latin typeface="Calibri"/>
                        </a:rPr>
                        <a:t>mobile/</a:t>
                      </a:r>
                    </a:p>
                  </a:txBody>
                  <a:tcPr anchor="ctr" marL="91440">
                    <a:solidFill>
                      <a:srgbClr val="FFFFFF"/>
                    </a:solidFill>
                  </a:tcPr>
                </a:tc>
                <a:tc>
                  <a:txBody>
                    <a:bodyPr/>
                    <a:lstStyle/>
                    <a:p>
                      <a:pPr algn="l"/>
                      <a:r>
                        <a:rPr sz="1050">
                          <a:solidFill>
                            <a:srgbClr val="334155"/>
                          </a:solidFill>
                          <a:latin typeface="Calibri"/>
                        </a:rPr>
                        <a:t>Play Store · com.circuvent.app</a:t>
                      </a:r>
                    </a:p>
                  </a:txBody>
                  <a:tcPr anchor="ctr" marL="91440" marR="91440">
                    <a:solidFill>
                      <a:srgbClr val="FFFFFF"/>
                    </a:solidFill>
                  </a:tcPr>
                </a:tc>
                <a:tc>
                  <a:txBody>
                    <a:bodyPr/>
                    <a:lstStyle/>
                    <a:p>
                      <a:pPr algn="l"/>
                      <a:r>
                        <a:rPr sz="1050">
                          <a:solidFill>
                            <a:srgbClr val="334155"/>
                          </a:solidFill>
                          <a:latin typeface="Calibri"/>
                        </a:rPr>
                        <a:t>The console, on a phone.</a:t>
                      </a:r>
                    </a:p>
                  </a:txBody>
                  <a:tcPr anchor="ctr" marL="91440" marR="91440">
                    <a:solidFill>
                      <a:srgbClr val="FFFFFF"/>
                    </a:solidFill>
                  </a:tcPr>
                </a:tc>
              </a:tr>
              <a:tr h="384048">
                <a:tc>
                  <a:txBody>
                    <a:bodyPr/>
                    <a:lstStyle/>
                    <a:p>
                      <a:pPr algn="l"/>
                      <a:r>
                        <a:rPr sz="1050">
                          <a:solidFill>
                            <a:srgbClr val="334155"/>
                          </a:solidFill>
                          <a:latin typeface="Calibri"/>
                        </a:rPr>
                        <a:t>Device firmware</a:t>
                      </a:r>
                    </a:p>
                  </a:txBody>
                  <a:tcPr anchor="ctr" marL="91440">
                    <a:solidFill>
                      <a:srgbClr val="F0F4F8"/>
                    </a:solidFill>
                  </a:tcPr>
                </a:tc>
                <a:tc>
                  <a:txBody>
                    <a:bodyPr/>
                    <a:lstStyle/>
                    <a:p>
                      <a:pPr algn="l"/>
                      <a:r>
                        <a:rPr sz="1050">
                          <a:solidFill>
                            <a:srgbClr val="334155"/>
                          </a:solidFill>
                          <a:latin typeface="Calibri"/>
                        </a:rPr>
                        <a:t>firmware/</a:t>
                      </a:r>
                    </a:p>
                  </a:txBody>
                  <a:tcPr anchor="ctr" marL="91440">
                    <a:solidFill>
                      <a:srgbClr val="F0F4F8"/>
                    </a:solidFill>
                  </a:tcPr>
                </a:tc>
                <a:tc>
                  <a:txBody>
                    <a:bodyPr/>
                    <a:lstStyle/>
                    <a:p>
                      <a:pPr algn="l"/>
                      <a:r>
                        <a:rPr sz="1050">
                          <a:solidFill>
                            <a:srgbClr val="334155"/>
                          </a:solidFill>
                          <a:latin typeface="Calibri"/>
                        </a:rPr>
                        <a:t>ESP32 hardware in customers' homes</a:t>
                      </a:r>
                    </a:p>
                  </a:txBody>
                  <a:tcPr anchor="ctr" marL="91440" marR="91440">
                    <a:solidFill>
                      <a:srgbClr val="F0F4F8"/>
                    </a:solidFill>
                  </a:tcPr>
                </a:tc>
                <a:tc>
                  <a:txBody>
                    <a:bodyPr/>
                    <a:lstStyle/>
                    <a:p>
                      <a:pPr algn="l"/>
                      <a:r>
                        <a:rPr sz="1050">
                          <a:solidFill>
                            <a:srgbClr val="334155"/>
                          </a:solidFill>
                          <a:latin typeface="Calibri"/>
                        </a:rPr>
                        <a:t>Sensing and actuation, and the local behaviour that must survive losing the network.</a:t>
                      </a:r>
                    </a:p>
                  </a:txBody>
                  <a:tcPr anchor="ctr" marL="91440" marR="91440">
                    <a:solidFill>
                      <a:srgbClr val="F0F4F8"/>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THE COMMAND PATH</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What happens between a tap and a relay</a:t>
            </a:r>
          </a:p>
        </p:txBody>
      </p:sp>
      <p:sp>
        <p:nvSpPr>
          <p:cNvPr id="6" name="Rectangle 5"/>
          <p:cNvSpPr/>
          <p:nvPr/>
        </p:nvSpPr>
        <p:spPr>
          <a:xfrm>
            <a:off x="777240" y="1783080"/>
            <a:ext cx="1966508" cy="105156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1966508" cy="45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1947672"/>
            <a:ext cx="1747052" cy="320040"/>
          </a:xfrm>
          <a:prstGeom prst="rect">
            <a:avLst/>
          </a:prstGeom>
          <a:noFill/>
        </p:spPr>
        <p:txBody>
          <a:bodyPr wrap="square" anchor="t">
            <a:spAutoFit/>
          </a:bodyPr>
          <a:lstStyle/>
          <a:p>
            <a:pPr algn="l">
              <a:lnSpc>
                <a:spcPct val="100000"/>
              </a:lnSpc>
            </a:pPr>
            <a:r>
              <a:rPr sz="1150" b="1">
                <a:solidFill>
                  <a:srgbClr val="0F1729"/>
                </a:solidFill>
                <a:latin typeface="Calibri"/>
              </a:rPr>
              <a:t>Browser / app</a:t>
            </a:r>
          </a:p>
        </p:txBody>
      </p:sp>
      <p:sp>
        <p:nvSpPr>
          <p:cNvPr id="9" name="TextBox 8"/>
          <p:cNvSpPr txBox="1"/>
          <p:nvPr/>
        </p:nvSpPr>
        <p:spPr>
          <a:xfrm>
            <a:off x="886968" y="2286000"/>
            <a:ext cx="1747052" cy="457200"/>
          </a:xfrm>
          <a:prstGeom prst="rect">
            <a:avLst/>
          </a:prstGeom>
          <a:noFill/>
        </p:spPr>
        <p:txBody>
          <a:bodyPr wrap="square" anchor="t">
            <a:spAutoFit/>
          </a:bodyPr>
          <a:lstStyle/>
          <a:p>
            <a:pPr algn="l">
              <a:lnSpc>
                <a:spcPct val="100000"/>
              </a:lnSpc>
            </a:pPr>
            <a:r>
              <a:rPr sz="900" b="0">
                <a:solidFill>
                  <a:srgbClr val="64748B"/>
                </a:solidFill>
                <a:latin typeface="Calibri"/>
              </a:rPr>
              <a:t>optimistic pin applied</a:t>
            </a:r>
          </a:p>
        </p:txBody>
      </p:sp>
      <p:sp>
        <p:nvSpPr>
          <p:cNvPr id="10" name="TextBox 9"/>
          <p:cNvSpPr txBox="1"/>
          <p:nvPr/>
        </p:nvSpPr>
        <p:spPr>
          <a:xfrm>
            <a:off x="2725460" y="2130552"/>
            <a:ext cx="256032" cy="365760"/>
          </a:xfrm>
          <a:prstGeom prst="rect">
            <a:avLst/>
          </a:prstGeom>
          <a:noFill/>
        </p:spPr>
        <p:txBody>
          <a:bodyPr wrap="square" anchor="t">
            <a:spAutoFit/>
          </a:bodyPr>
          <a:lstStyle/>
          <a:p>
            <a:pPr algn="l">
              <a:lnSpc>
                <a:spcPct val="100000"/>
              </a:lnSpc>
            </a:pPr>
            <a:r>
              <a:rPr sz="1700" b="0">
                <a:solidFill>
                  <a:srgbClr val="0891B2"/>
                </a:solidFill>
                <a:latin typeface="Calibri"/>
              </a:rPr>
              <a:t>›</a:t>
            </a:r>
          </a:p>
        </p:txBody>
      </p:sp>
      <p:sp>
        <p:nvSpPr>
          <p:cNvPr id="11" name="Rectangle 10"/>
          <p:cNvSpPr/>
          <p:nvPr/>
        </p:nvSpPr>
        <p:spPr>
          <a:xfrm>
            <a:off x="2944916" y="1783080"/>
            <a:ext cx="1966508" cy="105156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44916" y="1783080"/>
            <a:ext cx="1966508" cy="45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4644" y="1947672"/>
            <a:ext cx="1747052" cy="320040"/>
          </a:xfrm>
          <a:prstGeom prst="rect">
            <a:avLst/>
          </a:prstGeom>
          <a:noFill/>
        </p:spPr>
        <p:txBody>
          <a:bodyPr wrap="square" anchor="t">
            <a:spAutoFit/>
          </a:bodyPr>
          <a:lstStyle/>
          <a:p>
            <a:pPr algn="l">
              <a:lnSpc>
                <a:spcPct val="100000"/>
              </a:lnSpc>
            </a:pPr>
            <a:r>
              <a:rPr sz="1150" b="1">
                <a:solidFill>
                  <a:srgbClr val="0F1729"/>
                </a:solidFill>
                <a:latin typeface="Calibri"/>
              </a:rPr>
              <a:t>Control plane</a:t>
            </a:r>
          </a:p>
        </p:txBody>
      </p:sp>
      <p:sp>
        <p:nvSpPr>
          <p:cNvPr id="14" name="TextBox 13"/>
          <p:cNvSpPr txBox="1"/>
          <p:nvPr/>
        </p:nvSpPr>
        <p:spPr>
          <a:xfrm>
            <a:off x="3054644" y="2286000"/>
            <a:ext cx="1747052" cy="457200"/>
          </a:xfrm>
          <a:prstGeom prst="rect">
            <a:avLst/>
          </a:prstGeom>
          <a:noFill/>
        </p:spPr>
        <p:txBody>
          <a:bodyPr wrap="square" anchor="t">
            <a:spAutoFit/>
          </a:bodyPr>
          <a:lstStyle/>
          <a:p>
            <a:pPr algn="l">
              <a:lnSpc>
                <a:spcPct val="100000"/>
              </a:lnSpc>
            </a:pPr>
            <a:r>
              <a:rPr sz="900" b="0">
                <a:solidFill>
                  <a:srgbClr val="64748B"/>
                </a:solidFill>
                <a:latin typeface="Calibri"/>
              </a:rPr>
              <a:t>auth, ownership, projection</a:t>
            </a:r>
          </a:p>
        </p:txBody>
      </p:sp>
      <p:sp>
        <p:nvSpPr>
          <p:cNvPr id="15" name="TextBox 14"/>
          <p:cNvSpPr txBox="1"/>
          <p:nvPr/>
        </p:nvSpPr>
        <p:spPr>
          <a:xfrm>
            <a:off x="4893137" y="2130552"/>
            <a:ext cx="256032" cy="365760"/>
          </a:xfrm>
          <a:prstGeom prst="rect">
            <a:avLst/>
          </a:prstGeom>
          <a:noFill/>
        </p:spPr>
        <p:txBody>
          <a:bodyPr wrap="square" anchor="t">
            <a:spAutoFit/>
          </a:bodyPr>
          <a:lstStyle/>
          <a:p>
            <a:pPr algn="l">
              <a:lnSpc>
                <a:spcPct val="100000"/>
              </a:lnSpc>
            </a:pPr>
            <a:r>
              <a:rPr sz="1700" b="0">
                <a:solidFill>
                  <a:srgbClr val="0891B2"/>
                </a:solidFill>
                <a:latin typeface="Calibri"/>
              </a:rPr>
              <a:t>›</a:t>
            </a:r>
          </a:p>
        </p:txBody>
      </p:sp>
      <p:sp>
        <p:nvSpPr>
          <p:cNvPr id="16" name="Rectangle 15"/>
          <p:cNvSpPr/>
          <p:nvPr/>
        </p:nvSpPr>
        <p:spPr>
          <a:xfrm>
            <a:off x="5112593" y="1783080"/>
            <a:ext cx="1966508" cy="105156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112593" y="1783080"/>
            <a:ext cx="1966508" cy="45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22321" y="1947672"/>
            <a:ext cx="1747052" cy="320040"/>
          </a:xfrm>
          <a:prstGeom prst="rect">
            <a:avLst/>
          </a:prstGeom>
          <a:noFill/>
        </p:spPr>
        <p:txBody>
          <a:bodyPr wrap="square" anchor="t">
            <a:spAutoFit/>
          </a:bodyPr>
          <a:lstStyle/>
          <a:p>
            <a:pPr algn="l">
              <a:lnSpc>
                <a:spcPct val="100000"/>
              </a:lnSpc>
            </a:pPr>
            <a:r>
              <a:rPr sz="1150" b="1">
                <a:solidFill>
                  <a:srgbClr val="0F1729"/>
                </a:solidFill>
                <a:latin typeface="Calibri"/>
              </a:rPr>
              <a:t>Broker</a:t>
            </a:r>
          </a:p>
        </p:txBody>
      </p:sp>
      <p:sp>
        <p:nvSpPr>
          <p:cNvPr id="19" name="TextBox 18"/>
          <p:cNvSpPr txBox="1"/>
          <p:nvPr/>
        </p:nvSpPr>
        <p:spPr>
          <a:xfrm>
            <a:off x="5222321" y="2286000"/>
            <a:ext cx="1747052" cy="457200"/>
          </a:xfrm>
          <a:prstGeom prst="rect">
            <a:avLst/>
          </a:prstGeom>
          <a:noFill/>
        </p:spPr>
        <p:txBody>
          <a:bodyPr wrap="square" anchor="t">
            <a:spAutoFit/>
          </a:bodyPr>
          <a:lstStyle/>
          <a:p>
            <a:pPr algn="l">
              <a:lnSpc>
                <a:spcPct val="100000"/>
              </a:lnSpc>
            </a:pPr>
            <a:r>
              <a:rPr sz="900" b="0">
                <a:solidFill>
                  <a:srgbClr val="64748B"/>
                </a:solidFill>
                <a:latin typeface="Calibri"/>
              </a:rPr>
              <a:t>cv/&lt;id&gt;/cmd, QoS 1</a:t>
            </a:r>
          </a:p>
        </p:txBody>
      </p:sp>
      <p:sp>
        <p:nvSpPr>
          <p:cNvPr id="20" name="TextBox 19"/>
          <p:cNvSpPr txBox="1"/>
          <p:nvPr/>
        </p:nvSpPr>
        <p:spPr>
          <a:xfrm>
            <a:off x="7060813" y="2130552"/>
            <a:ext cx="256032" cy="365760"/>
          </a:xfrm>
          <a:prstGeom prst="rect">
            <a:avLst/>
          </a:prstGeom>
          <a:noFill/>
        </p:spPr>
        <p:txBody>
          <a:bodyPr wrap="square" anchor="t">
            <a:spAutoFit/>
          </a:bodyPr>
          <a:lstStyle/>
          <a:p>
            <a:pPr algn="l">
              <a:lnSpc>
                <a:spcPct val="100000"/>
              </a:lnSpc>
            </a:pPr>
            <a:r>
              <a:rPr sz="1700" b="0">
                <a:solidFill>
                  <a:srgbClr val="0891B2"/>
                </a:solidFill>
                <a:latin typeface="Calibri"/>
              </a:rPr>
              <a:t>›</a:t>
            </a:r>
          </a:p>
        </p:txBody>
      </p:sp>
      <p:sp>
        <p:nvSpPr>
          <p:cNvPr id="21" name="Rectangle 20"/>
          <p:cNvSpPr/>
          <p:nvPr/>
        </p:nvSpPr>
        <p:spPr>
          <a:xfrm>
            <a:off x="7280269" y="1783080"/>
            <a:ext cx="1966508" cy="105156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80269" y="1783080"/>
            <a:ext cx="1966508" cy="457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89997" y="1947672"/>
            <a:ext cx="1747052" cy="320040"/>
          </a:xfrm>
          <a:prstGeom prst="rect">
            <a:avLst/>
          </a:prstGeom>
          <a:noFill/>
        </p:spPr>
        <p:txBody>
          <a:bodyPr wrap="square" anchor="t">
            <a:spAutoFit/>
          </a:bodyPr>
          <a:lstStyle/>
          <a:p>
            <a:pPr algn="l">
              <a:lnSpc>
                <a:spcPct val="100000"/>
              </a:lnSpc>
            </a:pPr>
            <a:r>
              <a:rPr sz="1150" b="1">
                <a:solidFill>
                  <a:srgbClr val="0F1729"/>
                </a:solidFill>
                <a:latin typeface="Calibri"/>
              </a:rPr>
              <a:t>Device</a:t>
            </a:r>
          </a:p>
        </p:txBody>
      </p:sp>
      <p:sp>
        <p:nvSpPr>
          <p:cNvPr id="24" name="TextBox 23"/>
          <p:cNvSpPr txBox="1"/>
          <p:nvPr/>
        </p:nvSpPr>
        <p:spPr>
          <a:xfrm>
            <a:off x="7389997" y="2286000"/>
            <a:ext cx="1747052" cy="457200"/>
          </a:xfrm>
          <a:prstGeom prst="rect">
            <a:avLst/>
          </a:prstGeom>
          <a:noFill/>
        </p:spPr>
        <p:txBody>
          <a:bodyPr wrap="square" anchor="t">
            <a:spAutoFit/>
          </a:bodyPr>
          <a:lstStyle/>
          <a:p>
            <a:pPr algn="l">
              <a:lnSpc>
                <a:spcPct val="100000"/>
              </a:lnSpc>
            </a:pPr>
            <a:r>
              <a:rPr sz="900" b="0">
                <a:solidFill>
                  <a:srgbClr val="64748B"/>
                </a:solidFill>
                <a:latin typeface="Calibri"/>
              </a:rPr>
              <a:t>acts, then publishes</a:t>
            </a:r>
          </a:p>
        </p:txBody>
      </p:sp>
      <p:sp>
        <p:nvSpPr>
          <p:cNvPr id="25" name="TextBox 24"/>
          <p:cNvSpPr txBox="1"/>
          <p:nvPr/>
        </p:nvSpPr>
        <p:spPr>
          <a:xfrm>
            <a:off x="9228490" y="2130552"/>
            <a:ext cx="256032" cy="365760"/>
          </a:xfrm>
          <a:prstGeom prst="rect">
            <a:avLst/>
          </a:prstGeom>
          <a:noFill/>
        </p:spPr>
        <p:txBody>
          <a:bodyPr wrap="square" anchor="t">
            <a:spAutoFit/>
          </a:bodyPr>
          <a:lstStyle/>
          <a:p>
            <a:pPr algn="l">
              <a:lnSpc>
                <a:spcPct val="100000"/>
              </a:lnSpc>
            </a:pPr>
            <a:r>
              <a:rPr sz="1700" b="0">
                <a:solidFill>
                  <a:srgbClr val="0891B2"/>
                </a:solidFill>
                <a:latin typeface="Calibri"/>
              </a:rPr>
              <a:t>›</a:t>
            </a:r>
          </a:p>
        </p:txBody>
      </p:sp>
      <p:sp>
        <p:nvSpPr>
          <p:cNvPr id="26" name="Rectangle 25"/>
          <p:cNvSpPr/>
          <p:nvPr/>
        </p:nvSpPr>
        <p:spPr>
          <a:xfrm>
            <a:off x="9447946" y="1783080"/>
            <a:ext cx="1966508" cy="105156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447946" y="1783080"/>
            <a:ext cx="1966508" cy="45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557674" y="1947672"/>
            <a:ext cx="1747052" cy="320040"/>
          </a:xfrm>
          <a:prstGeom prst="rect">
            <a:avLst/>
          </a:prstGeom>
          <a:noFill/>
        </p:spPr>
        <p:txBody>
          <a:bodyPr wrap="square" anchor="t">
            <a:spAutoFit/>
          </a:bodyPr>
          <a:lstStyle/>
          <a:p>
            <a:pPr algn="l">
              <a:lnSpc>
                <a:spcPct val="100000"/>
              </a:lnSpc>
            </a:pPr>
            <a:r>
              <a:rPr sz="1150" b="1">
                <a:solidFill>
                  <a:srgbClr val="0F1729"/>
                </a:solidFill>
                <a:latin typeface="Calibri"/>
              </a:rPr>
              <a:t>cv/&lt;id&gt;/state</a:t>
            </a:r>
          </a:p>
        </p:txBody>
      </p:sp>
      <p:sp>
        <p:nvSpPr>
          <p:cNvPr id="29" name="TextBox 28"/>
          <p:cNvSpPr txBox="1"/>
          <p:nvPr/>
        </p:nvSpPr>
        <p:spPr>
          <a:xfrm>
            <a:off x="9557674" y="2286000"/>
            <a:ext cx="1747052" cy="457200"/>
          </a:xfrm>
          <a:prstGeom prst="rect">
            <a:avLst/>
          </a:prstGeom>
          <a:noFill/>
        </p:spPr>
        <p:txBody>
          <a:bodyPr wrap="square" anchor="t">
            <a:spAutoFit/>
          </a:bodyPr>
          <a:lstStyle/>
          <a:p>
            <a:pPr algn="l">
              <a:lnSpc>
                <a:spcPct val="100000"/>
              </a:lnSpc>
            </a:pPr>
            <a:r>
              <a:rPr sz="900" b="0">
                <a:solidFill>
                  <a:srgbClr val="64748B"/>
                </a:solidFill>
                <a:latin typeface="Calibri"/>
              </a:rPr>
              <a:t>retained, fans back out</a:t>
            </a:r>
          </a:p>
        </p:txBody>
      </p:sp>
      <p:sp>
        <p:nvSpPr>
          <p:cNvPr id="30" name="TextBox 29"/>
          <p:cNvSpPr txBox="1"/>
          <p:nvPr/>
        </p:nvSpPr>
        <p:spPr>
          <a:xfrm>
            <a:off x="777240" y="3200400"/>
            <a:ext cx="10607040" cy="2194560"/>
          </a:xfrm>
          <a:prstGeom prst="rect">
            <a:avLst/>
          </a:prstGeom>
          <a:noFill/>
        </p:spPr>
        <p:txBody>
          <a:bodyPr wrap="square">
            <a:spAutoFit/>
          </a:bodyPr>
          <a:lstStyle/>
          <a:p>
            <a:pPr>
              <a:lnSpc>
                <a:spcPct val="125000"/>
              </a:lnSpc>
              <a:spcAft>
                <a:spcPts val="1000"/>
              </a:spcAft>
            </a:pPr>
            <a:r>
              <a:rPr sz="750">
                <a:solidFill>
                  <a:srgbClr val="0891B2"/>
                </a:solidFill>
                <a:latin typeface="Calibri"/>
              </a:rPr>
              <a:t>●  </a:t>
            </a:r>
            <a:r>
              <a:rPr sz="1250" b="1">
                <a:solidFill>
                  <a:srgbClr val="0F1729"/>
                </a:solidFill>
                <a:latin typeface="Calibri"/>
              </a:rPr>
              <a:t>The optimistic pin is why the UI feels instant — </a:t>
            </a:r>
            <a:r>
              <a:rPr sz="1250">
                <a:solidFill>
                  <a:srgbClr val="334155"/>
                </a:solidFill>
                <a:latin typeface="Calibri"/>
              </a:rPr>
              <a:t>and why projectCommand has to predict exactly what the device will report. Predict a field the firmware computes for itself and the control waits forever for a confirmation that cannot arrive.</a:t>
            </a:r>
          </a:p>
          <a:p>
            <a:pPr>
              <a:lnSpc>
                <a:spcPct val="125000"/>
              </a:lnSpc>
              <a:spcAft>
                <a:spcPts val="1000"/>
              </a:spcAft>
            </a:pPr>
            <a:r>
              <a:rPr sz="750">
                <a:solidFill>
                  <a:srgbClr val="0891B2"/>
                </a:solidFill>
                <a:latin typeface="Calibri"/>
              </a:rPr>
              <a:t>●  </a:t>
            </a:r>
            <a:r>
              <a:rPr sz="1250">
                <a:solidFill>
                  <a:srgbClr val="334155"/>
                </a:solidFill>
                <a:latin typeface="Calibri"/>
              </a:rPr>
              <a:t>The device is the only authority on its own state. Everything upstream is displaying a belief until the retained state message replaces it.</a:t>
            </a:r>
          </a:p>
          <a:p>
            <a:pPr>
              <a:lnSpc>
                <a:spcPct val="125000"/>
              </a:lnSpc>
              <a:spcAft>
                <a:spcPts val="1000"/>
              </a:spcAft>
            </a:pPr>
            <a:r>
              <a:rPr sz="750">
                <a:solidFill>
                  <a:srgbClr val="0891B2"/>
                </a:solidFill>
                <a:latin typeface="Calibri"/>
              </a:rPr>
              <a:t>●  </a:t>
            </a:r>
            <a:r>
              <a:rPr sz="1250" b="1">
                <a:solidFill>
                  <a:srgbClr val="0F1729"/>
                </a:solidFill>
                <a:latin typeface="Calibri"/>
              </a:rPr>
              <a:t>Boards in one home can now short-circuit this entirely over the local bus — </a:t>
            </a:r>
            <a:r>
              <a:rPr sz="1250">
                <a:solidFill>
                  <a:srgbClr val="334155"/>
                </a:solidFill>
                <a:latin typeface="Calibri"/>
              </a:rPr>
              <a:t>see the local-bus slide.</a:t>
            </a:r>
          </a:p>
        </p:txBody>
      </p:sp>
      <p:sp>
        <p:nvSpPr>
          <p:cNvPr id="31" name="TextBox 30"/>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32" name="TextBox 31"/>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MQTT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The topic contract, which four codebases depend on</a:t>
            </a:r>
          </a:p>
        </p:txBody>
      </p:sp>
      <p:sp>
        <p:nvSpPr>
          <p:cNvPr id="6" name="Rectangle 5"/>
          <p:cNvSpPr/>
          <p:nvPr/>
        </p:nvSpPr>
        <p:spPr>
          <a:xfrm>
            <a:off x="822960" y="1783080"/>
            <a:ext cx="2743200" cy="548640"/>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1920240"/>
            <a:ext cx="2560320" cy="274320"/>
          </a:xfrm>
          <a:prstGeom prst="rect">
            <a:avLst/>
          </a:prstGeom>
          <a:noFill/>
        </p:spPr>
        <p:txBody>
          <a:bodyPr wrap="square" anchor="t">
            <a:spAutoFit/>
          </a:bodyPr>
          <a:lstStyle/>
          <a:p>
            <a:pPr algn="l">
              <a:lnSpc>
                <a:spcPct val="100000"/>
              </a:lnSpc>
            </a:pPr>
            <a:r>
              <a:rPr sz="1250" b="1">
                <a:solidFill>
                  <a:srgbClr val="FFFFFF"/>
                </a:solidFill>
                <a:latin typeface="Calibri"/>
              </a:rPr>
              <a:t>cv/&lt;device-id&gt;/</a:t>
            </a:r>
          </a:p>
        </p:txBody>
      </p:sp>
      <p:cxnSp>
        <p:nvCxnSpPr>
          <p:cNvPr id="8" name="Connector 7"/>
          <p:cNvCxnSpPr/>
          <p:nvPr/>
        </p:nvCxnSpPr>
        <p:spPr>
          <a:xfrm>
            <a:off x="1188720" y="2331720"/>
            <a:ext cx="0" cy="2459736"/>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88720" y="2816352"/>
            <a:ext cx="59436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783080" y="2587752"/>
            <a:ext cx="1828800" cy="457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783080" y="2587752"/>
            <a:ext cx="18288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874520" y="2734056"/>
            <a:ext cx="1645920" cy="292608"/>
          </a:xfrm>
          <a:prstGeom prst="rect">
            <a:avLst/>
          </a:prstGeom>
          <a:noFill/>
        </p:spPr>
        <p:txBody>
          <a:bodyPr wrap="square" anchor="t">
            <a:spAutoFit/>
          </a:bodyPr>
          <a:lstStyle/>
          <a:p>
            <a:pPr algn="l">
              <a:lnSpc>
                <a:spcPct val="100000"/>
              </a:lnSpc>
            </a:pPr>
            <a:r>
              <a:rPr sz="1100" b="1">
                <a:solidFill>
                  <a:srgbClr val="0F1729"/>
                </a:solidFill>
                <a:latin typeface="Calibri"/>
              </a:rPr>
              <a:t>state</a:t>
            </a:r>
          </a:p>
        </p:txBody>
      </p:sp>
      <p:sp>
        <p:nvSpPr>
          <p:cNvPr id="13" name="TextBox 12"/>
          <p:cNvSpPr txBox="1"/>
          <p:nvPr/>
        </p:nvSpPr>
        <p:spPr>
          <a:xfrm>
            <a:off x="3794760" y="2715768"/>
            <a:ext cx="1828800" cy="219456"/>
          </a:xfrm>
          <a:prstGeom prst="rect">
            <a:avLst/>
          </a:prstGeom>
          <a:noFill/>
        </p:spPr>
        <p:txBody>
          <a:bodyPr wrap="square" anchor="t">
            <a:spAutoFit/>
          </a:bodyPr>
          <a:lstStyle/>
          <a:p>
            <a:pPr algn="l">
              <a:lnSpc>
                <a:spcPct val="100000"/>
              </a:lnSpc>
            </a:pPr>
            <a:r>
              <a:rPr sz="950" b="0">
                <a:solidFill>
                  <a:srgbClr val="334155"/>
                </a:solidFill>
                <a:latin typeface="Calibri"/>
              </a:rPr>
              <a:t>device → cloud</a:t>
            </a:r>
          </a:p>
        </p:txBody>
      </p:sp>
      <p:sp>
        <p:nvSpPr>
          <p:cNvPr id="14" name="Rounded Rectangle 13"/>
          <p:cNvSpPr/>
          <p:nvPr/>
        </p:nvSpPr>
        <p:spPr>
          <a:xfrm>
            <a:off x="5760720" y="2697480"/>
            <a:ext cx="1371600" cy="237744"/>
          </a:xfrm>
          <a:prstGeom prst="round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760720" y="2724912"/>
            <a:ext cx="1371600" cy="201168"/>
          </a:xfrm>
          <a:prstGeom prst="rect">
            <a:avLst/>
          </a:prstGeom>
          <a:noFill/>
        </p:spPr>
        <p:txBody>
          <a:bodyPr wrap="square" anchor="t">
            <a:spAutoFit/>
          </a:bodyPr>
          <a:lstStyle/>
          <a:p>
            <a:pPr algn="ctr">
              <a:lnSpc>
                <a:spcPct val="100000"/>
              </a:lnSpc>
            </a:pPr>
            <a:r>
              <a:rPr sz="850" b="1">
                <a:solidFill>
                  <a:srgbClr val="FFFFFF"/>
                </a:solidFill>
                <a:latin typeface="Calibri"/>
              </a:rPr>
              <a:t>retained</a:t>
            </a:r>
          </a:p>
        </p:txBody>
      </p:sp>
      <p:sp>
        <p:nvSpPr>
          <p:cNvPr id="16" name="TextBox 15"/>
          <p:cNvSpPr txBox="1"/>
          <p:nvPr/>
        </p:nvSpPr>
        <p:spPr>
          <a:xfrm>
            <a:off x="7360920" y="2715768"/>
            <a:ext cx="3931920" cy="219456"/>
          </a:xfrm>
          <a:prstGeom prst="rect">
            <a:avLst/>
          </a:prstGeom>
          <a:noFill/>
        </p:spPr>
        <p:txBody>
          <a:bodyPr wrap="square" anchor="t">
            <a:spAutoFit/>
          </a:bodyPr>
          <a:lstStyle/>
          <a:p>
            <a:pPr algn="l">
              <a:lnSpc>
                <a:spcPct val="100000"/>
              </a:lnSpc>
            </a:pPr>
            <a:r>
              <a:rPr sz="950" b="0">
                <a:solidFill>
                  <a:srgbClr val="64748B"/>
                </a:solidFill>
                <a:latin typeface="Calibri"/>
              </a:rPr>
              <a:t>everything it currently reports</a:t>
            </a:r>
          </a:p>
        </p:txBody>
      </p:sp>
      <p:cxnSp>
        <p:nvCxnSpPr>
          <p:cNvPr id="17" name="Connector 16"/>
          <p:cNvCxnSpPr/>
          <p:nvPr/>
        </p:nvCxnSpPr>
        <p:spPr>
          <a:xfrm>
            <a:off x="1188720" y="3474720"/>
            <a:ext cx="59436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783080" y="3246120"/>
            <a:ext cx="1828800" cy="457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783080" y="3246120"/>
            <a:ext cx="18288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874520" y="3392424"/>
            <a:ext cx="1645920" cy="292608"/>
          </a:xfrm>
          <a:prstGeom prst="rect">
            <a:avLst/>
          </a:prstGeom>
          <a:noFill/>
        </p:spPr>
        <p:txBody>
          <a:bodyPr wrap="square" anchor="t">
            <a:spAutoFit/>
          </a:bodyPr>
          <a:lstStyle/>
          <a:p>
            <a:pPr algn="l">
              <a:lnSpc>
                <a:spcPct val="100000"/>
              </a:lnSpc>
            </a:pPr>
            <a:r>
              <a:rPr sz="1100" b="1">
                <a:solidFill>
                  <a:srgbClr val="0F1729"/>
                </a:solidFill>
                <a:latin typeface="Calibri"/>
              </a:rPr>
              <a:t>telemetry</a:t>
            </a:r>
          </a:p>
        </p:txBody>
      </p:sp>
      <p:sp>
        <p:nvSpPr>
          <p:cNvPr id="21" name="TextBox 20"/>
          <p:cNvSpPr txBox="1"/>
          <p:nvPr/>
        </p:nvSpPr>
        <p:spPr>
          <a:xfrm>
            <a:off x="3794760" y="3374136"/>
            <a:ext cx="1828800" cy="219456"/>
          </a:xfrm>
          <a:prstGeom prst="rect">
            <a:avLst/>
          </a:prstGeom>
          <a:noFill/>
        </p:spPr>
        <p:txBody>
          <a:bodyPr wrap="square" anchor="t">
            <a:spAutoFit/>
          </a:bodyPr>
          <a:lstStyle/>
          <a:p>
            <a:pPr algn="l">
              <a:lnSpc>
                <a:spcPct val="100000"/>
              </a:lnSpc>
            </a:pPr>
            <a:r>
              <a:rPr sz="950" b="0">
                <a:solidFill>
                  <a:srgbClr val="334155"/>
                </a:solidFill>
                <a:latin typeface="Calibri"/>
              </a:rPr>
              <a:t>device → cloud</a:t>
            </a:r>
          </a:p>
        </p:txBody>
      </p:sp>
      <p:sp>
        <p:nvSpPr>
          <p:cNvPr id="22" name="Rounded Rectangle 21"/>
          <p:cNvSpPr/>
          <p:nvPr/>
        </p:nvSpPr>
        <p:spPr>
          <a:xfrm>
            <a:off x="5760720" y="3355848"/>
            <a:ext cx="1371600" cy="237744"/>
          </a:xfrm>
          <a:prstGeom prst="round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760720" y="3383279"/>
            <a:ext cx="1371600" cy="201168"/>
          </a:xfrm>
          <a:prstGeom prst="rect">
            <a:avLst/>
          </a:prstGeom>
          <a:noFill/>
        </p:spPr>
        <p:txBody>
          <a:bodyPr wrap="square" anchor="t">
            <a:spAutoFit/>
          </a:bodyPr>
          <a:lstStyle/>
          <a:p>
            <a:pPr algn="ctr">
              <a:lnSpc>
                <a:spcPct val="100000"/>
              </a:lnSpc>
            </a:pPr>
            <a:r>
              <a:rPr sz="850" b="1">
                <a:solidFill>
                  <a:srgbClr val="FFFFFF"/>
                </a:solidFill>
                <a:latin typeface="Calibri"/>
              </a:rPr>
              <a:t>not retained</a:t>
            </a:r>
          </a:p>
        </p:txBody>
      </p:sp>
      <p:sp>
        <p:nvSpPr>
          <p:cNvPr id="24" name="TextBox 23"/>
          <p:cNvSpPr txBox="1"/>
          <p:nvPr/>
        </p:nvSpPr>
        <p:spPr>
          <a:xfrm>
            <a:off x="7360920" y="3374136"/>
            <a:ext cx="3931920" cy="219456"/>
          </a:xfrm>
          <a:prstGeom prst="rect">
            <a:avLst/>
          </a:prstGeom>
          <a:noFill/>
        </p:spPr>
        <p:txBody>
          <a:bodyPr wrap="square" anchor="t">
            <a:spAutoFit/>
          </a:bodyPr>
          <a:lstStyle/>
          <a:p>
            <a:pPr algn="l">
              <a:lnSpc>
                <a:spcPct val="100000"/>
              </a:lnSpc>
            </a:pPr>
            <a:r>
              <a:rPr sz="950" b="0">
                <a:solidFill>
                  <a:srgbClr val="64748B"/>
                </a:solidFill>
                <a:latin typeface="Calibri"/>
              </a:rPr>
              <a:t>readings worth keeping history for</a:t>
            </a:r>
          </a:p>
        </p:txBody>
      </p:sp>
      <p:cxnSp>
        <p:nvCxnSpPr>
          <p:cNvPr id="25" name="Connector 24"/>
          <p:cNvCxnSpPr/>
          <p:nvPr/>
        </p:nvCxnSpPr>
        <p:spPr>
          <a:xfrm>
            <a:off x="1188720" y="4133087"/>
            <a:ext cx="59436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783080" y="3904487"/>
            <a:ext cx="1828800" cy="457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783080" y="3904487"/>
            <a:ext cx="18288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874520" y="4050791"/>
            <a:ext cx="1645920" cy="292608"/>
          </a:xfrm>
          <a:prstGeom prst="rect">
            <a:avLst/>
          </a:prstGeom>
          <a:noFill/>
        </p:spPr>
        <p:txBody>
          <a:bodyPr wrap="square" anchor="t">
            <a:spAutoFit/>
          </a:bodyPr>
          <a:lstStyle/>
          <a:p>
            <a:pPr algn="l">
              <a:lnSpc>
                <a:spcPct val="100000"/>
              </a:lnSpc>
            </a:pPr>
            <a:r>
              <a:rPr sz="1100" b="1">
                <a:solidFill>
                  <a:srgbClr val="0F1729"/>
                </a:solidFill>
                <a:latin typeface="Calibri"/>
              </a:rPr>
              <a:t>cmd</a:t>
            </a:r>
          </a:p>
        </p:txBody>
      </p:sp>
      <p:sp>
        <p:nvSpPr>
          <p:cNvPr id="29" name="TextBox 28"/>
          <p:cNvSpPr txBox="1"/>
          <p:nvPr/>
        </p:nvSpPr>
        <p:spPr>
          <a:xfrm>
            <a:off x="3794760" y="4032503"/>
            <a:ext cx="1828800" cy="219456"/>
          </a:xfrm>
          <a:prstGeom prst="rect">
            <a:avLst/>
          </a:prstGeom>
          <a:noFill/>
        </p:spPr>
        <p:txBody>
          <a:bodyPr wrap="square" anchor="t">
            <a:spAutoFit/>
          </a:bodyPr>
          <a:lstStyle/>
          <a:p>
            <a:pPr algn="l">
              <a:lnSpc>
                <a:spcPct val="100000"/>
              </a:lnSpc>
            </a:pPr>
            <a:r>
              <a:rPr sz="950" b="0">
                <a:solidFill>
                  <a:srgbClr val="334155"/>
                </a:solidFill>
                <a:latin typeface="Calibri"/>
              </a:rPr>
              <a:t>cloud → device</a:t>
            </a:r>
          </a:p>
        </p:txBody>
      </p:sp>
      <p:sp>
        <p:nvSpPr>
          <p:cNvPr id="30" name="Rounded Rectangle 29"/>
          <p:cNvSpPr/>
          <p:nvPr/>
        </p:nvSpPr>
        <p:spPr>
          <a:xfrm>
            <a:off x="5760720" y="4014215"/>
            <a:ext cx="1371600" cy="23774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760720" y="4041648"/>
            <a:ext cx="1371600" cy="201168"/>
          </a:xfrm>
          <a:prstGeom prst="rect">
            <a:avLst/>
          </a:prstGeom>
          <a:noFill/>
        </p:spPr>
        <p:txBody>
          <a:bodyPr wrap="square" anchor="t">
            <a:spAutoFit/>
          </a:bodyPr>
          <a:lstStyle/>
          <a:p>
            <a:pPr algn="ctr">
              <a:lnSpc>
                <a:spcPct val="100000"/>
              </a:lnSpc>
            </a:pPr>
            <a:r>
              <a:rPr sz="850" b="1">
                <a:solidFill>
                  <a:srgbClr val="FFFFFF"/>
                </a:solidFill>
                <a:latin typeface="Calibri"/>
              </a:rPr>
              <a:t>QoS 1</a:t>
            </a:r>
          </a:p>
        </p:txBody>
      </p:sp>
      <p:sp>
        <p:nvSpPr>
          <p:cNvPr id="32" name="TextBox 31"/>
          <p:cNvSpPr txBox="1"/>
          <p:nvPr/>
        </p:nvSpPr>
        <p:spPr>
          <a:xfrm>
            <a:off x="7360920" y="4032503"/>
            <a:ext cx="3931920" cy="219456"/>
          </a:xfrm>
          <a:prstGeom prst="rect">
            <a:avLst/>
          </a:prstGeom>
          <a:noFill/>
        </p:spPr>
        <p:txBody>
          <a:bodyPr wrap="square" anchor="t">
            <a:spAutoFit/>
          </a:bodyPr>
          <a:lstStyle/>
          <a:p>
            <a:pPr algn="l">
              <a:lnSpc>
                <a:spcPct val="100000"/>
              </a:lnSpc>
            </a:pPr>
            <a:r>
              <a:rPr sz="950" b="0">
                <a:solidFill>
                  <a:srgbClr val="64748B"/>
                </a:solidFill>
                <a:latin typeface="Calibri"/>
              </a:rPr>
              <a:t>the only topic a device subscribes to</a:t>
            </a:r>
          </a:p>
        </p:txBody>
      </p:sp>
      <p:cxnSp>
        <p:nvCxnSpPr>
          <p:cNvPr id="33" name="Connector 32"/>
          <p:cNvCxnSpPr/>
          <p:nvPr/>
        </p:nvCxnSpPr>
        <p:spPr>
          <a:xfrm>
            <a:off x="1188720" y="4791455"/>
            <a:ext cx="59436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783080" y="4562855"/>
            <a:ext cx="1828800" cy="457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783080" y="4562855"/>
            <a:ext cx="182880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874520" y="4709159"/>
            <a:ext cx="1645920" cy="292608"/>
          </a:xfrm>
          <a:prstGeom prst="rect">
            <a:avLst/>
          </a:prstGeom>
          <a:noFill/>
        </p:spPr>
        <p:txBody>
          <a:bodyPr wrap="square" anchor="t">
            <a:spAutoFit/>
          </a:bodyPr>
          <a:lstStyle/>
          <a:p>
            <a:pPr algn="l">
              <a:lnSpc>
                <a:spcPct val="100000"/>
              </a:lnSpc>
            </a:pPr>
            <a:r>
              <a:rPr sz="1100" b="1">
                <a:solidFill>
                  <a:srgbClr val="0F1729"/>
                </a:solidFill>
                <a:latin typeface="Calibri"/>
              </a:rPr>
              <a:t>status</a:t>
            </a:r>
          </a:p>
        </p:txBody>
      </p:sp>
      <p:sp>
        <p:nvSpPr>
          <p:cNvPr id="37" name="TextBox 36"/>
          <p:cNvSpPr txBox="1"/>
          <p:nvPr/>
        </p:nvSpPr>
        <p:spPr>
          <a:xfrm>
            <a:off x="3794760" y="4690871"/>
            <a:ext cx="1828800" cy="219456"/>
          </a:xfrm>
          <a:prstGeom prst="rect">
            <a:avLst/>
          </a:prstGeom>
          <a:noFill/>
        </p:spPr>
        <p:txBody>
          <a:bodyPr wrap="square" anchor="t">
            <a:spAutoFit/>
          </a:bodyPr>
          <a:lstStyle/>
          <a:p>
            <a:pPr algn="l">
              <a:lnSpc>
                <a:spcPct val="100000"/>
              </a:lnSpc>
            </a:pPr>
            <a:r>
              <a:rPr sz="950" b="0">
                <a:solidFill>
                  <a:srgbClr val="334155"/>
                </a:solidFill>
                <a:latin typeface="Calibri"/>
              </a:rPr>
              <a:t>broker publishes</a:t>
            </a:r>
          </a:p>
        </p:txBody>
      </p:sp>
      <p:sp>
        <p:nvSpPr>
          <p:cNvPr id="38" name="Rounded Rectangle 37"/>
          <p:cNvSpPr/>
          <p:nvPr/>
        </p:nvSpPr>
        <p:spPr>
          <a:xfrm>
            <a:off x="5760720" y="4672583"/>
            <a:ext cx="1371600" cy="237744"/>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760720" y="4700016"/>
            <a:ext cx="1371600" cy="201168"/>
          </a:xfrm>
          <a:prstGeom prst="rect">
            <a:avLst/>
          </a:prstGeom>
          <a:noFill/>
        </p:spPr>
        <p:txBody>
          <a:bodyPr wrap="square" anchor="t">
            <a:spAutoFit/>
          </a:bodyPr>
          <a:lstStyle/>
          <a:p>
            <a:pPr algn="ctr">
              <a:lnSpc>
                <a:spcPct val="100000"/>
              </a:lnSpc>
            </a:pPr>
            <a:r>
              <a:rPr sz="850" b="1">
                <a:solidFill>
                  <a:srgbClr val="FFFFFF"/>
                </a:solidFill>
                <a:latin typeface="Calibri"/>
              </a:rPr>
              <a:t>last will</a:t>
            </a:r>
          </a:p>
        </p:txBody>
      </p:sp>
      <p:sp>
        <p:nvSpPr>
          <p:cNvPr id="40" name="TextBox 39"/>
          <p:cNvSpPr txBox="1"/>
          <p:nvPr/>
        </p:nvSpPr>
        <p:spPr>
          <a:xfrm>
            <a:off x="7360920" y="4690871"/>
            <a:ext cx="3931920" cy="219456"/>
          </a:xfrm>
          <a:prstGeom prst="rect">
            <a:avLst/>
          </a:prstGeom>
          <a:noFill/>
        </p:spPr>
        <p:txBody>
          <a:bodyPr wrap="square" anchor="t">
            <a:spAutoFit/>
          </a:bodyPr>
          <a:lstStyle/>
          <a:p>
            <a:pPr algn="l">
              <a:lnSpc>
                <a:spcPct val="100000"/>
              </a:lnSpc>
            </a:pPr>
            <a:r>
              <a:rPr sz="950" b="0">
                <a:solidFill>
                  <a:srgbClr val="64748B"/>
                </a:solidFill>
                <a:latin typeface="Calibri"/>
              </a:rPr>
              <a:t>how the fleet learns a device died</a:t>
            </a:r>
          </a:p>
        </p:txBody>
      </p:sp>
      <p:sp>
        <p:nvSpPr>
          <p:cNvPr id="41" name="TextBox 40"/>
          <p:cNvSpPr txBox="1"/>
          <p:nvPr/>
        </p:nvSpPr>
        <p:spPr>
          <a:xfrm>
            <a:off x="822960" y="5349240"/>
            <a:ext cx="10607040" cy="640080"/>
          </a:xfrm>
          <a:prstGeom prst="rect">
            <a:avLst/>
          </a:prstGeom>
          <a:noFill/>
        </p:spPr>
        <p:txBody>
          <a:bodyPr wrap="square" anchor="t">
            <a:spAutoFit/>
          </a:bodyPr>
          <a:lstStyle/>
          <a:p>
            <a:pPr algn="l">
              <a:lnSpc>
                <a:spcPct val="100000"/>
              </a:lnSpc>
            </a:pPr>
            <a:r>
              <a:rPr sz="1100" b="0">
                <a:solidFill>
                  <a:srgbClr val="64748B"/>
                </a:solidFill>
                <a:latin typeface="Calibri"/>
              </a:rPr>
              <a:t>Rename a leaf in the sketch and the console, the app and the bridge all go quiet without a single error anywhere. These names are an interface, not an implementation detail.</a:t>
            </a:r>
          </a:p>
        </p:txBody>
      </p:sp>
      <p:sp>
        <p:nvSpPr>
          <p:cNvPr id="42" name="TextBox 41"/>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43" name="TextBox 42"/>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MQTT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Why each topic behaves the way it does</a:t>
            </a:r>
          </a:p>
        </p:txBody>
      </p:sp>
      <p:graphicFrame>
        <p:nvGraphicFramePr>
          <p:cNvPr id="6" name="Table 5"/>
          <p:cNvGraphicFramePr>
            <a:graphicFrameLocks noGrp="1"/>
          </p:cNvGraphicFramePr>
          <p:nvPr/>
        </p:nvGraphicFramePr>
        <p:xfrm>
          <a:off x="777240" y="1783080"/>
          <a:ext cx="10607040" cy="1975104"/>
        </p:xfrm>
        <a:graphic>
          <a:graphicData uri="http://schemas.openxmlformats.org/drawingml/2006/table">
            <a:tbl>
              <a:tblPr firstRow="1" bandRow="1">
                <a:tableStyleId>{5C22544A-7EE6-4342-B048-85BDC9FD1C3A}</a:tableStyleId>
              </a:tblPr>
              <a:tblGrid>
                <a:gridCol w="2286000"/>
                <a:gridCol w="1554480"/>
                <a:gridCol w="1371600"/>
                <a:gridCol w="5394960"/>
              </a:tblGrid>
              <a:tr h="438912">
                <a:tc>
                  <a:txBody>
                    <a:bodyPr/>
                    <a:lstStyle/>
                    <a:p>
                      <a:r>
                        <a:rPr sz="1000" b="1">
                          <a:solidFill>
                            <a:srgbClr val="FFFFFF"/>
                          </a:solidFill>
                          <a:latin typeface="Calibri"/>
                        </a:rPr>
                        <a:t>Topic</a:t>
                      </a:r>
                    </a:p>
                  </a:txBody>
                  <a:tcPr anchor="ctr" marL="91440">
                    <a:solidFill>
                      <a:srgbClr val="0F1729"/>
                    </a:solidFill>
                  </a:tcPr>
                </a:tc>
                <a:tc>
                  <a:txBody>
                    <a:bodyPr/>
                    <a:lstStyle/>
                    <a:p>
                      <a:r>
                        <a:rPr sz="1000" b="1">
                          <a:solidFill>
                            <a:srgbClr val="FFFFFF"/>
                          </a:solidFill>
                          <a:latin typeface="Calibri"/>
                        </a:rPr>
                        <a:t>Direction</a:t>
                      </a:r>
                    </a:p>
                  </a:txBody>
                  <a:tcPr anchor="ctr" marL="91440">
                    <a:solidFill>
                      <a:srgbClr val="0F1729"/>
                    </a:solidFill>
                  </a:tcPr>
                </a:tc>
                <a:tc>
                  <a:txBody>
                    <a:bodyPr/>
                    <a:lstStyle/>
                    <a:p>
                      <a:r>
                        <a:rPr sz="1000" b="1">
                          <a:solidFill>
                            <a:srgbClr val="FFFFFF"/>
                          </a:solidFill>
                          <a:latin typeface="Calibri"/>
                        </a:rPr>
                        <a:t>Delivery</a:t>
                      </a:r>
                    </a:p>
                  </a:txBody>
                  <a:tcPr anchor="ctr" marL="91440">
                    <a:solidFill>
                      <a:srgbClr val="0F1729"/>
                    </a:solidFill>
                  </a:tcPr>
                </a:tc>
                <a:tc>
                  <a:txBody>
                    <a:bodyPr/>
                    <a:lstStyle/>
                    <a:p>
                      <a:r>
                        <a:rPr sz="1000" b="1">
                          <a:solidFill>
                            <a:srgbClr val="FFFFFF"/>
                          </a:solidFill>
                          <a:latin typeface="Calibri"/>
                        </a:rPr>
                        <a:t>Why it is that way</a:t>
                      </a:r>
                    </a:p>
                  </a:txBody>
                  <a:tcPr anchor="ctr" marL="91440">
                    <a:solidFill>
                      <a:srgbClr val="0F1729"/>
                    </a:solidFill>
                  </a:tcPr>
                </a:tc>
              </a:tr>
              <a:tr h="384048">
                <a:tc>
                  <a:txBody>
                    <a:bodyPr/>
                    <a:lstStyle/>
                    <a:p>
                      <a:pPr algn="l"/>
                      <a:r>
                        <a:rPr sz="1000">
                          <a:solidFill>
                            <a:srgbClr val="334155"/>
                          </a:solidFill>
                          <a:latin typeface="Calibri"/>
                        </a:rPr>
                        <a:t>cv/&lt;id&gt;/state</a:t>
                      </a:r>
                    </a:p>
                  </a:txBody>
                  <a:tcPr anchor="ctr" marL="91440">
                    <a:solidFill>
                      <a:srgbClr val="FFFFFF"/>
                    </a:solidFill>
                  </a:tcPr>
                </a:tc>
                <a:tc>
                  <a:txBody>
                    <a:bodyPr/>
                    <a:lstStyle/>
                    <a:p>
                      <a:pPr algn="l"/>
                      <a:r>
                        <a:rPr sz="1000">
                          <a:solidFill>
                            <a:srgbClr val="334155"/>
                          </a:solidFill>
                          <a:latin typeface="Calibri"/>
                        </a:rPr>
                        <a:t>device → cloud</a:t>
                      </a:r>
                    </a:p>
                  </a:txBody>
                  <a:tcPr anchor="ctr" marL="91440">
                    <a:solidFill>
                      <a:srgbClr val="FFFFFF"/>
                    </a:solidFill>
                  </a:tcPr>
                </a:tc>
                <a:tc>
                  <a:txBody>
                    <a:bodyPr/>
                    <a:lstStyle/>
                    <a:p>
                      <a:pPr algn="l"/>
                      <a:r>
                        <a:rPr sz="1000">
                          <a:solidFill>
                            <a:srgbClr val="334155"/>
                          </a:solidFill>
                          <a:latin typeface="Calibri"/>
                        </a:rPr>
                        <a:t>retained</a:t>
                      </a:r>
                    </a:p>
                  </a:txBody>
                  <a:tcPr anchor="ctr" marL="91440" marR="91440">
                    <a:solidFill>
                      <a:srgbClr val="FFFFFF"/>
                    </a:solidFill>
                  </a:tcPr>
                </a:tc>
                <a:tc>
                  <a:txBody>
                    <a:bodyPr/>
                    <a:lstStyle/>
                    <a:p>
                      <a:pPr algn="l"/>
                      <a:r>
                        <a:rPr sz="1000">
                          <a:solidFill>
                            <a:srgbClr val="334155"/>
                          </a:solidFill>
                          <a:latin typeface="Calibri"/>
                        </a:rPr>
                        <a:t>The whole reported state. Retained, so anything that connects learns the current state immediately instead of waiting for the next heartbeat.</a:t>
                      </a:r>
                    </a:p>
                  </a:txBody>
                  <a:tcPr anchor="ctr" marL="91440" marR="91440">
                    <a:solidFill>
                      <a:srgbClr val="FFFFFF"/>
                    </a:solidFill>
                  </a:tcPr>
                </a:tc>
              </a:tr>
              <a:tr h="384048">
                <a:tc>
                  <a:txBody>
                    <a:bodyPr/>
                    <a:lstStyle/>
                    <a:p>
                      <a:pPr algn="l"/>
                      <a:r>
                        <a:rPr sz="1000">
                          <a:solidFill>
                            <a:srgbClr val="334155"/>
                          </a:solidFill>
                          <a:latin typeface="Calibri"/>
                        </a:rPr>
                        <a:t>cv/&lt;id&gt;/telemetry</a:t>
                      </a:r>
                    </a:p>
                  </a:txBody>
                  <a:tcPr anchor="ctr" marL="91440">
                    <a:solidFill>
                      <a:srgbClr val="F0F4F8"/>
                    </a:solidFill>
                  </a:tcPr>
                </a:tc>
                <a:tc>
                  <a:txBody>
                    <a:bodyPr/>
                    <a:lstStyle/>
                    <a:p>
                      <a:pPr algn="l"/>
                      <a:r>
                        <a:rPr sz="1000">
                          <a:solidFill>
                            <a:srgbClr val="334155"/>
                          </a:solidFill>
                          <a:latin typeface="Calibri"/>
                        </a:rPr>
                        <a:t>device → cloud</a:t>
                      </a:r>
                    </a:p>
                  </a:txBody>
                  <a:tcPr anchor="ctr" marL="91440">
                    <a:solidFill>
                      <a:srgbClr val="F0F4F8"/>
                    </a:solidFill>
                  </a:tcPr>
                </a:tc>
                <a:tc>
                  <a:txBody>
                    <a:bodyPr/>
                    <a:lstStyle/>
                    <a:p>
                      <a:pPr algn="l"/>
                      <a:r>
                        <a:rPr sz="1000">
                          <a:solidFill>
                            <a:srgbClr val="334155"/>
                          </a:solidFill>
                          <a:latin typeface="Calibri"/>
                        </a:rPr>
                        <a:t>not retained</a:t>
                      </a:r>
                    </a:p>
                  </a:txBody>
                  <a:tcPr anchor="ctr" marL="91440" marR="91440">
                    <a:solidFill>
                      <a:srgbClr val="F0F4F8"/>
                    </a:solidFill>
                  </a:tcPr>
                </a:tc>
                <a:tc>
                  <a:txBody>
                    <a:bodyPr/>
                    <a:lstStyle/>
                    <a:p>
                      <a:pPr algn="l"/>
                      <a:r>
                        <a:rPr sz="1000">
                          <a:solidFill>
                            <a:srgbClr val="334155"/>
                          </a:solidFill>
                          <a:latin typeface="Calibri"/>
                        </a:rPr>
                        <a:t>Readings worth keeping history for. Never retained — a stored reading would be replayed to every new subscriber as though it had just happened.</a:t>
                      </a:r>
                    </a:p>
                  </a:txBody>
                  <a:tcPr anchor="ctr" marL="91440" marR="91440">
                    <a:solidFill>
                      <a:srgbClr val="F0F4F8"/>
                    </a:solidFill>
                  </a:tcPr>
                </a:tc>
              </a:tr>
              <a:tr h="384048">
                <a:tc>
                  <a:txBody>
                    <a:bodyPr/>
                    <a:lstStyle/>
                    <a:p>
                      <a:pPr algn="l"/>
                      <a:r>
                        <a:rPr sz="1000">
                          <a:solidFill>
                            <a:srgbClr val="334155"/>
                          </a:solidFill>
                          <a:latin typeface="Calibri"/>
                        </a:rPr>
                        <a:t>cv/&lt;id&gt;/cmd</a:t>
                      </a:r>
                    </a:p>
                  </a:txBody>
                  <a:tcPr anchor="ctr" marL="91440">
                    <a:solidFill>
                      <a:srgbClr val="FFFFFF"/>
                    </a:solidFill>
                  </a:tcPr>
                </a:tc>
                <a:tc>
                  <a:txBody>
                    <a:bodyPr/>
                    <a:lstStyle/>
                    <a:p>
                      <a:pPr algn="l"/>
                      <a:r>
                        <a:rPr sz="1000">
                          <a:solidFill>
                            <a:srgbClr val="334155"/>
                          </a:solidFill>
                          <a:latin typeface="Calibri"/>
                        </a:rPr>
                        <a:t>cloud → device</a:t>
                      </a:r>
                    </a:p>
                  </a:txBody>
                  <a:tcPr anchor="ctr" marL="91440">
                    <a:solidFill>
                      <a:srgbClr val="FFFFFF"/>
                    </a:solidFill>
                  </a:tcPr>
                </a:tc>
                <a:tc>
                  <a:txBody>
                    <a:bodyPr/>
                    <a:lstStyle/>
                    <a:p>
                      <a:pPr algn="l"/>
                      <a:r>
                        <a:rPr sz="1000">
                          <a:solidFill>
                            <a:srgbClr val="334155"/>
                          </a:solidFill>
                          <a:latin typeface="Calibri"/>
                        </a:rPr>
                        <a:t>QoS 1</a:t>
                      </a:r>
                    </a:p>
                  </a:txBody>
                  <a:tcPr anchor="ctr" marL="91440" marR="91440">
                    <a:solidFill>
                      <a:srgbClr val="FFFFFF"/>
                    </a:solidFill>
                  </a:tcPr>
                </a:tc>
                <a:tc>
                  <a:txBody>
                    <a:bodyPr/>
                    <a:lstStyle/>
                    <a:p>
                      <a:pPr algn="l"/>
                      <a:r>
                        <a:rPr sz="1000">
                          <a:solidFill>
                            <a:srgbClr val="334155"/>
                          </a:solidFill>
                          <a:latin typeface="Calibri"/>
                        </a:rPr>
                        <a:t>The only topic a device subscribes to. QoS 1 because a dropped 'switch off' is not an inconvenience, it is a heater left running.</a:t>
                      </a:r>
                    </a:p>
                  </a:txBody>
                  <a:tcPr anchor="ctr" marL="91440" marR="91440">
                    <a:solidFill>
                      <a:srgbClr val="FFFFFF"/>
                    </a:solidFill>
                  </a:tcPr>
                </a:tc>
              </a:tr>
              <a:tr h="384048">
                <a:tc>
                  <a:txBody>
                    <a:bodyPr/>
                    <a:lstStyle/>
                    <a:p>
                      <a:pPr algn="l"/>
                      <a:r>
                        <a:rPr sz="1000">
                          <a:solidFill>
                            <a:srgbClr val="334155"/>
                          </a:solidFill>
                          <a:latin typeface="Calibri"/>
                        </a:rPr>
                        <a:t>cv/&lt;id&gt;/status</a:t>
                      </a:r>
                    </a:p>
                  </a:txBody>
                  <a:tcPr anchor="ctr" marL="91440">
                    <a:solidFill>
                      <a:srgbClr val="F0F4F8"/>
                    </a:solidFill>
                  </a:tcPr>
                </a:tc>
                <a:tc>
                  <a:txBody>
                    <a:bodyPr/>
                    <a:lstStyle/>
                    <a:p>
                      <a:pPr algn="l"/>
                      <a:r>
                        <a:rPr sz="1000">
                          <a:solidFill>
                            <a:srgbClr val="334155"/>
                          </a:solidFill>
                          <a:latin typeface="Calibri"/>
                        </a:rPr>
                        <a:t>device → cloud</a:t>
                      </a:r>
                    </a:p>
                  </a:txBody>
                  <a:tcPr anchor="ctr" marL="91440">
                    <a:solidFill>
                      <a:srgbClr val="F0F4F8"/>
                    </a:solidFill>
                  </a:tcPr>
                </a:tc>
                <a:tc>
                  <a:txBody>
                    <a:bodyPr/>
                    <a:lstStyle/>
                    <a:p>
                      <a:pPr algn="l"/>
                      <a:r>
                        <a:rPr sz="1000">
                          <a:solidFill>
                            <a:srgbClr val="334155"/>
                          </a:solidFill>
                          <a:latin typeface="Calibri"/>
                        </a:rPr>
                        <a:t>last will</a:t>
                      </a:r>
                    </a:p>
                  </a:txBody>
                  <a:tcPr anchor="ctr" marL="91440" marR="91440">
                    <a:solidFill>
                      <a:srgbClr val="F0F4F8"/>
                    </a:solidFill>
                  </a:tcPr>
                </a:tc>
                <a:tc>
                  <a:txBody>
                    <a:bodyPr/>
                    <a:lstStyle/>
                    <a:p>
                      <a:pPr algn="l"/>
                      <a:r>
                        <a:rPr sz="1000">
                          <a:solidFill>
                            <a:srgbClr val="334155"/>
                          </a:solidFill>
                          <a:latin typeface="Calibri"/>
                        </a:rPr>
                        <a:t>Set as the MQTT will, so the broker publishes it if the device stops answering. A device cannot announce its own unexpected death.</a:t>
                      </a:r>
                    </a:p>
                  </a:txBody>
                  <a:tcPr anchor="ctr" marL="91440" marR="91440">
                    <a:solidFill>
                      <a:srgbClr val="F0F4F8"/>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THE BROKER</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Self-hosted, and deliberately so</a:t>
            </a:r>
          </a:p>
        </p:txBody>
      </p:sp>
      <p:graphicFrame>
        <p:nvGraphicFramePr>
          <p:cNvPr id="6" name="Table 5"/>
          <p:cNvGraphicFramePr>
            <a:graphicFrameLocks noGrp="1"/>
          </p:cNvGraphicFramePr>
          <p:nvPr/>
        </p:nvGraphicFramePr>
        <p:xfrm>
          <a:off x="777240" y="1737360"/>
          <a:ext cx="10607038" cy="3127248"/>
        </p:xfrm>
        <a:graphic>
          <a:graphicData uri="http://schemas.openxmlformats.org/drawingml/2006/table">
            <a:tbl>
              <a:tblPr firstRow="1" bandRow="1">
                <a:tableStyleId>{5C22544A-7EE6-4342-B048-85BDC9FD1C3A}</a:tableStyleId>
              </a:tblPr>
              <a:tblGrid>
                <a:gridCol w="2103119"/>
                <a:gridCol w="8503919"/>
              </a:tblGrid>
              <a:tr h="438912">
                <a:tc>
                  <a:txBody>
                    <a:bodyPr/>
                    <a:lstStyle/>
                    <a:p>
                      <a:r>
                        <a:rPr sz="1000" b="1">
                          <a:solidFill>
                            <a:srgbClr val="FFFFFF"/>
                          </a:solidFill>
                          <a:latin typeface="Calibri"/>
                        </a:rPr>
                        <a:t/>
                      </a:r>
                    </a:p>
                  </a:txBody>
                  <a:tcPr anchor="ctr" marL="91440">
                    <a:solidFill>
                      <a:srgbClr val="0F1729"/>
                    </a:solidFill>
                  </a:tcPr>
                </a:tc>
                <a:tc>
                  <a:txBody>
                    <a:bodyPr/>
                    <a:lstStyle/>
                    <a:p>
                      <a:r>
                        <a:rPr sz="1000" b="1">
                          <a:solidFill>
                            <a:srgbClr val="FFFFFF"/>
                          </a:solidFill>
                          <a:latin typeface="Calibri"/>
                        </a:rPr>
                        <a:t>How it is set up</a:t>
                      </a:r>
                    </a:p>
                  </a:txBody>
                  <a:tcPr anchor="ctr" marL="91440">
                    <a:solidFill>
                      <a:srgbClr val="0F1729"/>
                    </a:solidFill>
                  </a:tcPr>
                </a:tc>
              </a:tr>
              <a:tr h="384048">
                <a:tc>
                  <a:txBody>
                    <a:bodyPr/>
                    <a:lstStyle/>
                    <a:p>
                      <a:pPr algn="l"/>
                      <a:r>
                        <a:rPr sz="1000">
                          <a:solidFill>
                            <a:srgbClr val="334155"/>
                          </a:solidFill>
                          <a:latin typeface="Calibri"/>
                        </a:rPr>
                        <a:t>Broker</a:t>
                      </a:r>
                    </a:p>
                  </a:txBody>
                  <a:tcPr anchor="ctr" marL="91440">
                    <a:solidFill>
                      <a:srgbClr val="FFFFFF"/>
                    </a:solidFill>
                  </a:tcPr>
                </a:tc>
                <a:tc>
                  <a:txBody>
                    <a:bodyPr/>
                    <a:lstStyle/>
                    <a:p>
                      <a:pPr algn="l"/>
                      <a:r>
                        <a:rPr sz="1000">
                          <a:solidFill>
                            <a:srgbClr val="334155"/>
                          </a:solidFill>
                          <a:latin typeface="Calibri"/>
                        </a:rPr>
                        <a:t>eclipse-mosquitto:2, in Docker Compose on the control-plane VM</a:t>
                      </a:r>
                    </a:p>
                  </a:txBody>
                  <a:tcPr anchor="ctr" marL="91440">
                    <a:solidFill>
                      <a:srgbClr val="FFFFFF"/>
                    </a:solidFill>
                  </a:tcPr>
                </a:tc>
              </a:tr>
              <a:tr h="384048">
                <a:tc>
                  <a:txBody>
                    <a:bodyPr/>
                    <a:lstStyle/>
                    <a:p>
                      <a:pPr algn="l"/>
                      <a:r>
                        <a:rPr sz="1000">
                          <a:solidFill>
                            <a:srgbClr val="334155"/>
                          </a:solidFill>
                          <a:latin typeface="Calibri"/>
                        </a:rPr>
                        <a:t>Listeners</a:t>
                      </a:r>
                    </a:p>
                  </a:txBody>
                  <a:tcPr anchor="ctr" marL="91440">
                    <a:solidFill>
                      <a:srgbClr val="F0F4F8"/>
                    </a:solidFill>
                  </a:tcPr>
                </a:tc>
                <a:tc>
                  <a:txBody>
                    <a:bodyPr/>
                    <a:lstStyle/>
                    <a:p>
                      <a:pPr algn="l"/>
                      <a:r>
                        <a:rPr sz="1000">
                          <a:solidFill>
                            <a:srgbClr val="334155"/>
                          </a:solidFill>
                          <a:latin typeface="Calibri"/>
                        </a:rPr>
                        <a:t>1883, 8883 — 1883 private to the Docker network, 8883 public TLS</a:t>
                      </a:r>
                    </a:p>
                  </a:txBody>
                  <a:tcPr anchor="ctr" marL="91440">
                    <a:solidFill>
                      <a:srgbClr val="F0F4F8"/>
                    </a:solidFill>
                  </a:tcPr>
                </a:tc>
              </a:tr>
              <a:tr h="384048">
                <a:tc>
                  <a:txBody>
                    <a:bodyPr/>
                    <a:lstStyle/>
                    <a:p>
                      <a:pPr algn="l"/>
                      <a:r>
                        <a:rPr sz="1000">
                          <a:solidFill>
                            <a:srgbClr val="334155"/>
                          </a:solidFill>
                          <a:latin typeface="Calibri"/>
                        </a:rPr>
                        <a:t>Anonymous</a:t>
                      </a:r>
                    </a:p>
                  </a:txBody>
                  <a:tcPr anchor="ctr" marL="91440">
                    <a:solidFill>
                      <a:srgbClr val="FFFFFF"/>
                    </a:solidFill>
                  </a:tcPr>
                </a:tc>
                <a:tc>
                  <a:txBody>
                    <a:bodyPr/>
                    <a:lstStyle/>
                    <a:p>
                      <a:pPr algn="l"/>
                      <a:r>
                        <a:rPr sz="1000">
                          <a:solidFill>
                            <a:srgbClr val="334155"/>
                          </a:solidFill>
                          <a:latin typeface="Calibri"/>
                        </a:rPr>
                        <a:t>allow_anonymous false</a:t>
                      </a:r>
                    </a:p>
                  </a:txBody>
                  <a:tcPr anchor="ctr" marL="91440">
                    <a:solidFill>
                      <a:srgbClr val="FFFFFF"/>
                    </a:solidFill>
                  </a:tcPr>
                </a:tc>
              </a:tr>
              <a:tr h="384048">
                <a:tc>
                  <a:txBody>
                    <a:bodyPr/>
                    <a:lstStyle/>
                    <a:p>
                      <a:pPr algn="l"/>
                      <a:r>
                        <a:rPr sz="1000">
                          <a:solidFill>
                            <a:srgbClr val="334155"/>
                          </a:solidFill>
                          <a:latin typeface="Calibri"/>
                        </a:rPr>
                        <a:t>Auth</a:t>
                      </a:r>
                    </a:p>
                  </a:txBody>
                  <a:tcPr anchor="ctr" marL="91440">
                    <a:solidFill>
                      <a:srgbClr val="F0F4F8"/>
                    </a:solidFill>
                  </a:tcPr>
                </a:tc>
                <a:tc>
                  <a:txBody>
                    <a:bodyPr/>
                    <a:lstStyle/>
                    <a:p>
                      <a:pPr algn="l"/>
                      <a:r>
                        <a:rPr sz="1000">
                          <a:solidFill>
                            <a:srgbClr val="334155"/>
                          </a:solidFill>
                          <a:latin typeface="Calibri"/>
                        </a:rPr>
                        <a:t>Dynamic Security plugin. The control plane creates a per-device client the moment the app provisions it, so a new device needs no server step.</a:t>
                      </a:r>
                    </a:p>
                  </a:txBody>
                  <a:tcPr anchor="ctr" marL="91440">
                    <a:solidFill>
                      <a:srgbClr val="F0F4F8"/>
                    </a:solidFill>
                  </a:tcPr>
                </a:tc>
              </a:tr>
              <a:tr h="384048">
                <a:tc>
                  <a:txBody>
                    <a:bodyPr/>
                    <a:lstStyle/>
                    <a:p>
                      <a:pPr algn="l"/>
                      <a:r>
                        <a:rPr sz="1000">
                          <a:solidFill>
                            <a:srgbClr val="334155"/>
                          </a:solidFill>
                          <a:latin typeface="Calibri"/>
                        </a:rPr>
                        <a:t>ACL</a:t>
                      </a:r>
                    </a:p>
                  </a:txBody>
                  <a:tcPr anchor="ctr" marL="91440">
                    <a:solidFill>
                      <a:srgbClr val="FFFFFF"/>
                    </a:solidFill>
                  </a:tcPr>
                </a:tc>
                <a:tc>
                  <a:txBody>
                    <a:bodyPr/>
                    <a:lstStyle/>
                    <a:p>
                      <a:pPr algn="l"/>
                      <a:r>
                        <a:rPr sz="1000">
                          <a:solidFill>
                            <a:srgbClr val="334155"/>
                          </a:solidFill>
                          <a:latin typeface="Calibri"/>
                        </a:rPr>
                        <a:t>Each device is scoped to cv/&lt;its own id&gt;/# — one compromised device cannot read or drive another.</a:t>
                      </a:r>
                    </a:p>
                  </a:txBody>
                  <a:tcPr anchor="ctr" marL="91440">
                    <a:solidFill>
                      <a:srgbClr val="FFFFFF"/>
                    </a:solidFill>
                  </a:tcPr>
                </a:tc>
              </a:tr>
              <a:tr h="384048">
                <a:tc>
                  <a:txBody>
                    <a:bodyPr/>
                    <a:lstStyle/>
                    <a:p>
                      <a:pPr algn="l"/>
                      <a:r>
                        <a:rPr sz="1000">
                          <a:solidFill>
                            <a:srgbClr val="334155"/>
                          </a:solidFill>
                          <a:latin typeface="Calibri"/>
                        </a:rPr>
                        <a:t>Latency</a:t>
                      </a:r>
                    </a:p>
                  </a:txBody>
                  <a:tcPr anchor="ctr" marL="91440">
                    <a:solidFill>
                      <a:srgbClr val="F0F4F8"/>
                    </a:solidFill>
                  </a:tcPr>
                </a:tc>
                <a:tc>
                  <a:txBody>
                    <a:bodyPr/>
                    <a:lstStyle/>
                    <a:p>
                      <a:pPr algn="l"/>
                      <a:r>
                        <a:rPr sz="1000">
                          <a:solidFill>
                            <a:srgbClr val="334155"/>
                          </a:solidFill>
                          <a:latin typeface="Calibri"/>
                        </a:rPr>
                        <a:t>set_tcp_nodelay true — without it Nagle buffers small control packets for ~40ms, which is felt on a light switch.</a:t>
                      </a:r>
                    </a:p>
                  </a:txBody>
                  <a:tcPr anchor="ctr" marL="91440">
                    <a:solidFill>
                      <a:srgbClr val="F0F4F8"/>
                    </a:solidFill>
                  </a:tcPr>
                </a:tc>
              </a:tr>
              <a:tr h="384048">
                <a:tc>
                  <a:txBody>
                    <a:bodyPr/>
                    <a:lstStyle/>
                    <a:p>
                      <a:pPr algn="l"/>
                      <a:r>
                        <a:rPr sz="1000">
                          <a:solidFill>
                            <a:srgbClr val="334155"/>
                          </a:solidFill>
                          <a:latin typeface="Calibri"/>
                        </a:rPr>
                        <a:t>Limits</a:t>
                      </a:r>
                    </a:p>
                  </a:txBody>
                  <a:tcPr anchor="ctr" marL="91440">
                    <a:solidFill>
                      <a:srgbClr val="FFFFFF"/>
                    </a:solidFill>
                  </a:tcPr>
                </a:tc>
                <a:tc>
                  <a:txBody>
                    <a:bodyPr/>
                    <a:lstStyle/>
                    <a:p>
                      <a:pPr algn="l"/>
                      <a:r>
                        <a:rPr sz="1000">
                          <a:solidFill>
                            <a:srgbClr val="334155"/>
                          </a:solidFill>
                          <a:latin typeface="Calibri"/>
                        </a:rPr>
                        <a:t>max_connections 2000, max_inflight 40, message_size_limit 262144 bytes</a:t>
                      </a:r>
                    </a:p>
                  </a:txBody>
                  <a:tcPr anchor="ctr" marL="91440">
                    <a:solidFill>
                      <a:srgbClr val="FFFFFF"/>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CERTIFICATES</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Three chains, and only one of them is ours</a:t>
            </a:r>
          </a:p>
        </p:txBody>
      </p:sp>
      <p:sp>
        <p:nvSpPr>
          <p:cNvPr id="6" name="TextBox 5"/>
          <p:cNvSpPr txBox="1"/>
          <p:nvPr/>
        </p:nvSpPr>
        <p:spPr>
          <a:xfrm>
            <a:off x="822960" y="1783080"/>
            <a:ext cx="3291840" cy="274320"/>
          </a:xfrm>
          <a:prstGeom prst="rect">
            <a:avLst/>
          </a:prstGeom>
          <a:noFill/>
        </p:spPr>
        <p:txBody>
          <a:bodyPr wrap="square" anchor="t">
            <a:spAutoFit/>
          </a:bodyPr>
          <a:lstStyle/>
          <a:p>
            <a:pPr algn="l">
              <a:lnSpc>
                <a:spcPct val="100000"/>
              </a:lnSpc>
            </a:pPr>
            <a:r>
              <a:rPr sz="1250" b="1">
                <a:solidFill>
                  <a:srgbClr val="0F1729"/>
                </a:solidFill>
                <a:latin typeface="Calibri"/>
              </a:rPr>
              <a:t>circuvent.com</a:t>
            </a:r>
          </a:p>
        </p:txBody>
      </p:sp>
      <p:sp>
        <p:nvSpPr>
          <p:cNvPr id="7" name="Rectangle 6"/>
          <p:cNvSpPr/>
          <p:nvPr/>
        </p:nvSpPr>
        <p:spPr>
          <a:xfrm>
            <a:off x="822960" y="2194560"/>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822960" y="2194560"/>
            <a:ext cx="329184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2340864"/>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Leaf</a:t>
            </a:r>
          </a:p>
        </p:txBody>
      </p:sp>
      <p:cxnSp>
        <p:nvCxnSpPr>
          <p:cNvPr id="10" name="Connector 9"/>
          <p:cNvCxnSpPr/>
          <p:nvPr/>
        </p:nvCxnSpPr>
        <p:spPr>
          <a:xfrm>
            <a:off x="2468880" y="2743200"/>
            <a:ext cx="0" cy="201168"/>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22960" y="2944368"/>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22960" y="2944368"/>
            <a:ext cx="329184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3090672"/>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Let's Encrypt R-series</a:t>
            </a:r>
          </a:p>
        </p:txBody>
      </p:sp>
      <p:cxnSp>
        <p:nvCxnSpPr>
          <p:cNvPr id="14" name="Connector 13"/>
          <p:cNvCxnSpPr/>
          <p:nvPr/>
        </p:nvCxnSpPr>
        <p:spPr>
          <a:xfrm>
            <a:off x="2468880" y="3493008"/>
            <a:ext cx="0" cy="201168"/>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22960" y="3694176"/>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2960" y="3694176"/>
            <a:ext cx="329184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840480"/>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ISRG Root X1</a:t>
            </a:r>
          </a:p>
        </p:txBody>
      </p:sp>
      <p:sp>
        <p:nvSpPr>
          <p:cNvPr id="18" name="Rounded Rectangle 17"/>
          <p:cNvSpPr/>
          <p:nvPr/>
        </p:nvSpPr>
        <p:spPr>
          <a:xfrm>
            <a:off x="822960" y="4489704"/>
            <a:ext cx="3291840" cy="237744"/>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2960" y="4517136"/>
            <a:ext cx="3291840" cy="201168"/>
          </a:xfrm>
          <a:prstGeom prst="rect">
            <a:avLst/>
          </a:prstGeom>
          <a:noFill/>
        </p:spPr>
        <p:txBody>
          <a:bodyPr wrap="square" anchor="t">
            <a:spAutoFit/>
          </a:bodyPr>
          <a:lstStyle/>
          <a:p>
            <a:pPr algn="ctr">
              <a:lnSpc>
                <a:spcPct val="100000"/>
              </a:lnSpc>
            </a:pPr>
            <a:r>
              <a:rPr sz="850" b="1">
                <a:solidFill>
                  <a:srgbClr val="FFFFFF"/>
                </a:solidFill>
                <a:latin typeface="Calibri"/>
              </a:rPr>
              <a:t>Vercel renews it</a:t>
            </a:r>
          </a:p>
        </p:txBody>
      </p:sp>
      <p:sp>
        <p:nvSpPr>
          <p:cNvPr id="20" name="TextBox 19"/>
          <p:cNvSpPr txBox="1"/>
          <p:nvPr/>
        </p:nvSpPr>
        <p:spPr>
          <a:xfrm>
            <a:off x="4434840" y="1783080"/>
            <a:ext cx="3291840" cy="274320"/>
          </a:xfrm>
          <a:prstGeom prst="rect">
            <a:avLst/>
          </a:prstGeom>
          <a:noFill/>
        </p:spPr>
        <p:txBody>
          <a:bodyPr wrap="square" anchor="t">
            <a:spAutoFit/>
          </a:bodyPr>
          <a:lstStyle/>
          <a:p>
            <a:pPr algn="l">
              <a:lnSpc>
                <a:spcPct val="100000"/>
              </a:lnSpc>
            </a:pPr>
            <a:r>
              <a:rPr sz="1250" b="1">
                <a:solidFill>
                  <a:srgbClr val="0F1729"/>
                </a:solidFill>
                <a:latin typeface="Calibri"/>
              </a:rPr>
              <a:t>api.circuvent.com</a:t>
            </a:r>
          </a:p>
        </p:txBody>
      </p:sp>
      <p:sp>
        <p:nvSpPr>
          <p:cNvPr id="21" name="Rectangle 20"/>
          <p:cNvSpPr/>
          <p:nvPr/>
        </p:nvSpPr>
        <p:spPr>
          <a:xfrm>
            <a:off x="4434840" y="2194560"/>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34840" y="2194560"/>
            <a:ext cx="329184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26280" y="2340864"/>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Leaf</a:t>
            </a:r>
          </a:p>
        </p:txBody>
      </p:sp>
      <p:cxnSp>
        <p:nvCxnSpPr>
          <p:cNvPr id="24" name="Connector 23"/>
          <p:cNvCxnSpPr/>
          <p:nvPr/>
        </p:nvCxnSpPr>
        <p:spPr>
          <a:xfrm>
            <a:off x="6080760" y="2743200"/>
            <a:ext cx="0" cy="201168"/>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434840" y="2944368"/>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434840" y="2944368"/>
            <a:ext cx="329184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26280" y="3090672"/>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Let's Encrypt R-series</a:t>
            </a:r>
          </a:p>
        </p:txBody>
      </p:sp>
      <p:cxnSp>
        <p:nvCxnSpPr>
          <p:cNvPr id="28" name="Connector 27"/>
          <p:cNvCxnSpPr/>
          <p:nvPr/>
        </p:nvCxnSpPr>
        <p:spPr>
          <a:xfrm>
            <a:off x="6080760" y="3493008"/>
            <a:ext cx="0" cy="201168"/>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434840" y="3694176"/>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434840" y="3694176"/>
            <a:ext cx="329184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3840480"/>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ISRG Root X1</a:t>
            </a:r>
          </a:p>
        </p:txBody>
      </p:sp>
      <p:sp>
        <p:nvSpPr>
          <p:cNvPr id="32" name="Rounded Rectangle 31"/>
          <p:cNvSpPr/>
          <p:nvPr/>
        </p:nvSpPr>
        <p:spPr>
          <a:xfrm>
            <a:off x="4434840" y="4489704"/>
            <a:ext cx="3291840" cy="237744"/>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434840" y="4517136"/>
            <a:ext cx="3291840" cy="201168"/>
          </a:xfrm>
          <a:prstGeom prst="rect">
            <a:avLst/>
          </a:prstGeom>
          <a:noFill/>
        </p:spPr>
        <p:txBody>
          <a:bodyPr wrap="square" anchor="t">
            <a:spAutoFit/>
          </a:bodyPr>
          <a:lstStyle/>
          <a:p>
            <a:pPr algn="ctr">
              <a:lnSpc>
                <a:spcPct val="100000"/>
              </a:lnSpc>
            </a:pPr>
            <a:r>
              <a:rPr sz="850" b="1">
                <a:solidFill>
                  <a:srgbClr val="FFFFFF"/>
                </a:solidFill>
                <a:latin typeface="Calibri"/>
              </a:rPr>
              <a:t>Caddy renews it</a:t>
            </a:r>
          </a:p>
        </p:txBody>
      </p:sp>
      <p:sp>
        <p:nvSpPr>
          <p:cNvPr id="34" name="TextBox 33"/>
          <p:cNvSpPr txBox="1"/>
          <p:nvPr/>
        </p:nvSpPr>
        <p:spPr>
          <a:xfrm>
            <a:off x="8046720" y="1783080"/>
            <a:ext cx="3291840" cy="274320"/>
          </a:xfrm>
          <a:prstGeom prst="rect">
            <a:avLst/>
          </a:prstGeom>
          <a:noFill/>
        </p:spPr>
        <p:txBody>
          <a:bodyPr wrap="square" anchor="t">
            <a:spAutoFit/>
          </a:bodyPr>
          <a:lstStyle/>
          <a:p>
            <a:pPr algn="l">
              <a:lnSpc>
                <a:spcPct val="100000"/>
              </a:lnSpc>
            </a:pPr>
            <a:r>
              <a:rPr sz="1250" b="1">
                <a:solidFill>
                  <a:srgbClr val="0F1729"/>
                </a:solidFill>
                <a:latin typeface="Calibri"/>
              </a:rPr>
              <a:t>mqtt :8883</a:t>
            </a:r>
          </a:p>
        </p:txBody>
      </p:sp>
      <p:sp>
        <p:nvSpPr>
          <p:cNvPr id="35" name="Rectangle 34"/>
          <p:cNvSpPr/>
          <p:nvPr/>
        </p:nvSpPr>
        <p:spPr>
          <a:xfrm>
            <a:off x="8046720" y="2194560"/>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046720" y="2194560"/>
            <a:ext cx="329184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138160" y="2340864"/>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Leaf</a:t>
            </a:r>
          </a:p>
        </p:txBody>
      </p:sp>
      <p:cxnSp>
        <p:nvCxnSpPr>
          <p:cNvPr id="38" name="Connector 37"/>
          <p:cNvCxnSpPr/>
          <p:nvPr/>
        </p:nvCxnSpPr>
        <p:spPr>
          <a:xfrm>
            <a:off x="9692640" y="2743200"/>
            <a:ext cx="0" cy="201168"/>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8046720" y="2944368"/>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046720" y="2944368"/>
            <a:ext cx="329184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138160" y="3090672"/>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Circuvent CA</a:t>
            </a:r>
          </a:p>
        </p:txBody>
      </p:sp>
      <p:cxnSp>
        <p:nvCxnSpPr>
          <p:cNvPr id="42" name="Connector 41"/>
          <p:cNvCxnSpPr/>
          <p:nvPr/>
        </p:nvCxnSpPr>
        <p:spPr>
          <a:xfrm>
            <a:off x="9692640" y="3493008"/>
            <a:ext cx="0" cy="201168"/>
          </a:xfrm>
          <a:prstGeom prst="line">
            <a:avLst/>
          </a:prstGeom>
          <a:ln w="15875">
            <a:solidFill>
              <a:srgbClr val="334155"/>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8046720" y="3694176"/>
            <a:ext cx="3291840" cy="5486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046720" y="3694176"/>
            <a:ext cx="329184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138160" y="3840480"/>
            <a:ext cx="3108960" cy="292608"/>
          </a:xfrm>
          <a:prstGeom prst="rect">
            <a:avLst/>
          </a:prstGeom>
          <a:noFill/>
        </p:spPr>
        <p:txBody>
          <a:bodyPr wrap="square" anchor="t">
            <a:spAutoFit/>
          </a:bodyPr>
          <a:lstStyle/>
          <a:p>
            <a:pPr algn="l">
              <a:lnSpc>
                <a:spcPct val="100000"/>
              </a:lnSpc>
            </a:pPr>
            <a:r>
              <a:rPr sz="1050" b="1">
                <a:solidFill>
                  <a:srgbClr val="0F1729"/>
                </a:solidFill>
                <a:latin typeface="Calibri"/>
              </a:rPr>
              <a:t>embedded in firmware</a:t>
            </a:r>
          </a:p>
        </p:txBody>
      </p:sp>
      <p:sp>
        <p:nvSpPr>
          <p:cNvPr id="46" name="Rounded Rectangle 45"/>
          <p:cNvSpPr/>
          <p:nvPr/>
        </p:nvSpPr>
        <p:spPr>
          <a:xfrm>
            <a:off x="8046720" y="4489704"/>
            <a:ext cx="3291840" cy="23774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046720" y="4517136"/>
            <a:ext cx="3291840" cy="201168"/>
          </a:xfrm>
          <a:prstGeom prst="rect">
            <a:avLst/>
          </a:prstGeom>
          <a:noFill/>
        </p:spPr>
        <p:txBody>
          <a:bodyPr wrap="square" anchor="t">
            <a:spAutoFit/>
          </a:bodyPr>
          <a:lstStyle/>
          <a:p>
            <a:pPr algn="ctr">
              <a:lnSpc>
                <a:spcPct val="100000"/>
              </a:lnSpc>
            </a:pPr>
            <a:r>
              <a:rPr sz="850" b="1">
                <a:solidFill>
                  <a:srgbClr val="FFFFFF"/>
                </a:solidFill>
                <a:latin typeface="Calibri"/>
              </a:rPr>
              <a:t>Nobody renews it but us</a:t>
            </a:r>
          </a:p>
        </p:txBody>
      </p:sp>
      <p:sp>
        <p:nvSpPr>
          <p:cNvPr id="48" name="TextBox 47"/>
          <p:cNvSpPr txBox="1"/>
          <p:nvPr/>
        </p:nvSpPr>
        <p:spPr>
          <a:xfrm>
            <a:off x="8046720" y="4855464"/>
            <a:ext cx="3291840" cy="685800"/>
          </a:xfrm>
          <a:prstGeom prst="rect">
            <a:avLst/>
          </a:prstGeom>
          <a:noFill/>
        </p:spPr>
        <p:txBody>
          <a:bodyPr wrap="square" anchor="t">
            <a:spAutoFit/>
          </a:bodyPr>
          <a:lstStyle/>
          <a:p>
            <a:pPr algn="l">
              <a:lnSpc>
                <a:spcPct val="100000"/>
              </a:lnSpc>
            </a:pPr>
            <a:r>
              <a:rPr sz="850" b="0">
                <a:solidFill>
                  <a:srgbClr val="64748B"/>
                </a:solidFill>
                <a:latin typeface="Calibri"/>
              </a:rPr>
              <a:t>Replace this and every device must take an OTA first, in that order, or the fleet cannot reconnect.</a:t>
            </a:r>
          </a:p>
        </p:txBody>
      </p:sp>
      <p:sp>
        <p:nvSpPr>
          <p:cNvPr id="49" name="TextBox 48"/>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50" name="TextBox 49"/>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CERTIFICATES</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What each one means for you</a:t>
            </a:r>
          </a:p>
        </p:txBody>
      </p:sp>
      <p:graphicFrame>
        <p:nvGraphicFramePr>
          <p:cNvPr id="6" name="Table 5"/>
          <p:cNvGraphicFramePr>
            <a:graphicFrameLocks noGrp="1"/>
          </p:cNvGraphicFramePr>
          <p:nvPr/>
        </p:nvGraphicFramePr>
        <p:xfrm>
          <a:off x="777240" y="1783080"/>
          <a:ext cx="10607036" cy="1975104"/>
        </p:xfrm>
        <a:graphic>
          <a:graphicData uri="http://schemas.openxmlformats.org/drawingml/2006/table">
            <a:tbl>
              <a:tblPr firstRow="1" bandRow="1">
                <a:tableStyleId>{5C22544A-7EE6-4342-B048-85BDC9FD1C3A}</a:tableStyleId>
              </a:tblPr>
              <a:tblGrid>
                <a:gridCol w="2011679"/>
                <a:gridCol w="2285999"/>
                <a:gridCol w="1371599"/>
                <a:gridCol w="4937759"/>
              </a:tblGrid>
              <a:tr h="438912">
                <a:tc>
                  <a:txBody>
                    <a:bodyPr/>
                    <a:lstStyle/>
                    <a:p>
                      <a:r>
                        <a:rPr sz="1000" b="1">
                          <a:solidFill>
                            <a:srgbClr val="FFFFFF"/>
                          </a:solidFill>
                          <a:latin typeface="Calibri"/>
                        </a:rPr>
                        <a:t>Where</a:t>
                      </a:r>
                    </a:p>
                  </a:txBody>
                  <a:tcPr anchor="ctr" marL="91440">
                    <a:solidFill>
                      <a:srgbClr val="0F1729"/>
                    </a:solidFill>
                  </a:tcPr>
                </a:tc>
                <a:tc>
                  <a:txBody>
                    <a:bodyPr/>
                    <a:lstStyle/>
                    <a:p>
                      <a:r>
                        <a:rPr sz="1000" b="1">
                          <a:solidFill>
                            <a:srgbClr val="FFFFFF"/>
                          </a:solidFill>
                          <a:latin typeface="Calibri"/>
                        </a:rPr>
                        <a:t>Issued by</a:t>
                      </a:r>
                    </a:p>
                  </a:txBody>
                  <a:tcPr anchor="ctr" marL="91440">
                    <a:solidFill>
                      <a:srgbClr val="0F1729"/>
                    </a:solidFill>
                  </a:tcPr>
                </a:tc>
                <a:tc>
                  <a:txBody>
                    <a:bodyPr/>
                    <a:lstStyle/>
                    <a:p>
                      <a:r>
                        <a:rPr sz="1000" b="1">
                          <a:solidFill>
                            <a:srgbClr val="FFFFFF"/>
                          </a:solidFill>
                          <a:latin typeface="Calibri"/>
                        </a:rPr>
                        <a:t>Renewal</a:t>
                      </a:r>
                    </a:p>
                  </a:txBody>
                  <a:tcPr anchor="ctr" marL="91440">
                    <a:solidFill>
                      <a:srgbClr val="0F1729"/>
                    </a:solidFill>
                  </a:tcPr>
                </a:tc>
                <a:tc>
                  <a:txBody>
                    <a:bodyPr/>
                    <a:lstStyle/>
                    <a:p>
                      <a:r>
                        <a:rPr sz="1000" b="1">
                          <a:solidFill>
                            <a:srgbClr val="FFFFFF"/>
                          </a:solidFill>
                          <a:latin typeface="Calibri"/>
                        </a:rPr>
                        <a:t>What that means for you</a:t>
                      </a:r>
                    </a:p>
                  </a:txBody>
                  <a:tcPr anchor="ctr" marL="91440">
                    <a:solidFill>
                      <a:srgbClr val="0F1729"/>
                    </a:solidFill>
                  </a:tcPr>
                </a:tc>
              </a:tr>
              <a:tr h="384048">
                <a:tc>
                  <a:txBody>
                    <a:bodyPr/>
                    <a:lstStyle/>
                    <a:p>
                      <a:pPr algn="l"/>
                      <a:r>
                        <a:rPr sz="1000">
                          <a:solidFill>
                            <a:srgbClr val="334155"/>
                          </a:solidFill>
                          <a:latin typeface="Calibri"/>
                        </a:rPr>
                        <a:t>circuvent.com</a:t>
                      </a:r>
                    </a:p>
                  </a:txBody>
                  <a:tcPr anchor="ctr" marL="91440">
                    <a:solidFill>
                      <a:srgbClr val="FFFFFF"/>
                    </a:solidFill>
                  </a:tcPr>
                </a:tc>
                <a:tc>
                  <a:txBody>
                    <a:bodyPr/>
                    <a:lstStyle/>
                    <a:p>
                      <a:pPr algn="l"/>
                      <a:r>
                        <a:rPr sz="1000">
                          <a:solidFill>
                            <a:srgbClr val="334155"/>
                          </a:solidFill>
                          <a:latin typeface="Calibri"/>
                        </a:rPr>
                        <a:t>Let's Encrypt, via Vercel</a:t>
                      </a:r>
                    </a:p>
                  </a:txBody>
                  <a:tcPr anchor="ctr" marL="91440">
                    <a:solidFill>
                      <a:srgbClr val="FFFFFF"/>
                    </a:solidFill>
                  </a:tcPr>
                </a:tc>
                <a:tc>
                  <a:txBody>
                    <a:bodyPr/>
                    <a:lstStyle/>
                    <a:p>
                      <a:pPr algn="l"/>
                      <a:r>
                        <a:rPr sz="1000">
                          <a:solidFill>
                            <a:srgbClr val="334155"/>
                          </a:solidFill>
                          <a:latin typeface="Calibri"/>
                        </a:rPr>
                        <a:t>Automatic</a:t>
                      </a:r>
                    </a:p>
                  </a:txBody>
                  <a:tcPr anchor="ctr" marL="91440" marR="91440">
                    <a:solidFill>
                      <a:srgbClr val="FFFFFF"/>
                    </a:solidFill>
                  </a:tcPr>
                </a:tc>
                <a:tc>
                  <a:txBody>
                    <a:bodyPr/>
                    <a:lstStyle/>
                    <a:p>
                      <a:pPr algn="l"/>
                      <a:r>
                        <a:rPr sz="1000">
                          <a:solidFill>
                            <a:srgbClr val="334155"/>
                          </a:solidFill>
                          <a:latin typeface="Calibri"/>
                        </a:rPr>
                        <a:t>Renewed by Vercel. Nothing to do, and nothing that can be done by hand.</a:t>
                      </a:r>
                    </a:p>
                  </a:txBody>
                  <a:tcPr anchor="ctr" marL="91440" marR="91440">
                    <a:solidFill>
                      <a:srgbClr val="FFFFFF"/>
                    </a:solidFill>
                  </a:tcPr>
                </a:tc>
              </a:tr>
              <a:tr h="384048">
                <a:tc>
                  <a:txBody>
                    <a:bodyPr/>
                    <a:lstStyle/>
                    <a:p>
                      <a:pPr algn="l"/>
                      <a:r>
                        <a:rPr sz="1000">
                          <a:solidFill>
                            <a:srgbClr val="334155"/>
                          </a:solidFill>
                          <a:latin typeface="Calibri"/>
                        </a:rPr>
                        <a:t>api.circuvent.com</a:t>
                      </a:r>
                    </a:p>
                  </a:txBody>
                  <a:tcPr anchor="ctr" marL="91440">
                    <a:solidFill>
                      <a:srgbClr val="F0F4F8"/>
                    </a:solidFill>
                  </a:tcPr>
                </a:tc>
                <a:tc>
                  <a:txBody>
                    <a:bodyPr/>
                    <a:lstStyle/>
                    <a:p>
                      <a:pPr algn="l"/>
                      <a:r>
                        <a:rPr sz="1000">
                          <a:solidFill>
                            <a:srgbClr val="334155"/>
                          </a:solidFill>
                          <a:latin typeface="Calibri"/>
                        </a:rPr>
                        <a:t>Let's Encrypt, via Caddy</a:t>
                      </a:r>
                    </a:p>
                  </a:txBody>
                  <a:tcPr anchor="ctr" marL="91440">
                    <a:solidFill>
                      <a:srgbClr val="F0F4F8"/>
                    </a:solidFill>
                  </a:tcPr>
                </a:tc>
                <a:tc>
                  <a:txBody>
                    <a:bodyPr/>
                    <a:lstStyle/>
                    <a:p>
                      <a:pPr algn="l"/>
                      <a:r>
                        <a:rPr sz="1000">
                          <a:solidFill>
                            <a:srgbClr val="334155"/>
                          </a:solidFill>
                          <a:latin typeface="Calibri"/>
                        </a:rPr>
                        <a:t>Automatic</a:t>
                      </a:r>
                    </a:p>
                  </a:txBody>
                  <a:tcPr anchor="ctr" marL="91440" marR="91440">
                    <a:solidFill>
                      <a:srgbClr val="F0F4F8"/>
                    </a:solidFill>
                  </a:tcPr>
                </a:tc>
                <a:tc>
                  <a:txBody>
                    <a:bodyPr/>
                    <a:lstStyle/>
                    <a:p>
                      <a:pPr algn="l"/>
                      <a:r>
                        <a:rPr sz="1000">
                          <a:solidFill>
                            <a:srgbClr val="334155"/>
                          </a:solidFill>
                          <a:latin typeface="Calibri"/>
                        </a:rPr>
                        <a:t>Caddy handles ACME in the compose stack. Port 80 must stay reachable or renewal fails silently until the certificate simply expires.</a:t>
                      </a:r>
                    </a:p>
                  </a:txBody>
                  <a:tcPr anchor="ctr" marL="91440" marR="91440">
                    <a:solidFill>
                      <a:srgbClr val="F0F4F8"/>
                    </a:solidFill>
                  </a:tcPr>
                </a:tc>
              </a:tr>
              <a:tr h="384048">
                <a:tc>
                  <a:txBody>
                    <a:bodyPr/>
                    <a:lstStyle/>
                    <a:p>
                      <a:pPr algn="l"/>
                      <a:r>
                        <a:rPr sz="1000">
                          <a:solidFill>
                            <a:srgbClr val="334155"/>
                          </a:solidFill>
                          <a:latin typeface="Calibri"/>
                        </a:rPr>
                        <a:t>mqtt :8883</a:t>
                      </a:r>
                    </a:p>
                  </a:txBody>
                  <a:tcPr anchor="ctr" marL="91440">
                    <a:solidFill>
                      <a:srgbClr val="FFFFFF"/>
                    </a:solidFill>
                  </a:tcPr>
                </a:tc>
                <a:tc>
                  <a:txBody>
                    <a:bodyPr/>
                    <a:lstStyle/>
                    <a:p>
                      <a:pPr algn="l"/>
                      <a:r>
                        <a:rPr sz="1000">
                          <a:solidFill>
                            <a:srgbClr val="334155"/>
                          </a:solidFill>
                          <a:latin typeface="Calibri"/>
                        </a:rPr>
                        <a:t>Circuvent's own CA</a:t>
                      </a:r>
                    </a:p>
                  </a:txBody>
                  <a:tcPr anchor="ctr" marL="91440">
                    <a:solidFill>
                      <a:srgbClr val="FFFFFF"/>
                    </a:solidFill>
                  </a:tcPr>
                </a:tc>
                <a:tc>
                  <a:txBody>
                    <a:bodyPr/>
                    <a:lstStyle/>
                    <a:p>
                      <a:pPr algn="l"/>
                      <a:r>
                        <a:rPr sz="1000">
                          <a:solidFill>
                            <a:srgbClr val="334155"/>
                          </a:solidFill>
                          <a:latin typeface="Calibri"/>
                        </a:rPr>
                        <a:t>Ours to renew</a:t>
                      </a:r>
                    </a:p>
                  </a:txBody>
                  <a:tcPr anchor="ctr" marL="91440" marR="91440">
                    <a:solidFill>
                      <a:srgbClr val="FFFFFF"/>
                    </a:solidFill>
                  </a:tcPr>
                </a:tc>
                <a:tc>
                  <a:txBody>
                    <a:bodyPr/>
                    <a:lstStyle/>
                    <a:p>
                      <a:pPr algn="l"/>
                      <a:r>
                        <a:rPr sz="1000">
                          <a:solidFill>
                            <a:srgbClr val="334155"/>
                          </a:solidFill>
                          <a:latin typeface="Calibri"/>
                        </a:rPr>
                        <a:t>platform/scripts/gen-certs.sh. The firmware embeds ca.crt (CIRCUVENT_DEFAULT_CA), so replacing this CA means an OTA to every device before the swap, in that order, or the fleet cannot reconnect.</a:t>
                      </a:r>
                    </a:p>
                  </a:txBody>
                  <a:tcPr anchor="ctr" marL="91440" marR="91440">
                    <a:solidFill>
                      <a:srgbClr val="FFFFFF"/>
                    </a:solidFill>
                  </a:tcPr>
                </a:tc>
              </a:tr>
              <a:tr h="384048">
                <a:tc>
                  <a:txBody>
                    <a:bodyPr/>
                    <a:lstStyle/>
                    <a:p>
                      <a:pPr algn="l"/>
                      <a:r>
                        <a:rPr sz="1000">
                          <a:solidFill>
                            <a:srgbClr val="334155"/>
                          </a:solidFill>
                          <a:latin typeface="Calibri"/>
                        </a:rPr>
                        <a:t>OTA downloads</a:t>
                      </a:r>
                    </a:p>
                  </a:txBody>
                  <a:tcPr anchor="ctr" marL="91440">
                    <a:solidFill>
                      <a:srgbClr val="F0F4F8"/>
                    </a:solidFill>
                  </a:tcPr>
                </a:tc>
                <a:tc>
                  <a:txBody>
                    <a:bodyPr/>
                    <a:lstStyle/>
                    <a:p>
                      <a:pPr algn="l"/>
                      <a:r>
                        <a:rPr sz="1000">
                          <a:solidFill>
                            <a:srgbClr val="334155"/>
                          </a:solidFill>
                          <a:latin typeface="Calibri"/>
                        </a:rPr>
                        <a:t>Let's Encrypt roots, pinned in firmware</a:t>
                      </a:r>
                    </a:p>
                  </a:txBody>
                  <a:tcPr anchor="ctr" marL="91440">
                    <a:solidFill>
                      <a:srgbClr val="F0F4F8"/>
                    </a:solidFill>
                  </a:tcPr>
                </a:tc>
                <a:tc>
                  <a:txBody>
                    <a:bodyPr/>
                    <a:lstStyle/>
                    <a:p>
                      <a:pPr algn="l"/>
                      <a:r>
                        <a:rPr sz="1000">
                          <a:solidFill>
                            <a:srgbClr val="334155"/>
                          </a:solidFill>
                          <a:latin typeface="Calibri"/>
                        </a:rPr>
                        <a:t>Pinned</a:t>
                      </a:r>
                    </a:p>
                  </a:txBody>
                  <a:tcPr anchor="ctr" marL="91440" marR="91440">
                    <a:solidFill>
                      <a:srgbClr val="F0F4F8"/>
                    </a:solidFill>
                  </a:tcPr>
                </a:tc>
                <a:tc>
                  <a:txBody>
                    <a:bodyPr/>
                    <a:lstStyle/>
                    <a:p>
                      <a:pPr algn="l"/>
                      <a:r>
                        <a:rPr sz="1000">
                          <a:solidFill>
                            <a:srgbClr val="334155"/>
                          </a:solidFill>
                          <a:latin typeface="Calibri"/>
                        </a:rPr>
                        <a:t>ISRG Root X1 and X2 are compiled into the sketch so a device will only fetch firmware from a host chaining to them.</a:t>
                      </a:r>
                    </a:p>
                  </a:txBody>
                  <a:tcPr anchor="ctr" marL="91440" marR="91440">
                    <a:solidFill>
                      <a:srgbClr val="F0F4F8"/>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A"/>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6B6D4"/>
                </a:solidFill>
                <a:latin typeface="Calibri"/>
              </a:rPr>
              <a:t>THE PINNING SCARE</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FFFFFF"/>
                </a:solidFill>
                <a:latin typeface="Calibri"/>
              </a:rPr>
              <a:t>A worked example of the house rule</a:t>
            </a:r>
          </a:p>
        </p:txBody>
      </p:sp>
      <p:sp>
        <p:nvSpPr>
          <p:cNvPr id="6" name="TextBox 5"/>
          <p:cNvSpPr txBox="1"/>
          <p:nvPr/>
        </p:nvSpPr>
        <p:spPr>
          <a:xfrm>
            <a:off x="777240" y="1920240"/>
            <a:ext cx="10607040" cy="3108960"/>
          </a:xfrm>
          <a:prstGeom prst="rect">
            <a:avLst/>
          </a:prstGeom>
          <a:noFill/>
        </p:spPr>
        <p:txBody>
          <a:bodyPr wrap="square">
            <a:spAutoFit/>
          </a:bodyPr>
          <a:lstStyle/>
          <a:p>
            <a:pPr>
              <a:lnSpc>
                <a:spcPct val="125000"/>
              </a:lnSpc>
              <a:spcAft>
                <a:spcPts val="1000"/>
              </a:spcAft>
            </a:pPr>
            <a:r>
              <a:rPr sz="850">
                <a:solidFill>
                  <a:srgbClr val="0891B2"/>
                </a:solidFill>
                <a:latin typeface="Calibri"/>
              </a:rPr>
              <a:t>●  </a:t>
            </a:r>
            <a:r>
              <a:rPr sz="1350">
                <a:solidFill>
                  <a:srgbClr val="CBD5E1"/>
                </a:solidFill>
                <a:latin typeface="Calibri"/>
              </a:rPr>
              <a:t>The firmware pins ISRG Root X1 and X2. Reading the live chain for the site showed it terminating at a root with a different name, which looks exactly like a fleet that is about to fail every OTA.</a:t>
            </a:r>
          </a:p>
          <a:p>
            <a:pPr>
              <a:lnSpc>
                <a:spcPct val="125000"/>
              </a:lnSpc>
              <a:spcAft>
                <a:spcPts val="1000"/>
              </a:spcAft>
            </a:pPr>
            <a:r>
              <a:rPr sz="850">
                <a:solidFill>
                  <a:srgbClr val="0891B2"/>
                </a:solidFill>
                <a:latin typeface="Calibri"/>
              </a:rPr>
              <a:t>●  </a:t>
            </a:r>
            <a:r>
              <a:rPr sz="1350" b="1">
                <a:solidFill>
                  <a:srgbClr val="FFFFFF"/>
                </a:solidFill>
                <a:latin typeface="Calibri"/>
              </a:rPr>
              <a:t>Pushing an update on that reading would have been the wrong call in both directions — </a:t>
            </a:r>
            <a:r>
              <a:rPr sz="1350">
                <a:solidFill>
                  <a:srgbClr val="CBD5E1"/>
                </a:solidFill>
                <a:latin typeface="Calibri"/>
              </a:rPr>
              <a:t>abandoning a working pipeline, or worse, removing the pin.</a:t>
            </a:r>
          </a:p>
          <a:p>
            <a:pPr>
              <a:lnSpc>
                <a:spcPct val="125000"/>
              </a:lnSpc>
              <a:spcAft>
                <a:spcPts val="1000"/>
              </a:spcAft>
            </a:pPr>
            <a:r>
              <a:rPr sz="850">
                <a:solidFill>
                  <a:srgbClr val="0891B2"/>
                </a:solidFill>
                <a:latin typeface="Calibri"/>
              </a:rPr>
              <a:t>●  </a:t>
            </a:r>
            <a:r>
              <a:rPr sz="1350">
                <a:solidFill>
                  <a:srgbClr val="CBD5E1"/>
                </a:solidFill>
                <a:latin typeface="Calibri"/>
              </a:rPr>
              <a:t>Running the actual handshake settled it in a minute: the chain served is cross-signed and terminates at X1, which is precisely what the device validates against. Nothing was wrong.</a:t>
            </a:r>
          </a:p>
          <a:p>
            <a:pPr>
              <a:lnSpc>
                <a:spcPct val="125000"/>
              </a:lnSpc>
              <a:spcAft>
                <a:spcPts val="1000"/>
              </a:spcAft>
            </a:pPr>
            <a:r>
              <a:rPr sz="850">
                <a:solidFill>
                  <a:srgbClr val="0891B2"/>
                </a:solidFill>
                <a:latin typeface="Calibri"/>
              </a:rPr>
              <a:t>●  </a:t>
            </a:r>
            <a:r>
              <a:rPr sz="1350">
                <a:solidFill>
                  <a:srgbClr val="CBD5E1"/>
                </a:solidFill>
                <a:latin typeface="Calibri"/>
              </a:rPr>
              <a:t>The lesson is the house rule, in its most expensive form: reading a certificate's subject names is not the same as completing a handshake.</a:t>
            </a:r>
          </a:p>
        </p:txBody>
      </p:sp>
      <p:sp>
        <p:nvSpPr>
          <p:cNvPr id="7" name="Rectangle 6"/>
          <p:cNvSpPr/>
          <p:nvPr/>
        </p:nvSpPr>
        <p:spPr>
          <a:xfrm>
            <a:off x="777240" y="5212080"/>
            <a:ext cx="201168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5440680"/>
            <a:ext cx="10607040" cy="548640"/>
          </a:xfrm>
          <a:prstGeom prst="rect">
            <a:avLst/>
          </a:prstGeom>
          <a:noFill/>
        </p:spPr>
        <p:txBody>
          <a:bodyPr wrap="square" anchor="t">
            <a:spAutoFit/>
          </a:bodyPr>
          <a:lstStyle/>
          <a:p>
            <a:pPr algn="l">
              <a:lnSpc>
                <a:spcPct val="100000"/>
              </a:lnSpc>
            </a:pPr>
            <a:r>
              <a:rPr sz="1700" b="1">
                <a:solidFill>
                  <a:srgbClr val="FFFFFF"/>
                </a:solidFill>
                <a:latin typeface="Calibri"/>
              </a:rPr>
              <a:t>Verify by running it, not by reading it.</a:t>
            </a:r>
          </a:p>
        </p:txBody>
      </p:sp>
      <p:sp>
        <p:nvSpPr>
          <p:cNvPr id="9" name="TextBox 8"/>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94A3B8"/>
                </a:solidFill>
                <a:latin typeface="Calibri"/>
              </a:rPr>
              <a:t>Circuvent Technologies  ·  circuvent.com  ·  contact@circuvent.com  ·  +91 765 999 333 1</a:t>
            </a:r>
          </a:p>
        </p:txBody>
      </p:sp>
      <p:sp>
        <p:nvSpPr>
          <p:cNvPr id="10" name="TextBox 9"/>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94A3B8"/>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SECRETS</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Where each one lives — named here, never valued</a:t>
            </a:r>
          </a:p>
        </p:txBody>
      </p:sp>
      <p:graphicFrame>
        <p:nvGraphicFramePr>
          <p:cNvPr id="6" name="Table 5"/>
          <p:cNvGraphicFramePr>
            <a:graphicFrameLocks noGrp="1"/>
          </p:cNvGraphicFramePr>
          <p:nvPr/>
        </p:nvGraphicFramePr>
        <p:xfrm>
          <a:off x="777240" y="1737360"/>
          <a:ext cx="10607040" cy="2743200"/>
        </p:xfrm>
        <a:graphic>
          <a:graphicData uri="http://schemas.openxmlformats.org/drawingml/2006/table">
            <a:tbl>
              <a:tblPr firstRow="1" bandRow="1">
                <a:tableStyleId>{5C22544A-7EE6-4342-B048-85BDC9FD1C3A}</a:tableStyleId>
              </a:tblPr>
              <a:tblGrid>
                <a:gridCol w="2194560"/>
                <a:gridCol w="3108960"/>
                <a:gridCol w="5303520"/>
              </a:tblGrid>
              <a:tr h="438912">
                <a:tc>
                  <a:txBody>
                    <a:bodyPr/>
                    <a:lstStyle/>
                    <a:p>
                      <a:r>
                        <a:rPr sz="1000" b="1">
                          <a:solidFill>
                            <a:srgbClr val="FFFFFF"/>
                          </a:solidFill>
                          <a:latin typeface="Calibri"/>
                        </a:rPr>
                        <a:t>Class</a:t>
                      </a:r>
                    </a:p>
                  </a:txBody>
                  <a:tcPr anchor="ctr" marL="91440">
                    <a:solidFill>
                      <a:srgbClr val="0F1729"/>
                    </a:solidFill>
                  </a:tcPr>
                </a:tc>
                <a:tc>
                  <a:txBody>
                    <a:bodyPr/>
                    <a:lstStyle/>
                    <a:p>
                      <a:r>
                        <a:rPr sz="1000" b="1">
                          <a:solidFill>
                            <a:srgbClr val="FFFFFF"/>
                          </a:solidFill>
                          <a:latin typeface="Calibri"/>
                        </a:rPr>
                        <a:t>Lives in</a:t>
                      </a:r>
                    </a:p>
                  </a:txBody>
                  <a:tcPr anchor="ctr" marL="91440">
                    <a:solidFill>
                      <a:srgbClr val="0F1729"/>
                    </a:solidFill>
                  </a:tcPr>
                </a:tc>
                <a:tc>
                  <a:txBody>
                    <a:bodyPr/>
                    <a:lstStyle/>
                    <a:p>
                      <a:r>
                        <a:rPr sz="1000" b="1">
                          <a:solidFill>
                            <a:srgbClr val="FFFFFF"/>
                          </a:solidFill>
                          <a:latin typeface="Calibri"/>
                        </a:rPr>
                        <a:t>The part that catches people</a:t>
                      </a:r>
                    </a:p>
                  </a:txBody>
                  <a:tcPr anchor="ctr" marL="91440">
                    <a:solidFill>
                      <a:srgbClr val="0F1729"/>
                    </a:solidFill>
                  </a:tcPr>
                </a:tc>
              </a:tr>
              <a:tr h="384048">
                <a:tc>
                  <a:txBody>
                    <a:bodyPr/>
                    <a:lstStyle/>
                    <a:p>
                      <a:pPr algn="l"/>
                      <a:r>
                        <a:rPr sz="1000">
                          <a:solidFill>
                            <a:srgbClr val="334155"/>
                          </a:solidFill>
                          <a:latin typeface="Calibri"/>
                        </a:rPr>
                        <a:t>Website / console</a:t>
                      </a:r>
                    </a:p>
                  </a:txBody>
                  <a:tcPr anchor="ctr" marL="91440">
                    <a:solidFill>
                      <a:srgbClr val="FFFFFF"/>
                    </a:solidFill>
                  </a:tcPr>
                </a:tc>
                <a:tc>
                  <a:txBody>
                    <a:bodyPr/>
                    <a:lstStyle/>
                    <a:p>
                      <a:pPr algn="l"/>
                      <a:r>
                        <a:rPr sz="1000">
                          <a:solidFill>
                            <a:srgbClr val="334155"/>
                          </a:solidFill>
                          <a:latin typeface="Calibri"/>
                        </a:rPr>
                        <a:t>Vercel project environment variables</a:t>
                      </a:r>
                    </a:p>
                  </a:txBody>
                  <a:tcPr anchor="ctr" marL="91440">
                    <a:solidFill>
                      <a:srgbClr val="FFFFFF"/>
                    </a:solidFill>
                  </a:tcPr>
                </a:tc>
                <a:tc>
                  <a:txBody>
                    <a:bodyPr/>
                    <a:lstStyle/>
                    <a:p>
                      <a:pPr algn="l"/>
                      <a:r>
                        <a:rPr sz="1000">
                          <a:solidFill>
                            <a:srgbClr val="334155"/>
                          </a:solidFill>
                          <a:latin typeface="Calibri"/>
                        </a:rPr>
                        <a:t>Per-environment, and preview variables are branch-scoped — pulling them without naming the branch quietly gives you production's.</a:t>
                      </a:r>
                    </a:p>
                  </a:txBody>
                  <a:tcPr anchor="ctr" marL="91440" marR="91440">
                    <a:solidFill>
                      <a:srgbClr val="FFFFFF"/>
                    </a:solidFill>
                  </a:tcPr>
                </a:tc>
              </a:tr>
              <a:tr h="384048">
                <a:tc>
                  <a:txBody>
                    <a:bodyPr/>
                    <a:lstStyle/>
                    <a:p>
                      <a:pPr algn="l"/>
                      <a:r>
                        <a:rPr sz="1000">
                          <a:solidFill>
                            <a:srgbClr val="334155"/>
                          </a:solidFill>
                          <a:latin typeface="Calibri"/>
                        </a:rPr>
                        <a:t>Control plane</a:t>
                      </a:r>
                    </a:p>
                  </a:txBody>
                  <a:tcPr anchor="ctr" marL="91440">
                    <a:solidFill>
                      <a:srgbClr val="F0F4F8"/>
                    </a:solidFill>
                  </a:tcPr>
                </a:tc>
                <a:tc>
                  <a:txBody>
                    <a:bodyPr/>
                    <a:lstStyle/>
                    <a:p>
                      <a:pPr algn="l"/>
                      <a:r>
                        <a:rPr sz="1000">
                          <a:solidFill>
                            <a:srgbClr val="334155"/>
                          </a:solidFill>
                          <a:latin typeface="Calibri"/>
                        </a:rPr>
                        <a:t>platform/.env on the VM, read by Docker Compose</a:t>
                      </a:r>
                    </a:p>
                  </a:txBody>
                  <a:tcPr anchor="ctr" marL="91440">
                    <a:solidFill>
                      <a:srgbClr val="F0F4F8"/>
                    </a:solidFill>
                  </a:tcPr>
                </a:tc>
                <a:tc>
                  <a:txBody>
                    <a:bodyPr/>
                    <a:lstStyle/>
                    <a:p>
                      <a:pPr algn="l"/>
                      <a:r>
                        <a:rPr sz="1000">
                          <a:solidFill>
                            <a:srgbClr val="334155"/>
                          </a:solidFill>
                          <a:latin typeface="Calibri"/>
                        </a:rPr>
                        <a:t>Never in the repo. config.ts validates it at boot so a missing one is a refusal to start rather than a runtime surprise at 3am.</a:t>
                      </a:r>
                    </a:p>
                  </a:txBody>
                  <a:tcPr anchor="ctr" marL="91440" marR="91440">
                    <a:solidFill>
                      <a:srgbClr val="F0F4F8"/>
                    </a:solidFill>
                  </a:tcPr>
                </a:tc>
              </a:tr>
              <a:tr h="384048">
                <a:tc>
                  <a:txBody>
                    <a:bodyPr/>
                    <a:lstStyle/>
                    <a:p>
                      <a:pPr algn="l"/>
                      <a:r>
                        <a:rPr sz="1000">
                          <a:solidFill>
                            <a:srgbClr val="334155"/>
                          </a:solidFill>
                          <a:latin typeface="Calibri"/>
                        </a:rPr>
                        <a:t>Broker</a:t>
                      </a:r>
                    </a:p>
                  </a:txBody>
                  <a:tcPr anchor="ctr" marL="91440">
                    <a:solidFill>
                      <a:srgbClr val="FFFFFF"/>
                    </a:solidFill>
                  </a:tcPr>
                </a:tc>
                <a:tc>
                  <a:txBody>
                    <a:bodyPr/>
                    <a:lstStyle/>
                    <a:p>
                      <a:pPr algn="l"/>
                      <a:r>
                        <a:rPr sz="1000">
                          <a:solidFill>
                            <a:srgbClr val="334155"/>
                          </a:solidFill>
                          <a:latin typeface="Calibri"/>
                        </a:rPr>
                        <a:t>Dynamic Security store in the mosquitto data volume</a:t>
                      </a:r>
                    </a:p>
                  </a:txBody>
                  <a:tcPr anchor="ctr" marL="91440">
                    <a:solidFill>
                      <a:srgbClr val="FFFFFF"/>
                    </a:solidFill>
                  </a:tcPr>
                </a:tc>
                <a:tc>
                  <a:txBody>
                    <a:bodyPr/>
                    <a:lstStyle/>
                    <a:p>
                      <a:pPr algn="l"/>
                      <a:r>
                        <a:rPr sz="1000">
                          <a:solidFill>
                            <a:srgbClr val="334155"/>
                          </a:solidFill>
                          <a:latin typeface="Calibri"/>
                        </a:rPr>
                        <a:t>Per-device credentials, minted by the control plane at provisioning.</a:t>
                      </a:r>
                    </a:p>
                  </a:txBody>
                  <a:tcPr anchor="ctr" marL="91440" marR="91440">
                    <a:solidFill>
                      <a:srgbClr val="FFFFFF"/>
                    </a:solidFill>
                  </a:tcPr>
                </a:tc>
              </a:tr>
              <a:tr h="384048">
                <a:tc>
                  <a:txBody>
                    <a:bodyPr/>
                    <a:lstStyle/>
                    <a:p>
                      <a:pPr algn="l"/>
                      <a:r>
                        <a:rPr sz="1000">
                          <a:solidFill>
                            <a:srgbClr val="334155"/>
                          </a:solidFill>
                          <a:latin typeface="Calibri"/>
                        </a:rPr>
                        <a:t>Device</a:t>
                      </a:r>
                    </a:p>
                  </a:txBody>
                  <a:tcPr anchor="ctr" marL="91440">
                    <a:solidFill>
                      <a:srgbClr val="F0F4F8"/>
                    </a:solidFill>
                  </a:tcPr>
                </a:tc>
                <a:tc>
                  <a:txBody>
                    <a:bodyPr/>
                    <a:lstStyle/>
                    <a:p>
                      <a:pPr algn="l"/>
                      <a:r>
                        <a:rPr sz="1000">
                          <a:solidFill>
                            <a:srgbClr val="334155"/>
                          </a:solidFill>
                          <a:latin typeface="Calibri"/>
                        </a:rPr>
                        <a:t>NVS on the ESP32, written during provisioning</a:t>
                      </a:r>
                    </a:p>
                  </a:txBody>
                  <a:tcPr anchor="ctr" marL="91440">
                    <a:solidFill>
                      <a:srgbClr val="F0F4F8"/>
                    </a:solidFill>
                  </a:tcPr>
                </a:tc>
                <a:tc>
                  <a:txBody>
                    <a:bodyPr/>
                    <a:lstStyle/>
                    <a:p>
                      <a:pPr algn="l"/>
                      <a:r>
                        <a:rPr sz="1000">
                          <a:solidFill>
                            <a:srgbClr val="334155"/>
                          </a:solidFill>
                          <a:latin typeface="Calibri"/>
                        </a:rPr>
                        <a:t>Identity and key never leave the device; a factory reset clears them.</a:t>
                      </a:r>
                    </a:p>
                  </a:txBody>
                  <a:tcPr anchor="ctr" marL="91440" marR="91440">
                    <a:solidFill>
                      <a:srgbClr val="F0F4F8"/>
                    </a:solidFill>
                  </a:tcPr>
                </a:tc>
              </a:tr>
              <a:tr h="384048">
                <a:tc>
                  <a:txBody>
                    <a:bodyPr/>
                    <a:lstStyle/>
                    <a:p>
                      <a:pPr algn="l"/>
                      <a:r>
                        <a:rPr sz="1000">
                          <a:solidFill>
                            <a:srgbClr val="334155"/>
                          </a:solidFill>
                          <a:latin typeface="Calibri"/>
                        </a:rPr>
                        <a:t>Signing key (Android)</a:t>
                      </a:r>
                    </a:p>
                  </a:txBody>
                  <a:tcPr anchor="ctr" marL="91440">
                    <a:solidFill>
                      <a:srgbClr val="FFFFFF"/>
                    </a:solidFill>
                  </a:tcPr>
                </a:tc>
                <a:tc>
                  <a:txBody>
                    <a:bodyPr/>
                    <a:lstStyle/>
                    <a:p>
                      <a:pPr algn="l"/>
                      <a:r>
                        <a:rPr sz="1000">
                          <a:solidFill>
                            <a:srgbClr val="334155"/>
                          </a:solidFill>
                          <a:latin typeface="Calibri"/>
                        </a:rPr>
                        <a:t>mobile/credentials/, gitignored</a:t>
                      </a:r>
                    </a:p>
                  </a:txBody>
                  <a:tcPr anchor="ctr" marL="91440">
                    <a:solidFill>
                      <a:srgbClr val="FFFFFF"/>
                    </a:solidFill>
                  </a:tcPr>
                </a:tc>
                <a:tc>
                  <a:txBody>
                    <a:bodyPr/>
                    <a:lstStyle/>
                    <a:p>
                      <a:pPr algn="l"/>
                      <a:r>
                        <a:rPr sz="1000">
                          <a:solidFill>
                            <a:srgbClr val="334155"/>
                          </a:solidFill>
                          <a:latin typeface="Calibri"/>
                        </a:rPr>
                        <a:t>play-upload-key.json names the active keystore. Two keystores with no named winner is a refusal to build, not a guess.</a:t>
                      </a:r>
                    </a:p>
                  </a:txBody>
                  <a:tcPr anchor="ctr" marL="91440" marR="91440">
                    <a:solidFill>
                      <a:srgbClr val="FFFFFF"/>
                    </a:solidFill>
                  </a:tcPr>
                </a:tc>
              </a:tr>
              <a:tr h="384048">
                <a:tc>
                  <a:txBody>
                    <a:bodyPr/>
                    <a:lstStyle/>
                    <a:p>
                      <a:pPr algn="l"/>
                      <a:r>
                        <a:rPr sz="1000">
                          <a:solidFill>
                            <a:srgbClr val="334155"/>
                          </a:solidFill>
                          <a:latin typeface="Calibri"/>
                        </a:rPr>
                        <a:t>Home link key</a:t>
                      </a:r>
                    </a:p>
                  </a:txBody>
                  <a:tcPr anchor="ctr" marL="91440">
                    <a:solidFill>
                      <a:srgbClr val="F0F4F8"/>
                    </a:solidFill>
                  </a:tcPr>
                </a:tc>
                <a:tc>
                  <a:txBody>
                    <a:bodyPr/>
                    <a:lstStyle/>
                    <a:p>
                      <a:pPr algn="l"/>
                      <a:r>
                        <a:rPr sz="1000">
                          <a:solidFill>
                            <a:srgbClr val="334155"/>
                          </a:solidFill>
                          <a:latin typeface="Calibri"/>
                        </a:rPr>
                        <a:t>NVS, pushed as {action:"homekey"}</a:t>
                      </a:r>
                    </a:p>
                  </a:txBody>
                  <a:tcPr anchor="ctr" marL="91440">
                    <a:solidFill>
                      <a:srgbClr val="F0F4F8"/>
                    </a:solidFill>
                  </a:tcPr>
                </a:tc>
                <a:tc>
                  <a:txBody>
                    <a:bodyPr/>
                    <a:lstStyle/>
                    <a:p>
                      <a:pPr algn="l"/>
                      <a:r>
                        <a:rPr sz="1000">
                          <a:solidFill>
                            <a:srgbClr val="334155"/>
                          </a:solidFill>
                          <a:latin typeface="Calibri"/>
                        </a:rPr>
                        <a:t>No key means no local bus — never an unauthenticated one.</a:t>
                      </a:r>
                    </a:p>
                  </a:txBody>
                  <a:tcPr anchor="ctr" marL="91440" marR="91440">
                    <a:solidFill>
                      <a:srgbClr val="F0F4F8"/>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CONTROL PLANE: WHAT IT REFUSES TO START WITHOUT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3 variables with no default, from config.ts</a:t>
            </a:r>
          </a:p>
        </p:txBody>
      </p:sp>
      <p:sp>
        <p:nvSpPr>
          <p:cNvPr id="6" name="TextBox 5"/>
          <p:cNvSpPr txBox="1"/>
          <p:nvPr/>
        </p:nvSpPr>
        <p:spPr>
          <a:xfrm>
            <a:off x="777240" y="1828800"/>
            <a:ext cx="5212080" cy="4023360"/>
          </a:xfrm>
          <a:prstGeom prst="rect">
            <a:avLst/>
          </a:prstGeom>
          <a:noFill/>
        </p:spPr>
        <p:txBody>
          <a:bodyPr wrap="square">
            <a:spAutoFit/>
          </a:bodyPr>
          <a:lstStyle/>
          <a:p>
            <a:pPr>
              <a:lnSpc>
                <a:spcPct val="125000"/>
              </a:lnSpc>
              <a:spcAft>
                <a:spcPts val="600"/>
              </a:spcAft>
            </a:pPr>
            <a:r>
              <a:rPr sz="700">
                <a:solidFill>
                  <a:srgbClr val="0891B2"/>
                </a:solidFill>
                <a:latin typeface="Calibri"/>
              </a:rPr>
              <a:t>●  </a:t>
            </a:r>
            <a:r>
              <a:rPr sz="1200" b="1">
                <a:solidFill>
                  <a:srgbClr val="0F1729"/>
                </a:solidFill>
                <a:latin typeface="Calibri"/>
              </a:rPr>
              <a:t>DATABASE_URL — </a:t>
            </a:r>
            <a:r>
              <a:rPr sz="1200">
                <a:solidFill>
                  <a:srgbClr val="334155"/>
                </a:solidFill>
                <a:latin typeface="Calibri"/>
              </a:rPr>
              <a:t>required — the API refuses to start without it</a:t>
            </a:r>
          </a:p>
          <a:p>
            <a:pPr>
              <a:lnSpc>
                <a:spcPct val="125000"/>
              </a:lnSpc>
              <a:spcAft>
                <a:spcPts val="600"/>
              </a:spcAft>
            </a:pPr>
            <a:r>
              <a:rPr sz="700">
                <a:solidFill>
                  <a:srgbClr val="0891B2"/>
                </a:solidFill>
                <a:latin typeface="Calibri"/>
              </a:rPr>
              <a:t>●  </a:t>
            </a:r>
            <a:r>
              <a:rPr sz="1200" b="1">
                <a:solidFill>
                  <a:srgbClr val="0F1729"/>
                </a:solidFill>
                <a:latin typeface="Calibri"/>
              </a:rPr>
              <a:t>MQTT_PASSWORD — </a:t>
            </a:r>
            <a:r>
              <a:rPr sz="1200">
                <a:solidFill>
                  <a:srgbClr val="334155"/>
                </a:solidFill>
                <a:latin typeface="Calibri"/>
              </a:rPr>
              <a:t>required — the API refuses to start without it</a:t>
            </a:r>
          </a:p>
        </p:txBody>
      </p:sp>
      <p:sp>
        <p:nvSpPr>
          <p:cNvPr id="7" name="TextBox 6"/>
          <p:cNvSpPr txBox="1"/>
          <p:nvPr/>
        </p:nvSpPr>
        <p:spPr>
          <a:xfrm>
            <a:off x="6263640" y="1828800"/>
            <a:ext cx="5212080" cy="4023360"/>
          </a:xfrm>
          <a:prstGeom prst="rect">
            <a:avLst/>
          </a:prstGeom>
          <a:noFill/>
        </p:spPr>
        <p:txBody>
          <a:bodyPr wrap="square">
            <a:spAutoFit/>
          </a:bodyPr>
          <a:lstStyle/>
          <a:p>
            <a:pPr>
              <a:lnSpc>
                <a:spcPct val="125000"/>
              </a:lnSpc>
              <a:spcAft>
                <a:spcPts val="600"/>
              </a:spcAft>
            </a:pPr>
            <a:r>
              <a:rPr sz="700">
                <a:solidFill>
                  <a:srgbClr val="0891B2"/>
                </a:solidFill>
                <a:latin typeface="Calibri"/>
              </a:rPr>
              <a:t>●  </a:t>
            </a:r>
            <a:r>
              <a:rPr sz="1200" b="1">
                <a:solidFill>
                  <a:srgbClr val="0F1729"/>
                </a:solidFill>
                <a:latin typeface="Calibri"/>
              </a:rPr>
              <a:t>JWT_SECRET — </a:t>
            </a:r>
            <a:r>
              <a:rPr sz="1200">
                <a:solidFill>
                  <a:srgbClr val="334155"/>
                </a:solidFill>
                <a:latin typeface="Calibri"/>
              </a:rPr>
              <a:t>required — the API refuses to start without it</a:t>
            </a:r>
          </a:p>
        </p:txBody>
      </p:sp>
      <p:sp>
        <p:nvSpPr>
          <p:cNvPr id="8" name="TextBox 7"/>
          <p:cNvSpPr txBox="1"/>
          <p:nvPr/>
        </p:nvSpPr>
        <p:spPr>
          <a:xfrm>
            <a:off x="777240" y="5943600"/>
            <a:ext cx="10607040" cy="457200"/>
          </a:xfrm>
          <a:prstGeom prst="rect">
            <a:avLst/>
          </a:prstGeom>
          <a:noFill/>
        </p:spPr>
        <p:txBody>
          <a:bodyPr wrap="square" anchor="t">
            <a:spAutoFit/>
          </a:bodyPr>
          <a:lstStyle/>
          <a:p>
            <a:pPr algn="l">
              <a:lnSpc>
                <a:spcPct val="100000"/>
              </a:lnSpc>
            </a:pPr>
            <a:r>
              <a:rPr sz="1100" b="0">
                <a:solidFill>
                  <a:srgbClr val="64748B"/>
                </a:solidFill>
                <a:latin typeface="Calibri"/>
              </a:rPr>
              <a:t>Validated by a schema at boot, so a missing one is a refusal to start rather than a surprise at 3am.</a:t>
            </a:r>
          </a:p>
        </p:txBody>
      </p:sp>
      <p:sp>
        <p:nvSpPr>
          <p:cNvPr id="9" name="TextBox 8"/>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10" name="TextBox 9"/>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INTEGRATIONS</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Everything this system talks to that is not ours</a:t>
            </a:r>
          </a:p>
        </p:txBody>
      </p:sp>
      <p:graphicFrame>
        <p:nvGraphicFramePr>
          <p:cNvPr id="6" name="Table 5"/>
          <p:cNvGraphicFramePr>
            <a:graphicFrameLocks noGrp="1"/>
          </p:cNvGraphicFramePr>
          <p:nvPr/>
        </p:nvGraphicFramePr>
        <p:xfrm>
          <a:off x="777240" y="1737360"/>
          <a:ext cx="10607040" cy="3127248"/>
        </p:xfrm>
        <a:graphic>
          <a:graphicData uri="http://schemas.openxmlformats.org/drawingml/2006/table">
            <a:tbl>
              <a:tblPr firstRow="1" bandRow="1">
                <a:tableStyleId>{5C22544A-7EE6-4342-B048-85BDC9FD1C3A}</a:tableStyleId>
              </a:tblPr>
              <a:tblGrid>
                <a:gridCol w="2194560"/>
                <a:gridCol w="3017520"/>
                <a:gridCol w="5394960"/>
              </a:tblGrid>
              <a:tr h="438912">
                <a:tc>
                  <a:txBody>
                    <a:bodyPr/>
                    <a:lstStyle/>
                    <a:p>
                      <a:r>
                        <a:rPr sz="950" b="1">
                          <a:solidFill>
                            <a:srgbClr val="FFFFFF"/>
                          </a:solidFill>
                          <a:latin typeface="Calibri"/>
                        </a:rPr>
                        <a:t>Integration</a:t>
                      </a:r>
                    </a:p>
                  </a:txBody>
                  <a:tcPr anchor="ctr" marL="91440">
                    <a:solidFill>
                      <a:srgbClr val="0F1729"/>
                    </a:solidFill>
                  </a:tcPr>
                </a:tc>
                <a:tc>
                  <a:txBody>
                    <a:bodyPr/>
                    <a:lstStyle/>
                    <a:p>
                      <a:r>
                        <a:rPr sz="950" b="1">
                          <a:solidFill>
                            <a:srgbClr val="FFFFFF"/>
                          </a:solidFill>
                          <a:latin typeface="Calibri"/>
                        </a:rPr>
                        <a:t>How</a:t>
                      </a:r>
                    </a:p>
                  </a:txBody>
                  <a:tcPr anchor="ctr" marL="91440">
                    <a:solidFill>
                      <a:srgbClr val="0F1729"/>
                    </a:solidFill>
                  </a:tcPr>
                </a:tc>
                <a:tc>
                  <a:txBody>
                    <a:bodyPr/>
                    <a:lstStyle/>
                    <a:p>
                      <a:r>
                        <a:rPr sz="950" b="1">
                          <a:solidFill>
                            <a:srgbClr val="FFFFFF"/>
                          </a:solidFill>
                          <a:latin typeface="Calibri"/>
                        </a:rPr>
                        <a:t>What to know</a:t>
                      </a:r>
                    </a:p>
                  </a:txBody>
                  <a:tcPr anchor="ctr" marL="91440">
                    <a:solidFill>
                      <a:srgbClr val="0F1729"/>
                    </a:solidFill>
                  </a:tcPr>
                </a:tc>
              </a:tr>
              <a:tr h="384048">
                <a:tc>
                  <a:txBody>
                    <a:bodyPr/>
                    <a:lstStyle/>
                    <a:p>
                      <a:pPr algn="l"/>
                      <a:r>
                        <a:rPr sz="950">
                          <a:solidFill>
                            <a:srgbClr val="334155"/>
                          </a:solidFill>
                          <a:latin typeface="Calibri"/>
                        </a:rPr>
                        <a:t>Google Home</a:t>
                      </a:r>
                    </a:p>
                  </a:txBody>
                  <a:tcPr anchor="ctr" marL="91440">
                    <a:solidFill>
                      <a:srgbClr val="FFFFFF"/>
                    </a:solidFill>
                  </a:tcPr>
                </a:tc>
                <a:tc>
                  <a:txBody>
                    <a:bodyPr/>
                    <a:lstStyle/>
                    <a:p>
                      <a:pPr algn="l"/>
                      <a:r>
                        <a:rPr sz="950">
                          <a:solidFill>
                            <a:srgbClr val="334155"/>
                          </a:solidFill>
                          <a:latin typeface="Calibri"/>
                        </a:rPr>
                        <a:t>Smart Home intents + HomeGraph</a:t>
                      </a:r>
                    </a:p>
                  </a:txBody>
                  <a:tcPr anchor="ctr" marL="91440">
                    <a:solidFill>
                      <a:srgbClr val="FFFFFF"/>
                    </a:solidFill>
                  </a:tcPr>
                </a:tc>
                <a:tc>
                  <a:txBody>
                    <a:bodyPr/>
                    <a:lstStyle/>
                    <a:p>
                      <a:pPr algn="l"/>
                      <a:r>
                        <a:rPr sz="950">
                          <a:solidFill>
                            <a:srgbClr val="334155"/>
                          </a:solidFill>
                          <a:latin typeface="Calibri"/>
                        </a:rPr>
                        <a:t>onOff() decides what is exposed. A type missing from it is simply absent, with no error.</a:t>
                      </a:r>
                    </a:p>
                  </a:txBody>
                  <a:tcPr anchor="ctr" marL="91440" marR="91440">
                    <a:solidFill>
                      <a:srgbClr val="FFFFFF"/>
                    </a:solidFill>
                  </a:tcPr>
                </a:tc>
              </a:tr>
              <a:tr h="384048">
                <a:tc>
                  <a:txBody>
                    <a:bodyPr/>
                    <a:lstStyle/>
                    <a:p>
                      <a:pPr algn="l"/>
                      <a:r>
                        <a:rPr sz="950">
                          <a:solidFill>
                            <a:srgbClr val="334155"/>
                          </a:solidFill>
                          <a:latin typeface="Calibri"/>
                        </a:rPr>
                        <a:t>Amazon Alexa</a:t>
                      </a:r>
                    </a:p>
                  </a:txBody>
                  <a:tcPr anchor="ctr" marL="91440">
                    <a:solidFill>
                      <a:srgbClr val="F0F4F8"/>
                    </a:solidFill>
                  </a:tcPr>
                </a:tc>
                <a:tc>
                  <a:txBody>
                    <a:bodyPr/>
                    <a:lstStyle/>
                    <a:p>
                      <a:pPr algn="l"/>
                      <a:r>
                        <a:rPr sz="950">
                          <a:solidFill>
                            <a:srgbClr val="334155"/>
                          </a:solidFill>
                          <a:latin typeface="Calibri"/>
                        </a:rPr>
                        <a:t>Smart Home skill + event gateway</a:t>
                      </a:r>
                    </a:p>
                  </a:txBody>
                  <a:tcPr anchor="ctr" marL="91440">
                    <a:solidFill>
                      <a:srgbClr val="F0F4F8"/>
                    </a:solidFill>
                  </a:tcPr>
                </a:tc>
                <a:tc>
                  <a:txBody>
                    <a:bodyPr/>
                    <a:lstStyle/>
                    <a:p>
                      <a:pPr algn="l"/>
                      <a:r>
                        <a:rPr sz="950">
                          <a:solidFill>
                            <a:srgbClr val="334155"/>
                          </a:solidFill>
                          <a:latin typeface="Calibri"/>
                        </a:rPr>
                        <a:t>Display category is a physical-consequence decision: a pump typed as a switch is caught by 'turn everything off' at bedtime.</a:t>
                      </a:r>
                    </a:p>
                  </a:txBody>
                  <a:tcPr anchor="ctr" marL="91440" marR="91440">
                    <a:solidFill>
                      <a:srgbClr val="F0F4F8"/>
                    </a:solidFill>
                  </a:tcPr>
                </a:tc>
              </a:tr>
              <a:tr h="384048">
                <a:tc>
                  <a:txBody>
                    <a:bodyPr/>
                    <a:lstStyle/>
                    <a:p>
                      <a:pPr algn="l"/>
                      <a:r>
                        <a:rPr sz="950">
                          <a:solidFill>
                            <a:srgbClr val="334155"/>
                          </a:solidFill>
                          <a:latin typeface="Calibri"/>
                        </a:rPr>
                        <a:t>Siri</a:t>
                      </a:r>
                    </a:p>
                  </a:txBody>
                  <a:tcPr anchor="ctr" marL="91440">
                    <a:solidFill>
                      <a:srgbClr val="FFFFFF"/>
                    </a:solidFill>
                  </a:tcPr>
                </a:tc>
                <a:tc>
                  <a:txBody>
                    <a:bodyPr/>
                    <a:lstStyle/>
                    <a:p>
                      <a:pPr algn="l"/>
                      <a:r>
                        <a:rPr sz="950">
                          <a:solidFill>
                            <a:srgbClr val="334155"/>
                          </a:solidFill>
                          <a:latin typeface="Calibri"/>
                        </a:rPr>
                        <a:t>Derived on-device from DEVICE_META.toggle</a:t>
                      </a:r>
                    </a:p>
                  </a:txBody>
                  <a:tcPr anchor="ctr" marL="91440">
                    <a:solidFill>
                      <a:srgbClr val="FFFFFF"/>
                    </a:solidFill>
                  </a:tcPr>
                </a:tc>
                <a:tc>
                  <a:txBody>
                    <a:bodyPr/>
                    <a:lstStyle/>
                    <a:p>
                      <a:pPr algn="l"/>
                      <a:r>
                        <a:rPr sz="950">
                          <a:solidFill>
                            <a:srgbClr val="334155"/>
                          </a:solidFill>
                          <a:latin typeface="Calibri"/>
                        </a:rPr>
                        <a:t>No Swift change needed to add a device.</a:t>
                      </a:r>
                    </a:p>
                  </a:txBody>
                  <a:tcPr anchor="ctr" marL="91440" marR="91440">
                    <a:solidFill>
                      <a:srgbClr val="FFFFFF"/>
                    </a:solidFill>
                  </a:tcPr>
                </a:tc>
              </a:tr>
              <a:tr h="384048">
                <a:tc>
                  <a:txBody>
                    <a:bodyPr/>
                    <a:lstStyle/>
                    <a:p>
                      <a:pPr algn="l"/>
                      <a:r>
                        <a:rPr sz="950">
                          <a:solidFill>
                            <a:srgbClr val="334155"/>
                          </a:solidFill>
                          <a:latin typeface="Calibri"/>
                        </a:rPr>
                        <a:t>Shop ↔ console SSO</a:t>
                      </a:r>
                    </a:p>
                  </a:txBody>
                  <a:tcPr anchor="ctr" marL="91440">
                    <a:solidFill>
                      <a:srgbClr val="F0F4F8"/>
                    </a:solidFill>
                  </a:tcPr>
                </a:tc>
                <a:tc>
                  <a:txBody>
                    <a:bodyPr/>
                    <a:lstStyle/>
                    <a:p>
                      <a:pPr algn="l"/>
                      <a:r>
                        <a:rPr sz="950">
                          <a:solidFill>
                            <a:srgbClr val="334155"/>
                          </a:solidFill>
                          <a:latin typeface="Calibri"/>
                        </a:rPr>
                        <a:t>Shared FEDERATION_SECRET, HMAC + timestamp</a:t>
                      </a:r>
                    </a:p>
                  </a:txBody>
                  <a:tcPr anchor="ctr" marL="91440">
                    <a:solidFill>
                      <a:srgbClr val="F0F4F8"/>
                    </a:solidFill>
                  </a:tcPr>
                </a:tc>
                <a:tc>
                  <a:txBody>
                    <a:bodyPr/>
                    <a:lstStyle/>
                    <a:p>
                      <a:pPr algn="l"/>
                      <a:r>
                        <a:rPr sz="950">
                          <a:solidFill>
                            <a:srgbClr val="334155"/>
                          </a:solidFill>
                          <a:latin typeface="Calibri"/>
                        </a:rPr>
                        <a:t>Server-to-server only. Guarded by PROD_IDENTITY_HOSTS so a preview deployment cannot authenticate a production customer.</a:t>
                      </a:r>
                    </a:p>
                  </a:txBody>
                  <a:tcPr anchor="ctr" marL="91440" marR="91440">
                    <a:solidFill>
                      <a:srgbClr val="F0F4F8"/>
                    </a:solidFill>
                  </a:tcPr>
                </a:tc>
              </a:tr>
              <a:tr h="384048">
                <a:tc>
                  <a:txBody>
                    <a:bodyPr/>
                    <a:lstStyle/>
                    <a:p>
                      <a:pPr algn="l"/>
                      <a:r>
                        <a:rPr sz="950">
                          <a:solidFill>
                            <a:srgbClr val="334155"/>
                          </a:solidFill>
                          <a:latin typeface="Calibri"/>
                        </a:rPr>
                        <a:t>OTA</a:t>
                      </a:r>
                    </a:p>
                  </a:txBody>
                  <a:tcPr anchor="ctr" marL="91440">
                    <a:solidFill>
                      <a:srgbClr val="FFFFFF"/>
                    </a:solidFill>
                  </a:tcPr>
                </a:tc>
                <a:tc>
                  <a:txBody>
                    <a:bodyPr/>
                    <a:lstStyle/>
                    <a:p>
                      <a:pPr algn="l"/>
                      <a:r>
                        <a:rPr sz="950">
                          <a:solidFill>
                            <a:srgbClr val="334155"/>
                          </a:solidFill>
                          <a:latin typeface="Calibri"/>
                        </a:rPr>
                        <a:t>Signed pointer over MQTT → HTTPS fetch</a:t>
                      </a:r>
                    </a:p>
                  </a:txBody>
                  <a:tcPr anchor="ctr" marL="91440">
                    <a:solidFill>
                      <a:srgbClr val="FFFFFF"/>
                    </a:solidFill>
                  </a:tcPr>
                </a:tc>
                <a:tc>
                  <a:txBody>
                    <a:bodyPr/>
                    <a:lstStyle/>
                    <a:p>
                      <a:pPr algn="l"/>
                      <a:r>
                        <a:rPr sz="950">
                          <a:solidFill>
                            <a:srgbClr val="334155"/>
                          </a:solidFill>
                          <a:latin typeface="Calibri"/>
                        </a:rPr>
                        <a:t>public/fw/ on Vercel; the device pins the roots it will fetch from.</a:t>
                      </a:r>
                    </a:p>
                  </a:txBody>
                  <a:tcPr anchor="ctr" marL="91440" marR="91440">
                    <a:solidFill>
                      <a:srgbClr val="FFFFFF"/>
                    </a:solidFill>
                  </a:tcPr>
                </a:tc>
              </a:tr>
              <a:tr h="384048">
                <a:tc>
                  <a:txBody>
                    <a:bodyPr/>
                    <a:lstStyle/>
                    <a:p>
                      <a:pPr algn="l"/>
                      <a:r>
                        <a:rPr sz="950">
                          <a:solidFill>
                            <a:srgbClr val="334155"/>
                          </a:solidFill>
                          <a:latin typeface="Calibri"/>
                        </a:rPr>
                        <a:t>Incident routing</a:t>
                      </a:r>
                    </a:p>
                  </a:txBody>
                  <a:tcPr anchor="ctr" marL="91440">
                    <a:solidFill>
                      <a:srgbClr val="F0F4F8"/>
                    </a:solidFill>
                  </a:tcPr>
                </a:tc>
                <a:tc>
                  <a:txBody>
                    <a:bodyPr/>
                    <a:lstStyle/>
                    <a:p>
                      <a:pPr algn="l"/>
                      <a:r>
                        <a:rPr sz="950">
                          <a:solidFill>
                            <a:srgbClr val="334155"/>
                          </a:solidFill>
                          <a:latin typeface="Calibri"/>
                        </a:rPr>
                        <a:t>ICM + Teams webhooks</a:t>
                      </a:r>
                    </a:p>
                  </a:txBody>
                  <a:tcPr anchor="ctr" marL="91440">
                    <a:solidFill>
                      <a:srgbClr val="F0F4F8"/>
                    </a:solidFill>
                  </a:tcPr>
                </a:tc>
                <a:tc>
                  <a:txBody>
                    <a:bodyPr/>
                    <a:lstStyle/>
                    <a:p>
                      <a:pPr algn="l"/>
                      <a:r>
                        <a:rPr sz="950">
                          <a:solidFill>
                            <a:srgbClr val="334155"/>
                          </a:solidFill>
                          <a:latin typeface="Calibri"/>
                        </a:rPr>
                        <a:t>Durable escalation runs on the Vercel Workflow SDK.</a:t>
                      </a:r>
                    </a:p>
                  </a:txBody>
                  <a:tcPr anchor="ctr" marL="91440" marR="91440">
                    <a:solidFill>
                      <a:srgbClr val="F0F4F8"/>
                    </a:solidFill>
                  </a:tcPr>
                </a:tc>
              </a:tr>
              <a:tr h="384048">
                <a:tc>
                  <a:txBody>
                    <a:bodyPr/>
                    <a:lstStyle/>
                    <a:p>
                      <a:pPr algn="l"/>
                      <a:r>
                        <a:rPr sz="950">
                          <a:solidFill>
                            <a:srgbClr val="334155"/>
                          </a:solidFill>
                          <a:latin typeface="Calibri"/>
                        </a:rPr>
                        <a:t>Databases</a:t>
                      </a:r>
                    </a:p>
                  </a:txBody>
                  <a:tcPr anchor="ctr" marL="91440">
                    <a:solidFill>
                      <a:srgbClr val="FFFFFF"/>
                    </a:solidFill>
                  </a:tcPr>
                </a:tc>
                <a:tc>
                  <a:txBody>
                    <a:bodyPr/>
                    <a:lstStyle/>
                    <a:p>
                      <a:pPr algn="l"/>
                      <a:r>
                        <a:rPr sz="950">
                          <a:solidFill>
                            <a:srgbClr val="334155"/>
                          </a:solidFill>
                          <a:latin typeface="Calibri"/>
                        </a:rPr>
                        <a:t>Neon (shop) and Postgres 16 in Compose (fleet)</a:t>
                      </a:r>
                    </a:p>
                  </a:txBody>
                  <a:tcPr anchor="ctr" marL="91440">
                    <a:solidFill>
                      <a:srgbClr val="FFFFFF"/>
                    </a:solidFill>
                  </a:tcPr>
                </a:tc>
                <a:tc>
                  <a:txBody>
                    <a:bodyPr/>
                    <a:lstStyle/>
                    <a:p>
                      <a:pPr algn="l"/>
                      <a:r>
                        <a:rPr sz="950">
                          <a:solidFill>
                            <a:srgbClr val="334155"/>
                          </a:solidFill>
                          <a:latin typeface="Calibri"/>
                        </a:rPr>
                        <a:t>Two databases, deliberately. Different owners, different blast radius.</a:t>
                      </a:r>
                    </a:p>
                  </a:txBody>
                  <a:tcPr anchor="ctr" marL="91440" marR="91440">
                    <a:solidFill>
                      <a:srgbClr val="FFFFFF"/>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DEPLOYMENT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Four things, four different mechanisms</a:t>
            </a:r>
          </a:p>
        </p:txBody>
      </p:sp>
      <p:sp>
        <p:nvSpPr>
          <p:cNvPr id="6" name="TextBox 5"/>
          <p:cNvSpPr txBox="1"/>
          <p:nvPr/>
        </p:nvSpPr>
        <p:spPr>
          <a:xfrm>
            <a:off x="822960" y="1993392"/>
            <a:ext cx="2286000" cy="274320"/>
          </a:xfrm>
          <a:prstGeom prst="rect">
            <a:avLst/>
          </a:prstGeom>
          <a:noFill/>
        </p:spPr>
        <p:txBody>
          <a:bodyPr wrap="square" anchor="t">
            <a:spAutoFit/>
          </a:bodyPr>
          <a:lstStyle/>
          <a:p>
            <a:pPr algn="l">
              <a:lnSpc>
                <a:spcPct val="100000"/>
              </a:lnSpc>
            </a:pPr>
            <a:r>
              <a:rPr sz="1100" b="1">
                <a:solidFill>
                  <a:srgbClr val="0F1729"/>
                </a:solidFill>
                <a:latin typeface="Calibri"/>
              </a:rPr>
              <a:t>Website · console</a:t>
            </a:r>
          </a:p>
        </p:txBody>
      </p:sp>
      <p:sp>
        <p:nvSpPr>
          <p:cNvPr id="7" name="Rectangle 6"/>
          <p:cNvSpPr/>
          <p:nvPr/>
        </p:nvSpPr>
        <p:spPr>
          <a:xfrm>
            <a:off x="3200400" y="1828800"/>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200400" y="1828800"/>
            <a:ext cx="25146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1840" y="1975104"/>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git push</a:t>
            </a:r>
          </a:p>
        </p:txBody>
      </p:sp>
      <p:cxnSp>
        <p:nvCxnSpPr>
          <p:cNvPr id="10" name="Connector 9"/>
          <p:cNvCxnSpPr/>
          <p:nvPr/>
        </p:nvCxnSpPr>
        <p:spPr>
          <a:xfrm>
            <a:off x="5715000" y="2112264"/>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897880" y="1828800"/>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897880" y="1828800"/>
            <a:ext cx="25146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89320" y="1975104"/>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Vercel build</a:t>
            </a:r>
          </a:p>
        </p:txBody>
      </p:sp>
      <p:cxnSp>
        <p:nvCxnSpPr>
          <p:cNvPr id="14" name="Connector 13"/>
          <p:cNvCxnSpPr/>
          <p:nvPr/>
        </p:nvCxnSpPr>
        <p:spPr>
          <a:xfrm>
            <a:off x="8412480" y="2112264"/>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595360" y="1828800"/>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595360" y="1828800"/>
            <a:ext cx="25146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0" y="1975104"/>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circuvent.com</a:t>
            </a:r>
          </a:p>
        </p:txBody>
      </p:sp>
      <p:sp>
        <p:nvSpPr>
          <p:cNvPr id="18" name="TextBox 17"/>
          <p:cNvSpPr txBox="1"/>
          <p:nvPr/>
        </p:nvSpPr>
        <p:spPr>
          <a:xfrm>
            <a:off x="822960" y="2834640"/>
            <a:ext cx="2286000" cy="274320"/>
          </a:xfrm>
          <a:prstGeom prst="rect">
            <a:avLst/>
          </a:prstGeom>
          <a:noFill/>
        </p:spPr>
        <p:txBody>
          <a:bodyPr wrap="square" anchor="t">
            <a:spAutoFit/>
          </a:bodyPr>
          <a:lstStyle/>
          <a:p>
            <a:pPr algn="l">
              <a:lnSpc>
                <a:spcPct val="100000"/>
              </a:lnSpc>
            </a:pPr>
            <a:r>
              <a:rPr sz="1100" b="1">
                <a:solidFill>
                  <a:srgbClr val="0F1729"/>
                </a:solidFill>
                <a:latin typeface="Calibri"/>
              </a:rPr>
              <a:t>Control plane</a:t>
            </a:r>
          </a:p>
        </p:txBody>
      </p:sp>
      <p:sp>
        <p:nvSpPr>
          <p:cNvPr id="19" name="Rectangle 18"/>
          <p:cNvSpPr/>
          <p:nvPr/>
        </p:nvSpPr>
        <p:spPr>
          <a:xfrm>
            <a:off x="3200400" y="2670048"/>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200400" y="2670048"/>
            <a:ext cx="25146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291840" y="2816352"/>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ssh to VM</a:t>
            </a:r>
          </a:p>
        </p:txBody>
      </p:sp>
      <p:cxnSp>
        <p:nvCxnSpPr>
          <p:cNvPr id="22" name="Connector 21"/>
          <p:cNvCxnSpPr/>
          <p:nvPr/>
        </p:nvCxnSpPr>
        <p:spPr>
          <a:xfrm>
            <a:off x="5715000" y="2953512"/>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897880" y="2670048"/>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897880" y="2670048"/>
            <a:ext cx="25146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89320" y="2816352"/>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docker compose up -d --build</a:t>
            </a:r>
          </a:p>
        </p:txBody>
      </p:sp>
      <p:cxnSp>
        <p:nvCxnSpPr>
          <p:cNvPr id="26" name="Connector 25"/>
          <p:cNvCxnSpPr/>
          <p:nvPr/>
        </p:nvCxnSpPr>
        <p:spPr>
          <a:xfrm>
            <a:off x="8412480" y="2953512"/>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8595360" y="2670048"/>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595360" y="2670048"/>
            <a:ext cx="25146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686800" y="2816352"/>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api.circuvent.com</a:t>
            </a:r>
          </a:p>
        </p:txBody>
      </p:sp>
      <p:sp>
        <p:nvSpPr>
          <p:cNvPr id="30" name="TextBox 29"/>
          <p:cNvSpPr txBox="1"/>
          <p:nvPr/>
        </p:nvSpPr>
        <p:spPr>
          <a:xfrm>
            <a:off x="822960" y="3675887"/>
            <a:ext cx="2286000" cy="274320"/>
          </a:xfrm>
          <a:prstGeom prst="rect">
            <a:avLst/>
          </a:prstGeom>
          <a:noFill/>
        </p:spPr>
        <p:txBody>
          <a:bodyPr wrap="square" anchor="t">
            <a:spAutoFit/>
          </a:bodyPr>
          <a:lstStyle/>
          <a:p>
            <a:pPr algn="l">
              <a:lnSpc>
                <a:spcPct val="100000"/>
              </a:lnSpc>
            </a:pPr>
            <a:r>
              <a:rPr sz="1100" b="1">
                <a:solidFill>
                  <a:srgbClr val="0F1729"/>
                </a:solidFill>
                <a:latin typeface="Calibri"/>
              </a:rPr>
              <a:t>Mobile</a:t>
            </a:r>
          </a:p>
        </p:txBody>
      </p:sp>
      <p:sp>
        <p:nvSpPr>
          <p:cNvPr id="31" name="Rectangle 30"/>
          <p:cNvSpPr/>
          <p:nvPr/>
        </p:nvSpPr>
        <p:spPr>
          <a:xfrm>
            <a:off x="3200400" y="3511296"/>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3200400" y="3511296"/>
            <a:ext cx="25146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291840" y="3657600"/>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build-android.mjs</a:t>
            </a:r>
          </a:p>
        </p:txBody>
      </p:sp>
      <p:cxnSp>
        <p:nvCxnSpPr>
          <p:cNvPr id="34" name="Connector 33"/>
          <p:cNvCxnSpPr/>
          <p:nvPr/>
        </p:nvCxnSpPr>
        <p:spPr>
          <a:xfrm>
            <a:off x="5715000" y="3794759"/>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897880" y="3511296"/>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897880" y="3511296"/>
            <a:ext cx="25146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989320" y="3657600"/>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signing checked twice</a:t>
            </a:r>
          </a:p>
        </p:txBody>
      </p:sp>
      <p:cxnSp>
        <p:nvCxnSpPr>
          <p:cNvPr id="38" name="Connector 37"/>
          <p:cNvCxnSpPr/>
          <p:nvPr/>
        </p:nvCxnSpPr>
        <p:spPr>
          <a:xfrm>
            <a:off x="8412480" y="3794759"/>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8595360" y="3511296"/>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595360" y="3511296"/>
            <a:ext cx="2514600" cy="411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686800" y="3657600"/>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Play / sideload</a:t>
            </a:r>
          </a:p>
        </p:txBody>
      </p:sp>
      <p:sp>
        <p:nvSpPr>
          <p:cNvPr id="42" name="TextBox 41"/>
          <p:cNvSpPr txBox="1"/>
          <p:nvPr/>
        </p:nvSpPr>
        <p:spPr>
          <a:xfrm>
            <a:off x="822960" y="4517136"/>
            <a:ext cx="2286000" cy="274320"/>
          </a:xfrm>
          <a:prstGeom prst="rect">
            <a:avLst/>
          </a:prstGeom>
          <a:noFill/>
        </p:spPr>
        <p:txBody>
          <a:bodyPr wrap="square" anchor="t">
            <a:spAutoFit/>
          </a:bodyPr>
          <a:lstStyle/>
          <a:p>
            <a:pPr algn="l">
              <a:lnSpc>
                <a:spcPct val="100000"/>
              </a:lnSpc>
            </a:pPr>
            <a:r>
              <a:rPr sz="1100" b="1">
                <a:solidFill>
                  <a:srgbClr val="0F1729"/>
                </a:solidFill>
                <a:latin typeface="Calibri"/>
              </a:rPr>
              <a:t>Firmware</a:t>
            </a:r>
          </a:p>
        </p:txBody>
      </p:sp>
      <p:sp>
        <p:nvSpPr>
          <p:cNvPr id="43" name="Rectangle 42"/>
          <p:cNvSpPr/>
          <p:nvPr/>
        </p:nvSpPr>
        <p:spPr>
          <a:xfrm>
            <a:off x="3200400" y="4352544"/>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3200400" y="4352544"/>
            <a:ext cx="25146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291840" y="4498848"/>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platformio run</a:t>
            </a:r>
          </a:p>
        </p:txBody>
      </p:sp>
      <p:cxnSp>
        <p:nvCxnSpPr>
          <p:cNvPr id="46" name="Connector 45"/>
          <p:cNvCxnSpPr/>
          <p:nvPr/>
        </p:nvCxnSpPr>
        <p:spPr>
          <a:xfrm>
            <a:off x="5715000" y="4636007"/>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897880" y="4352544"/>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897880" y="4352544"/>
            <a:ext cx="25146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989320" y="4498848"/>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public/fw/*.bin</a:t>
            </a:r>
          </a:p>
        </p:txBody>
      </p:sp>
      <p:cxnSp>
        <p:nvCxnSpPr>
          <p:cNvPr id="50" name="Connector 49"/>
          <p:cNvCxnSpPr/>
          <p:nvPr/>
        </p:nvCxnSpPr>
        <p:spPr>
          <a:xfrm>
            <a:off x="8412480" y="4636007"/>
            <a:ext cx="18288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595360" y="4352544"/>
            <a:ext cx="251460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8595360" y="4352544"/>
            <a:ext cx="2514600" cy="411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686800" y="4498848"/>
            <a:ext cx="2331720" cy="292608"/>
          </a:xfrm>
          <a:prstGeom prst="rect">
            <a:avLst/>
          </a:prstGeom>
          <a:noFill/>
        </p:spPr>
        <p:txBody>
          <a:bodyPr wrap="square" anchor="t">
            <a:spAutoFit/>
          </a:bodyPr>
          <a:lstStyle/>
          <a:p>
            <a:pPr algn="l">
              <a:lnSpc>
                <a:spcPct val="100000"/>
              </a:lnSpc>
            </a:pPr>
            <a:r>
              <a:rPr sz="950" b="1">
                <a:solidFill>
                  <a:srgbClr val="0F1729"/>
                </a:solidFill>
                <a:latin typeface="Calibri"/>
              </a:rPr>
              <a:t>OTA over MQTT</a:t>
            </a:r>
          </a:p>
        </p:txBody>
      </p:sp>
      <p:sp>
        <p:nvSpPr>
          <p:cNvPr id="54" name="TextBox 53"/>
          <p:cNvSpPr txBox="1"/>
          <p:nvPr/>
        </p:nvSpPr>
        <p:spPr>
          <a:xfrm>
            <a:off x="822960" y="5394960"/>
            <a:ext cx="10607040" cy="822960"/>
          </a:xfrm>
          <a:prstGeom prst="rect">
            <a:avLst/>
          </a:prstGeom>
          <a:noFill/>
        </p:spPr>
        <p:txBody>
          <a:bodyPr wrap="square" anchor="t">
            <a:spAutoFit/>
          </a:bodyPr>
          <a:lstStyle/>
          <a:p>
            <a:pPr algn="l">
              <a:lnSpc>
                <a:spcPct val="100000"/>
              </a:lnSpc>
            </a:pPr>
            <a:r>
              <a:rPr sz="1150" b="0">
                <a:solidFill>
                  <a:srgbClr val="64748B"/>
                </a:solidFill>
                <a:latin typeface="Calibri"/>
              </a:rPr>
              <a:t>A local build passing is not evidence the pushed tree builds — uncommitted files can satisfy an import. Diagnose with a worktree at the pushed commit.</a:t>
            </a:r>
          </a:p>
        </p:txBody>
      </p:sp>
      <p:sp>
        <p:nvSpPr>
          <p:cNvPr id="55" name="TextBox 54"/>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56" name="TextBox 55"/>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DEPLOYMENT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The part of each that bites</a:t>
            </a:r>
          </a:p>
        </p:txBody>
      </p:sp>
      <p:graphicFrame>
        <p:nvGraphicFramePr>
          <p:cNvPr id="6" name="Table 5"/>
          <p:cNvGraphicFramePr>
            <a:graphicFrameLocks noGrp="1"/>
          </p:cNvGraphicFramePr>
          <p:nvPr/>
        </p:nvGraphicFramePr>
        <p:xfrm>
          <a:off x="777240" y="1737360"/>
          <a:ext cx="10607040" cy="1975104"/>
        </p:xfrm>
        <a:graphic>
          <a:graphicData uri="http://schemas.openxmlformats.org/drawingml/2006/table">
            <a:tbl>
              <a:tblPr firstRow="1" bandRow="1">
                <a:tableStyleId>{5C22544A-7EE6-4342-B048-85BDC9FD1C3A}</a:tableStyleId>
              </a:tblPr>
              <a:tblGrid>
                <a:gridCol w="2194560"/>
                <a:gridCol w="3200400"/>
                <a:gridCol w="5212080"/>
              </a:tblGrid>
              <a:tr h="438912">
                <a:tc>
                  <a:txBody>
                    <a:bodyPr/>
                    <a:lstStyle/>
                    <a:p>
                      <a:r>
                        <a:rPr sz="1050" b="1">
                          <a:solidFill>
                            <a:srgbClr val="FFFFFF"/>
                          </a:solidFill>
                          <a:latin typeface="Calibri"/>
                        </a:rPr>
                        <a:t>What</a:t>
                      </a:r>
                    </a:p>
                  </a:txBody>
                  <a:tcPr anchor="ctr" marL="91440">
                    <a:solidFill>
                      <a:srgbClr val="0F1729"/>
                    </a:solidFill>
                  </a:tcPr>
                </a:tc>
                <a:tc>
                  <a:txBody>
                    <a:bodyPr/>
                    <a:lstStyle/>
                    <a:p>
                      <a:r>
                        <a:rPr sz="1050" b="1">
                          <a:solidFill>
                            <a:srgbClr val="FFFFFF"/>
                          </a:solidFill>
                          <a:latin typeface="Calibri"/>
                        </a:rPr>
                        <a:t>How it ships</a:t>
                      </a:r>
                    </a:p>
                  </a:txBody>
                  <a:tcPr anchor="ctr" marL="91440">
                    <a:solidFill>
                      <a:srgbClr val="0F1729"/>
                    </a:solidFill>
                  </a:tcPr>
                </a:tc>
                <a:tc>
                  <a:txBody>
                    <a:bodyPr/>
                    <a:lstStyle/>
                    <a:p>
                      <a:r>
                        <a:rPr sz="1050" b="1">
                          <a:solidFill>
                            <a:srgbClr val="FFFFFF"/>
                          </a:solidFill>
                          <a:latin typeface="Calibri"/>
                        </a:rPr>
                        <a:t>The part that bites</a:t>
                      </a:r>
                    </a:p>
                  </a:txBody>
                  <a:tcPr anchor="ctr" marL="91440">
                    <a:solidFill>
                      <a:srgbClr val="0F1729"/>
                    </a:solidFill>
                  </a:tcPr>
                </a:tc>
              </a:tr>
              <a:tr h="384048">
                <a:tc>
                  <a:txBody>
                    <a:bodyPr/>
                    <a:lstStyle/>
                    <a:p>
                      <a:pPr algn="l"/>
                      <a:r>
                        <a:rPr sz="1050">
                          <a:solidFill>
                            <a:srgbClr val="334155"/>
                          </a:solidFill>
                          <a:latin typeface="Calibri"/>
                        </a:rPr>
                        <a:t>Website / console</a:t>
                      </a:r>
                    </a:p>
                  </a:txBody>
                  <a:tcPr anchor="ctr" marL="91440">
                    <a:solidFill>
                      <a:srgbClr val="FFFFFF"/>
                    </a:solidFill>
                  </a:tcPr>
                </a:tc>
                <a:tc>
                  <a:txBody>
                    <a:bodyPr/>
                    <a:lstStyle/>
                    <a:p>
                      <a:pPr algn="l"/>
                      <a:r>
                        <a:rPr sz="1050">
                          <a:solidFill>
                            <a:srgbClr val="334155"/>
                          </a:solidFill>
                          <a:latin typeface="Calibri"/>
                        </a:rPr>
                        <a:t>git push → Vercel</a:t>
                      </a:r>
                    </a:p>
                  </a:txBody>
                  <a:tcPr anchor="ctr" marL="91440">
                    <a:solidFill>
                      <a:srgbClr val="FFFFFF"/>
                    </a:solidFill>
                  </a:tcPr>
                </a:tc>
                <a:tc>
                  <a:txBody>
                    <a:bodyPr/>
                    <a:lstStyle/>
                    <a:p>
                      <a:pPr algn="l"/>
                      <a:r>
                        <a:rPr sz="1050">
                          <a:solidFill>
                            <a:srgbClr val="334155"/>
                          </a:solidFill>
                          <a:latin typeface="Calibri"/>
                        </a:rPr>
                        <a:t>main → circuvent.com, develop → dev.circuvent.com. Build failures surface as a stuck deployment, not a red X on the commit.</a:t>
                      </a:r>
                    </a:p>
                  </a:txBody>
                  <a:tcPr anchor="ctr" marL="91440" marR="91440">
                    <a:solidFill>
                      <a:srgbClr val="FFFFFF"/>
                    </a:solidFill>
                  </a:tcPr>
                </a:tc>
              </a:tr>
              <a:tr h="384048">
                <a:tc>
                  <a:txBody>
                    <a:bodyPr/>
                    <a:lstStyle/>
                    <a:p>
                      <a:pPr algn="l"/>
                      <a:r>
                        <a:rPr sz="1050">
                          <a:solidFill>
                            <a:srgbClr val="334155"/>
                          </a:solidFill>
                          <a:latin typeface="Calibri"/>
                        </a:rPr>
                        <a:t>Control plane</a:t>
                      </a:r>
                    </a:p>
                  </a:txBody>
                  <a:tcPr anchor="ctr" marL="91440">
                    <a:solidFill>
                      <a:srgbClr val="F0F4F8"/>
                    </a:solidFill>
                  </a:tcPr>
                </a:tc>
                <a:tc>
                  <a:txBody>
                    <a:bodyPr/>
                    <a:lstStyle/>
                    <a:p>
                      <a:pPr algn="l"/>
                      <a:r>
                        <a:rPr sz="1050">
                          <a:solidFill>
                            <a:srgbClr val="334155"/>
                          </a:solidFill>
                          <a:latin typeface="Calibri"/>
                        </a:rPr>
                        <a:t>docker compose up -d --build on the VM</a:t>
                      </a:r>
                    </a:p>
                  </a:txBody>
                  <a:tcPr anchor="ctr" marL="91440">
                    <a:solidFill>
                      <a:srgbClr val="F0F4F8"/>
                    </a:solidFill>
                  </a:tcPr>
                </a:tc>
                <a:tc>
                  <a:txBody>
                    <a:bodyPr/>
                    <a:lstStyle/>
                    <a:p>
                      <a:pPr algn="l"/>
                      <a:r>
                        <a:rPr sz="1050">
                          <a:solidFill>
                            <a:srgbClr val="334155"/>
                          </a:solidFill>
                          <a:latin typeface="Calibri"/>
                        </a:rPr>
                        <a:t>Caddy terminates TLS; the API and broker sit behind it.</a:t>
                      </a:r>
                    </a:p>
                  </a:txBody>
                  <a:tcPr anchor="ctr" marL="91440" marR="91440">
                    <a:solidFill>
                      <a:srgbClr val="F0F4F8"/>
                    </a:solidFill>
                  </a:tcPr>
                </a:tc>
              </a:tr>
              <a:tr h="384048">
                <a:tc>
                  <a:txBody>
                    <a:bodyPr/>
                    <a:lstStyle/>
                    <a:p>
                      <a:pPr algn="l"/>
                      <a:r>
                        <a:rPr sz="1050">
                          <a:solidFill>
                            <a:srgbClr val="334155"/>
                          </a:solidFill>
                          <a:latin typeface="Calibri"/>
                        </a:rPr>
                        <a:t>Mobile</a:t>
                      </a:r>
                    </a:p>
                  </a:txBody>
                  <a:tcPr anchor="ctr" marL="91440">
                    <a:solidFill>
                      <a:srgbClr val="FFFFFF"/>
                    </a:solidFill>
                  </a:tcPr>
                </a:tc>
                <a:tc>
                  <a:txBody>
                    <a:bodyPr/>
                    <a:lstStyle/>
                    <a:p>
                      <a:pPr algn="l"/>
                      <a:r>
                        <a:rPr sz="1050">
                          <a:solidFill>
                            <a:srgbClr val="334155"/>
                          </a:solidFill>
                          <a:latin typeface="Calibri"/>
                        </a:rPr>
                        <a:t>node scripts/build-android.mjs --apk | --aab</a:t>
                      </a:r>
                    </a:p>
                  </a:txBody>
                  <a:tcPr anchor="ctr" marL="91440">
                    <a:solidFill>
                      <a:srgbClr val="FFFFFF"/>
                    </a:solidFill>
                  </a:tcPr>
                </a:tc>
                <a:tc>
                  <a:txBody>
                    <a:bodyPr/>
                    <a:lstStyle/>
                    <a:p>
                      <a:pPr algn="l"/>
                      <a:r>
                        <a:rPr sz="1050">
                          <a:solidFill>
                            <a:srgbClr val="334155"/>
                          </a:solidFill>
                          <a:latin typeface="Calibri"/>
                        </a:rPr>
                        <a:t>Signing is checked before and after the build, so a rejected upload costs seconds instead of a seven-minute build plus a Play round trip.</a:t>
                      </a:r>
                    </a:p>
                  </a:txBody>
                  <a:tcPr anchor="ctr" marL="91440" marR="91440">
                    <a:solidFill>
                      <a:srgbClr val="FFFFFF"/>
                    </a:solidFill>
                  </a:tcPr>
                </a:tc>
              </a:tr>
              <a:tr h="384048">
                <a:tc>
                  <a:txBody>
                    <a:bodyPr/>
                    <a:lstStyle/>
                    <a:p>
                      <a:pPr algn="l"/>
                      <a:r>
                        <a:rPr sz="1050">
                          <a:solidFill>
                            <a:srgbClr val="334155"/>
                          </a:solidFill>
                          <a:latin typeface="Calibri"/>
                        </a:rPr>
                        <a:t>Firmware</a:t>
                      </a:r>
                    </a:p>
                  </a:txBody>
                  <a:tcPr anchor="ctr" marL="91440">
                    <a:solidFill>
                      <a:srgbClr val="F0F4F8"/>
                    </a:solidFill>
                  </a:tcPr>
                </a:tc>
                <a:tc>
                  <a:txBody>
                    <a:bodyPr/>
                    <a:lstStyle/>
                    <a:p>
                      <a:pPr algn="l"/>
                      <a:r>
                        <a:rPr sz="1050">
                          <a:solidFill>
                            <a:srgbClr val="334155"/>
                          </a:solidFill>
                          <a:latin typeface="Calibri"/>
                        </a:rPr>
                        <a:t>python -m platformio run, then OTA broadcast</a:t>
                      </a:r>
                    </a:p>
                  </a:txBody>
                  <a:tcPr anchor="ctr" marL="91440">
                    <a:solidFill>
                      <a:srgbClr val="F0F4F8"/>
                    </a:solidFill>
                  </a:tcPr>
                </a:tc>
                <a:tc>
                  <a:txBody>
                    <a:bodyPr/>
                    <a:lstStyle/>
                    <a:p>
                      <a:pPr algn="l"/>
                      <a:r>
                        <a:rPr sz="1050">
                          <a:solidFill>
                            <a:srgbClr val="334155"/>
                          </a:solidFill>
                          <a:latin typeface="Calibri"/>
                        </a:rPr>
                        <a:t>The binary goes to public/fw/; the device is told where by MQTT.</a:t>
                      </a:r>
                    </a:p>
                  </a:txBody>
                  <a:tcPr anchor="ctr" marL="91440" marR="91440">
                    <a:solidFill>
                      <a:srgbClr val="F0F4F8"/>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A THREE-BEDROOM FLAT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The same switch, two ways to reach the light</a:t>
            </a:r>
          </a:p>
        </p:txBody>
      </p:sp>
      <p:sp>
        <p:nvSpPr>
          <p:cNvPr id="6" name="Rectangle 5"/>
          <p:cNvSpPr/>
          <p:nvPr/>
        </p:nvSpPr>
        <p:spPr>
          <a:xfrm>
            <a:off x="822960" y="1783080"/>
            <a:ext cx="2331720" cy="1417320"/>
          </a:xfrm>
          <a:prstGeom prst="rect">
            <a:avLst/>
          </a:prstGeom>
          <a:solidFill>
            <a:srgbClr val="F0F4F8"/>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1874519"/>
            <a:ext cx="2112263" cy="256032"/>
          </a:xfrm>
          <a:prstGeom prst="rect">
            <a:avLst/>
          </a:prstGeom>
          <a:noFill/>
        </p:spPr>
        <p:txBody>
          <a:bodyPr wrap="square" anchor="t">
            <a:spAutoFit/>
          </a:bodyPr>
          <a:lstStyle/>
          <a:p>
            <a:pPr algn="l">
              <a:lnSpc>
                <a:spcPct val="100000"/>
              </a:lnSpc>
            </a:pPr>
            <a:r>
              <a:rPr sz="1000" b="1">
                <a:solidFill>
                  <a:srgbClr val="0F1729"/>
                </a:solidFill>
                <a:latin typeface="Calibri"/>
              </a:rPr>
              <a:t>Hall</a:t>
            </a:r>
          </a:p>
        </p:txBody>
      </p:sp>
      <p:sp>
        <p:nvSpPr>
          <p:cNvPr id="8" name="Rectangle 7"/>
          <p:cNvSpPr/>
          <p:nvPr/>
        </p:nvSpPr>
        <p:spPr>
          <a:xfrm>
            <a:off x="932688" y="2240280"/>
            <a:ext cx="822960" cy="384048"/>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2304288"/>
            <a:ext cx="749808" cy="256032"/>
          </a:xfrm>
          <a:prstGeom prst="rect">
            <a:avLst/>
          </a:prstGeom>
          <a:noFill/>
        </p:spPr>
        <p:txBody>
          <a:bodyPr wrap="square" anchor="t">
            <a:spAutoFit/>
          </a:bodyPr>
          <a:lstStyle/>
          <a:p>
            <a:pPr algn="ctr">
              <a:lnSpc>
                <a:spcPct val="100000"/>
              </a:lnSpc>
            </a:pPr>
            <a:r>
              <a:rPr sz="800" b="0">
                <a:solidFill>
                  <a:srgbClr val="FFFFFF"/>
                </a:solidFill>
                <a:latin typeface="Calibri"/>
              </a:rPr>
              <a:t>board</a:t>
            </a:r>
          </a:p>
        </p:txBody>
      </p:sp>
      <p:sp>
        <p:nvSpPr>
          <p:cNvPr id="10" name="TextBox 9"/>
          <p:cNvSpPr txBox="1"/>
          <p:nvPr/>
        </p:nvSpPr>
        <p:spPr>
          <a:xfrm>
            <a:off x="1828800" y="2286000"/>
            <a:ext cx="1234439" cy="548640"/>
          </a:xfrm>
          <a:prstGeom prst="rect">
            <a:avLst/>
          </a:prstGeom>
          <a:noFill/>
        </p:spPr>
        <p:txBody>
          <a:bodyPr wrap="square" anchor="t">
            <a:spAutoFit/>
          </a:bodyPr>
          <a:lstStyle/>
          <a:p>
            <a:pPr algn="l">
              <a:lnSpc>
                <a:spcPct val="100000"/>
              </a:lnSpc>
            </a:pPr>
            <a:r>
              <a:rPr sz="800" b="0">
                <a:solidFill>
                  <a:srgbClr val="64748B"/>
                </a:solidFill>
                <a:latin typeface="Calibri"/>
              </a:rPr>
              <a:t>lights · fans</a:t>
            </a:r>
          </a:p>
        </p:txBody>
      </p:sp>
      <p:sp>
        <p:nvSpPr>
          <p:cNvPr id="11" name="Rectangle 10"/>
          <p:cNvSpPr/>
          <p:nvPr/>
        </p:nvSpPr>
        <p:spPr>
          <a:xfrm>
            <a:off x="3291840" y="1783080"/>
            <a:ext cx="1874519" cy="1417320"/>
          </a:xfrm>
          <a:prstGeom prst="rect">
            <a:avLst/>
          </a:prstGeom>
          <a:solidFill>
            <a:srgbClr val="F0F4F8"/>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01568" y="1874519"/>
            <a:ext cx="1655063" cy="256032"/>
          </a:xfrm>
          <a:prstGeom prst="rect">
            <a:avLst/>
          </a:prstGeom>
          <a:noFill/>
        </p:spPr>
        <p:txBody>
          <a:bodyPr wrap="square" anchor="t">
            <a:spAutoFit/>
          </a:bodyPr>
          <a:lstStyle/>
          <a:p>
            <a:pPr algn="l">
              <a:lnSpc>
                <a:spcPct val="100000"/>
              </a:lnSpc>
            </a:pPr>
            <a:r>
              <a:rPr sz="1000" b="1">
                <a:solidFill>
                  <a:srgbClr val="0F1729"/>
                </a:solidFill>
                <a:latin typeface="Calibri"/>
              </a:rPr>
              <a:t>Bedroom 1</a:t>
            </a:r>
          </a:p>
        </p:txBody>
      </p:sp>
      <p:sp>
        <p:nvSpPr>
          <p:cNvPr id="13" name="Rectangle 12"/>
          <p:cNvSpPr/>
          <p:nvPr/>
        </p:nvSpPr>
        <p:spPr>
          <a:xfrm>
            <a:off x="3401568" y="2240280"/>
            <a:ext cx="822960" cy="384048"/>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38144" y="2304288"/>
            <a:ext cx="749808" cy="256032"/>
          </a:xfrm>
          <a:prstGeom prst="rect">
            <a:avLst/>
          </a:prstGeom>
          <a:noFill/>
        </p:spPr>
        <p:txBody>
          <a:bodyPr wrap="square" anchor="t">
            <a:spAutoFit/>
          </a:bodyPr>
          <a:lstStyle/>
          <a:p>
            <a:pPr algn="ctr">
              <a:lnSpc>
                <a:spcPct val="100000"/>
              </a:lnSpc>
            </a:pPr>
            <a:r>
              <a:rPr sz="800" b="0">
                <a:solidFill>
                  <a:srgbClr val="FFFFFF"/>
                </a:solidFill>
                <a:latin typeface="Calibri"/>
              </a:rPr>
              <a:t>board</a:t>
            </a:r>
          </a:p>
        </p:txBody>
      </p:sp>
      <p:sp>
        <p:nvSpPr>
          <p:cNvPr id="15" name="TextBox 14"/>
          <p:cNvSpPr txBox="1"/>
          <p:nvPr/>
        </p:nvSpPr>
        <p:spPr>
          <a:xfrm>
            <a:off x="4297680" y="2286000"/>
            <a:ext cx="777239" cy="548640"/>
          </a:xfrm>
          <a:prstGeom prst="rect">
            <a:avLst/>
          </a:prstGeom>
          <a:noFill/>
        </p:spPr>
        <p:txBody>
          <a:bodyPr wrap="square" anchor="t">
            <a:spAutoFit/>
          </a:bodyPr>
          <a:lstStyle/>
          <a:p>
            <a:pPr algn="l">
              <a:lnSpc>
                <a:spcPct val="100000"/>
              </a:lnSpc>
            </a:pPr>
            <a:r>
              <a:rPr sz="800" b="0">
                <a:solidFill>
                  <a:srgbClr val="64748B"/>
                </a:solidFill>
                <a:latin typeface="Calibri"/>
              </a:rPr>
              <a:t>lights · fans</a:t>
            </a:r>
          </a:p>
        </p:txBody>
      </p:sp>
      <p:sp>
        <p:nvSpPr>
          <p:cNvPr id="16" name="Rectangle 15"/>
          <p:cNvSpPr/>
          <p:nvPr/>
        </p:nvSpPr>
        <p:spPr>
          <a:xfrm>
            <a:off x="5303520" y="1783080"/>
            <a:ext cx="1874519" cy="1417320"/>
          </a:xfrm>
          <a:prstGeom prst="rect">
            <a:avLst/>
          </a:prstGeom>
          <a:solidFill>
            <a:srgbClr val="F0F4F8"/>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3248" y="1874519"/>
            <a:ext cx="1655063" cy="256032"/>
          </a:xfrm>
          <a:prstGeom prst="rect">
            <a:avLst/>
          </a:prstGeom>
          <a:noFill/>
        </p:spPr>
        <p:txBody>
          <a:bodyPr wrap="square" anchor="t">
            <a:spAutoFit/>
          </a:bodyPr>
          <a:lstStyle/>
          <a:p>
            <a:pPr algn="l">
              <a:lnSpc>
                <a:spcPct val="100000"/>
              </a:lnSpc>
            </a:pPr>
            <a:r>
              <a:rPr sz="1000" b="1">
                <a:solidFill>
                  <a:srgbClr val="0F1729"/>
                </a:solidFill>
                <a:latin typeface="Calibri"/>
              </a:rPr>
              <a:t>Bedroom 2</a:t>
            </a:r>
          </a:p>
        </p:txBody>
      </p:sp>
      <p:sp>
        <p:nvSpPr>
          <p:cNvPr id="18" name="Rectangle 17"/>
          <p:cNvSpPr/>
          <p:nvPr/>
        </p:nvSpPr>
        <p:spPr>
          <a:xfrm>
            <a:off x="5413248" y="2240280"/>
            <a:ext cx="822960" cy="384048"/>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49824" y="2304288"/>
            <a:ext cx="749808" cy="256032"/>
          </a:xfrm>
          <a:prstGeom prst="rect">
            <a:avLst/>
          </a:prstGeom>
          <a:noFill/>
        </p:spPr>
        <p:txBody>
          <a:bodyPr wrap="square" anchor="t">
            <a:spAutoFit/>
          </a:bodyPr>
          <a:lstStyle/>
          <a:p>
            <a:pPr algn="ctr">
              <a:lnSpc>
                <a:spcPct val="100000"/>
              </a:lnSpc>
            </a:pPr>
            <a:r>
              <a:rPr sz="800" b="0">
                <a:solidFill>
                  <a:srgbClr val="FFFFFF"/>
                </a:solidFill>
                <a:latin typeface="Calibri"/>
              </a:rPr>
              <a:t>board</a:t>
            </a:r>
          </a:p>
        </p:txBody>
      </p:sp>
      <p:sp>
        <p:nvSpPr>
          <p:cNvPr id="20" name="TextBox 19"/>
          <p:cNvSpPr txBox="1"/>
          <p:nvPr/>
        </p:nvSpPr>
        <p:spPr>
          <a:xfrm>
            <a:off x="6309360" y="2286000"/>
            <a:ext cx="777239" cy="548640"/>
          </a:xfrm>
          <a:prstGeom prst="rect">
            <a:avLst/>
          </a:prstGeom>
          <a:noFill/>
        </p:spPr>
        <p:txBody>
          <a:bodyPr wrap="square" anchor="t">
            <a:spAutoFit/>
          </a:bodyPr>
          <a:lstStyle/>
          <a:p>
            <a:pPr algn="l">
              <a:lnSpc>
                <a:spcPct val="100000"/>
              </a:lnSpc>
            </a:pPr>
            <a:r>
              <a:rPr sz="800" b="0">
                <a:solidFill>
                  <a:srgbClr val="64748B"/>
                </a:solidFill>
                <a:latin typeface="Calibri"/>
              </a:rPr>
              <a:t>lights · fans</a:t>
            </a:r>
          </a:p>
        </p:txBody>
      </p:sp>
      <p:sp>
        <p:nvSpPr>
          <p:cNvPr id="21" name="Rectangle 20"/>
          <p:cNvSpPr/>
          <p:nvPr/>
        </p:nvSpPr>
        <p:spPr>
          <a:xfrm>
            <a:off x="7315200" y="1783080"/>
            <a:ext cx="1874519" cy="1417320"/>
          </a:xfrm>
          <a:prstGeom prst="rect">
            <a:avLst/>
          </a:prstGeom>
          <a:solidFill>
            <a:srgbClr val="F0F4F8"/>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927" y="1874519"/>
            <a:ext cx="1655063" cy="256032"/>
          </a:xfrm>
          <a:prstGeom prst="rect">
            <a:avLst/>
          </a:prstGeom>
          <a:noFill/>
        </p:spPr>
        <p:txBody>
          <a:bodyPr wrap="square" anchor="t">
            <a:spAutoFit/>
          </a:bodyPr>
          <a:lstStyle/>
          <a:p>
            <a:pPr algn="l">
              <a:lnSpc>
                <a:spcPct val="100000"/>
              </a:lnSpc>
            </a:pPr>
            <a:r>
              <a:rPr sz="1000" b="1">
                <a:solidFill>
                  <a:srgbClr val="0F1729"/>
                </a:solidFill>
                <a:latin typeface="Calibri"/>
              </a:rPr>
              <a:t>Bedroom 3</a:t>
            </a:r>
          </a:p>
        </p:txBody>
      </p:sp>
      <p:sp>
        <p:nvSpPr>
          <p:cNvPr id="23" name="Rectangle 22"/>
          <p:cNvSpPr/>
          <p:nvPr/>
        </p:nvSpPr>
        <p:spPr>
          <a:xfrm>
            <a:off x="7424927" y="2240280"/>
            <a:ext cx="822960" cy="384048"/>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61504" y="2304288"/>
            <a:ext cx="749808" cy="256032"/>
          </a:xfrm>
          <a:prstGeom prst="rect">
            <a:avLst/>
          </a:prstGeom>
          <a:noFill/>
        </p:spPr>
        <p:txBody>
          <a:bodyPr wrap="square" anchor="t">
            <a:spAutoFit/>
          </a:bodyPr>
          <a:lstStyle/>
          <a:p>
            <a:pPr algn="ctr">
              <a:lnSpc>
                <a:spcPct val="100000"/>
              </a:lnSpc>
            </a:pPr>
            <a:r>
              <a:rPr sz="800" b="0">
                <a:solidFill>
                  <a:srgbClr val="FFFFFF"/>
                </a:solidFill>
                <a:latin typeface="Calibri"/>
              </a:rPr>
              <a:t>board</a:t>
            </a:r>
          </a:p>
        </p:txBody>
      </p:sp>
      <p:sp>
        <p:nvSpPr>
          <p:cNvPr id="25" name="TextBox 24"/>
          <p:cNvSpPr txBox="1"/>
          <p:nvPr/>
        </p:nvSpPr>
        <p:spPr>
          <a:xfrm>
            <a:off x="8321040" y="2286000"/>
            <a:ext cx="777239" cy="548640"/>
          </a:xfrm>
          <a:prstGeom prst="rect">
            <a:avLst/>
          </a:prstGeom>
          <a:noFill/>
        </p:spPr>
        <p:txBody>
          <a:bodyPr wrap="square" anchor="t">
            <a:spAutoFit/>
          </a:bodyPr>
          <a:lstStyle/>
          <a:p>
            <a:pPr algn="l">
              <a:lnSpc>
                <a:spcPct val="100000"/>
              </a:lnSpc>
            </a:pPr>
            <a:r>
              <a:rPr sz="800" b="0">
                <a:solidFill>
                  <a:srgbClr val="64748B"/>
                </a:solidFill>
                <a:latin typeface="Calibri"/>
              </a:rPr>
              <a:t>lights · fans</a:t>
            </a:r>
          </a:p>
        </p:txBody>
      </p:sp>
      <p:sp>
        <p:nvSpPr>
          <p:cNvPr id="26" name="Rectangle 25"/>
          <p:cNvSpPr/>
          <p:nvPr/>
        </p:nvSpPr>
        <p:spPr>
          <a:xfrm>
            <a:off x="9326880" y="1783080"/>
            <a:ext cx="2057400" cy="1417320"/>
          </a:xfrm>
          <a:prstGeom prst="rect">
            <a:avLst/>
          </a:prstGeom>
          <a:solidFill>
            <a:srgbClr val="F0F4F8"/>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436607" y="1874519"/>
            <a:ext cx="1837943" cy="256032"/>
          </a:xfrm>
          <a:prstGeom prst="rect">
            <a:avLst/>
          </a:prstGeom>
          <a:noFill/>
        </p:spPr>
        <p:txBody>
          <a:bodyPr wrap="square" anchor="t">
            <a:spAutoFit/>
          </a:bodyPr>
          <a:lstStyle/>
          <a:p>
            <a:pPr algn="l">
              <a:lnSpc>
                <a:spcPct val="100000"/>
              </a:lnSpc>
            </a:pPr>
            <a:r>
              <a:rPr sz="1000" b="1">
                <a:solidFill>
                  <a:srgbClr val="0F1729"/>
                </a:solidFill>
                <a:latin typeface="Calibri"/>
              </a:rPr>
              <a:t>Kitchen</a:t>
            </a:r>
          </a:p>
        </p:txBody>
      </p:sp>
      <p:sp>
        <p:nvSpPr>
          <p:cNvPr id="28" name="Rectangle 27"/>
          <p:cNvSpPr/>
          <p:nvPr/>
        </p:nvSpPr>
        <p:spPr>
          <a:xfrm>
            <a:off x="9436607" y="2240280"/>
            <a:ext cx="822960" cy="384048"/>
          </a:xfrm>
          <a:prstGeom prst="rect">
            <a:avLst/>
          </a:prstGeom>
          <a:solidFill>
            <a:srgbClr val="0A0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473184" y="2304288"/>
            <a:ext cx="749808" cy="256032"/>
          </a:xfrm>
          <a:prstGeom prst="rect">
            <a:avLst/>
          </a:prstGeom>
          <a:noFill/>
        </p:spPr>
        <p:txBody>
          <a:bodyPr wrap="square" anchor="t">
            <a:spAutoFit/>
          </a:bodyPr>
          <a:lstStyle/>
          <a:p>
            <a:pPr algn="ctr">
              <a:lnSpc>
                <a:spcPct val="100000"/>
              </a:lnSpc>
            </a:pPr>
            <a:r>
              <a:rPr sz="800" b="0">
                <a:solidFill>
                  <a:srgbClr val="FFFFFF"/>
                </a:solidFill>
                <a:latin typeface="Calibri"/>
              </a:rPr>
              <a:t>board</a:t>
            </a:r>
          </a:p>
        </p:txBody>
      </p:sp>
      <p:sp>
        <p:nvSpPr>
          <p:cNvPr id="30" name="TextBox 29"/>
          <p:cNvSpPr txBox="1"/>
          <p:nvPr/>
        </p:nvSpPr>
        <p:spPr>
          <a:xfrm>
            <a:off x="10332719" y="2286000"/>
            <a:ext cx="960120" cy="548640"/>
          </a:xfrm>
          <a:prstGeom prst="rect">
            <a:avLst/>
          </a:prstGeom>
          <a:noFill/>
        </p:spPr>
        <p:txBody>
          <a:bodyPr wrap="square" anchor="t">
            <a:spAutoFit/>
          </a:bodyPr>
          <a:lstStyle/>
          <a:p>
            <a:pPr algn="l">
              <a:lnSpc>
                <a:spcPct val="100000"/>
              </a:lnSpc>
            </a:pPr>
            <a:r>
              <a:rPr sz="800" b="0">
                <a:solidFill>
                  <a:srgbClr val="64748B"/>
                </a:solidFill>
                <a:latin typeface="Calibri"/>
              </a:rPr>
              <a:t>lights · fans</a:t>
            </a:r>
          </a:p>
        </p:txBody>
      </p:sp>
      <p:cxnSp>
        <p:nvCxnSpPr>
          <p:cNvPr id="31" name="Connector 30"/>
          <p:cNvCxnSpPr/>
          <p:nvPr/>
        </p:nvCxnSpPr>
        <p:spPr>
          <a:xfrm>
            <a:off x="1234440" y="2624328"/>
            <a:ext cx="0" cy="758952"/>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34440" y="3383280"/>
            <a:ext cx="8412480" cy="0"/>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813048" y="2624328"/>
            <a:ext cx="0" cy="758952"/>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824728" y="2624328"/>
            <a:ext cx="0" cy="758952"/>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836408" y="2624328"/>
            <a:ext cx="0" cy="758952"/>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848088" y="2624328"/>
            <a:ext cx="0" cy="758952"/>
          </a:xfrm>
          <a:prstGeom prst="line">
            <a:avLst/>
          </a:prstGeom>
          <a:ln w="25400">
            <a:solidFill>
              <a:srgbClr val="06B6D4"/>
            </a:solidFill>
            <a:prstDash val="dash"/>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572000" y="3493008"/>
            <a:ext cx="2926080"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572000" y="3520440"/>
            <a:ext cx="2926080" cy="201168"/>
          </a:xfrm>
          <a:prstGeom prst="rect">
            <a:avLst/>
          </a:prstGeom>
          <a:noFill/>
        </p:spPr>
        <p:txBody>
          <a:bodyPr wrap="square" anchor="t">
            <a:spAutoFit/>
          </a:bodyPr>
          <a:lstStyle/>
          <a:p>
            <a:pPr algn="ctr">
              <a:lnSpc>
                <a:spcPct val="100000"/>
              </a:lnSpc>
            </a:pPr>
            <a:r>
              <a:rPr sz="850" b="1">
                <a:solidFill>
                  <a:srgbClr val="0A0F1A"/>
                </a:solidFill>
                <a:latin typeface="Calibri"/>
              </a:rPr>
              <a:t>ESP-NOW · stays in the building</a:t>
            </a:r>
          </a:p>
        </p:txBody>
      </p:sp>
      <p:sp>
        <p:nvSpPr>
          <p:cNvPr id="39" name="Rectangle 38"/>
          <p:cNvSpPr/>
          <p:nvPr/>
        </p:nvSpPr>
        <p:spPr>
          <a:xfrm>
            <a:off x="822960" y="4069080"/>
            <a:ext cx="219456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22960" y="4069080"/>
            <a:ext cx="219456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14400" y="4215384"/>
            <a:ext cx="2011679" cy="292608"/>
          </a:xfrm>
          <a:prstGeom prst="rect">
            <a:avLst/>
          </a:prstGeom>
          <a:noFill/>
        </p:spPr>
        <p:txBody>
          <a:bodyPr wrap="square" anchor="t">
            <a:spAutoFit/>
          </a:bodyPr>
          <a:lstStyle/>
          <a:p>
            <a:pPr algn="l">
              <a:lnSpc>
                <a:spcPct val="100000"/>
              </a:lnSpc>
            </a:pPr>
            <a:r>
              <a:rPr sz="1000" b="1">
                <a:solidFill>
                  <a:srgbClr val="0F1729"/>
                </a:solidFill>
                <a:latin typeface="Calibri"/>
              </a:rPr>
              <a:t>Router</a:t>
            </a:r>
          </a:p>
        </p:txBody>
      </p:sp>
      <p:sp>
        <p:nvSpPr>
          <p:cNvPr id="42" name="Rectangle 41"/>
          <p:cNvSpPr/>
          <p:nvPr/>
        </p:nvSpPr>
        <p:spPr>
          <a:xfrm>
            <a:off x="3291840" y="4069080"/>
            <a:ext cx="219456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3291840" y="4069080"/>
            <a:ext cx="219456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3383280" y="4215384"/>
            <a:ext cx="2011679" cy="292608"/>
          </a:xfrm>
          <a:prstGeom prst="rect">
            <a:avLst/>
          </a:prstGeom>
          <a:noFill/>
        </p:spPr>
        <p:txBody>
          <a:bodyPr wrap="square" anchor="t">
            <a:spAutoFit/>
          </a:bodyPr>
          <a:lstStyle/>
          <a:p>
            <a:pPr algn="l">
              <a:lnSpc>
                <a:spcPct val="100000"/>
              </a:lnSpc>
            </a:pPr>
            <a:r>
              <a:rPr sz="1000" b="1">
                <a:solidFill>
                  <a:srgbClr val="0F1729"/>
                </a:solidFill>
                <a:latin typeface="Calibri"/>
              </a:rPr>
              <a:t>Internet</a:t>
            </a:r>
          </a:p>
        </p:txBody>
      </p:sp>
      <p:sp>
        <p:nvSpPr>
          <p:cNvPr id="45" name="Rectangle 44"/>
          <p:cNvSpPr/>
          <p:nvPr/>
        </p:nvSpPr>
        <p:spPr>
          <a:xfrm>
            <a:off x="5760720" y="4069080"/>
            <a:ext cx="219456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5760720" y="4069080"/>
            <a:ext cx="219456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852159" y="4215384"/>
            <a:ext cx="2011679" cy="292608"/>
          </a:xfrm>
          <a:prstGeom prst="rect">
            <a:avLst/>
          </a:prstGeom>
          <a:noFill/>
        </p:spPr>
        <p:txBody>
          <a:bodyPr wrap="square" anchor="t">
            <a:spAutoFit/>
          </a:bodyPr>
          <a:lstStyle/>
          <a:p>
            <a:pPr algn="l">
              <a:lnSpc>
                <a:spcPct val="100000"/>
              </a:lnSpc>
            </a:pPr>
            <a:r>
              <a:rPr sz="1000" b="1">
                <a:solidFill>
                  <a:srgbClr val="0F1729"/>
                </a:solidFill>
                <a:latin typeface="Calibri"/>
              </a:rPr>
              <a:t>Broker</a:t>
            </a:r>
          </a:p>
        </p:txBody>
      </p:sp>
      <p:sp>
        <p:nvSpPr>
          <p:cNvPr id="48" name="Rectangle 47"/>
          <p:cNvSpPr/>
          <p:nvPr/>
        </p:nvSpPr>
        <p:spPr>
          <a:xfrm>
            <a:off x="8229600" y="4069080"/>
            <a:ext cx="3154680" cy="566928"/>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229600" y="4069080"/>
            <a:ext cx="3154680" cy="411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321040" y="4215384"/>
            <a:ext cx="2971800" cy="292608"/>
          </a:xfrm>
          <a:prstGeom prst="rect">
            <a:avLst/>
          </a:prstGeom>
          <a:noFill/>
        </p:spPr>
        <p:txBody>
          <a:bodyPr wrap="square" anchor="t">
            <a:spAutoFit/>
          </a:bodyPr>
          <a:lstStyle/>
          <a:p>
            <a:pPr algn="l">
              <a:lnSpc>
                <a:spcPct val="100000"/>
              </a:lnSpc>
            </a:pPr>
            <a:r>
              <a:rPr sz="1000" b="1">
                <a:solidFill>
                  <a:srgbClr val="0F1729"/>
                </a:solidFill>
                <a:latin typeface="Calibri"/>
              </a:rPr>
              <a:t>back down to the next room</a:t>
            </a:r>
          </a:p>
        </p:txBody>
      </p:sp>
      <p:cxnSp>
        <p:nvCxnSpPr>
          <p:cNvPr id="51" name="Connector 50"/>
          <p:cNvCxnSpPr/>
          <p:nvPr/>
        </p:nvCxnSpPr>
        <p:spPr>
          <a:xfrm>
            <a:off x="3017520" y="4352544"/>
            <a:ext cx="274319"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86400" y="4352544"/>
            <a:ext cx="274320"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955279" y="4352544"/>
            <a:ext cx="274321" cy="0"/>
          </a:xfrm>
          <a:prstGeom prst="line">
            <a:avLst/>
          </a:prstGeom>
          <a:ln w="19050">
            <a:solidFill>
              <a:srgbClr val="334155"/>
            </a:solidFill>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4206240" y="4782312"/>
            <a:ext cx="3657600" cy="237744"/>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206240" y="4809744"/>
            <a:ext cx="3657600" cy="201168"/>
          </a:xfrm>
          <a:prstGeom prst="rect">
            <a:avLst/>
          </a:prstGeom>
          <a:noFill/>
        </p:spPr>
        <p:txBody>
          <a:bodyPr wrap="square" anchor="t">
            <a:spAutoFit/>
          </a:bodyPr>
          <a:lstStyle/>
          <a:p>
            <a:pPr algn="ctr">
              <a:lnSpc>
                <a:spcPct val="100000"/>
              </a:lnSpc>
            </a:pPr>
            <a:r>
              <a:rPr sz="850" b="1">
                <a:solidFill>
                  <a:srgbClr val="FFFFFF"/>
                </a:solidFill>
                <a:latin typeface="Calibri"/>
              </a:rPr>
              <a:t>the same tap, before the local bus</a:t>
            </a:r>
          </a:p>
        </p:txBody>
      </p:sp>
      <p:sp>
        <p:nvSpPr>
          <p:cNvPr id="56" name="TextBox 55"/>
          <p:cNvSpPr txBox="1"/>
          <p:nvPr/>
        </p:nvSpPr>
        <p:spPr>
          <a:xfrm>
            <a:off x="822960" y="5166360"/>
            <a:ext cx="10607040" cy="457200"/>
          </a:xfrm>
          <a:prstGeom prst="rect">
            <a:avLst/>
          </a:prstGeom>
          <a:noFill/>
        </p:spPr>
        <p:txBody>
          <a:bodyPr wrap="square" anchor="t">
            <a:spAutoFit/>
          </a:bodyPr>
          <a:lstStyle/>
          <a:p>
            <a:pPr algn="l">
              <a:lnSpc>
                <a:spcPct val="100000"/>
              </a:lnSpc>
            </a:pPr>
            <a:r>
              <a:rPr sz="1000" b="0">
                <a:solidFill>
                  <a:srgbClr val="64748B"/>
                </a:solidFill>
                <a:latin typeface="Calibri"/>
              </a:rPr>
              <a:t>Two boards two metres apart, and the command left the country and came back. That path is still there and still authoritative — it is simply no longer the only one, and no longer what a light switch waits for.</a:t>
            </a:r>
          </a:p>
        </p:txBody>
      </p:sp>
      <p:sp>
        <p:nvSpPr>
          <p:cNvPr id="57" name="TextBox 5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58" name="TextBox 5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THE FLEET</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24 device types ship from firmware/</a:t>
            </a:r>
          </a:p>
        </p:txBody>
      </p:sp>
      <p:pic>
        <p:nvPicPr>
          <p:cNvPr id="6" name="Picture 5" descr="product-touchboard-8.png"/>
          <p:cNvPicPr>
            <a:picLocks noChangeAspect="1"/>
          </p:cNvPicPr>
          <p:nvPr/>
        </p:nvPicPr>
        <p:blipFill>
          <a:blip r:embed="rId2"/>
          <a:stretch>
            <a:fillRect/>
          </a:stretch>
        </p:blipFill>
        <p:spPr>
          <a:xfrm>
            <a:off x="777240" y="1783080"/>
            <a:ext cx="1691640" cy="1691640"/>
          </a:xfrm>
          <a:prstGeom prst="rect">
            <a:avLst/>
          </a:prstGeom>
        </p:spPr>
      </p:pic>
      <p:sp>
        <p:nvSpPr>
          <p:cNvPr id="7" name="TextBox 6"/>
          <p:cNvSpPr txBox="1"/>
          <p:nvPr/>
        </p:nvSpPr>
        <p:spPr>
          <a:xfrm>
            <a:off x="777240" y="3547872"/>
            <a:ext cx="1691640" cy="256032"/>
          </a:xfrm>
          <a:prstGeom prst="rect">
            <a:avLst/>
          </a:prstGeom>
          <a:noFill/>
        </p:spPr>
        <p:txBody>
          <a:bodyPr wrap="square" anchor="t">
            <a:spAutoFit/>
          </a:bodyPr>
          <a:lstStyle/>
          <a:p>
            <a:pPr algn="ctr">
              <a:lnSpc>
                <a:spcPct val="100000"/>
              </a:lnSpc>
            </a:pPr>
            <a:r>
              <a:rPr sz="950" b="1">
                <a:solidFill>
                  <a:srgbClr val="0F1729"/>
                </a:solidFill>
                <a:latin typeface="Calibri"/>
              </a:rPr>
              <a:t>Touch Board 8</a:t>
            </a:r>
          </a:p>
        </p:txBody>
      </p:sp>
      <p:pic>
        <p:nvPicPr>
          <p:cNvPr id="8" name="Picture 7" descr="product-touchboard.png"/>
          <p:cNvPicPr>
            <a:picLocks noChangeAspect="1"/>
          </p:cNvPicPr>
          <p:nvPr/>
        </p:nvPicPr>
        <p:blipFill>
          <a:blip r:embed="rId3"/>
          <a:stretch>
            <a:fillRect/>
          </a:stretch>
        </p:blipFill>
        <p:spPr>
          <a:xfrm>
            <a:off x="2560320" y="1783080"/>
            <a:ext cx="1691640" cy="1691640"/>
          </a:xfrm>
          <a:prstGeom prst="rect">
            <a:avLst/>
          </a:prstGeom>
        </p:spPr>
      </p:pic>
      <p:sp>
        <p:nvSpPr>
          <p:cNvPr id="9" name="TextBox 8"/>
          <p:cNvSpPr txBox="1"/>
          <p:nvPr/>
        </p:nvSpPr>
        <p:spPr>
          <a:xfrm>
            <a:off x="2560320" y="3547872"/>
            <a:ext cx="1691640" cy="256032"/>
          </a:xfrm>
          <a:prstGeom prst="rect">
            <a:avLst/>
          </a:prstGeom>
          <a:noFill/>
        </p:spPr>
        <p:txBody>
          <a:bodyPr wrap="square" anchor="t">
            <a:spAutoFit/>
          </a:bodyPr>
          <a:lstStyle/>
          <a:p>
            <a:pPr algn="ctr">
              <a:lnSpc>
                <a:spcPct val="100000"/>
              </a:lnSpc>
            </a:pPr>
            <a:r>
              <a:rPr sz="950" b="1">
                <a:solidFill>
                  <a:srgbClr val="0F1729"/>
                </a:solidFill>
                <a:latin typeface="Calibri"/>
              </a:rPr>
              <a:t>Touch Board</a:t>
            </a:r>
          </a:p>
        </p:txBody>
      </p:sp>
      <p:pic>
        <p:nvPicPr>
          <p:cNvPr id="10" name="Picture 9" descr="product-home-hub.png"/>
          <p:cNvPicPr>
            <a:picLocks noChangeAspect="1"/>
          </p:cNvPicPr>
          <p:nvPr/>
        </p:nvPicPr>
        <p:blipFill>
          <a:blip r:embed="rId4"/>
          <a:stretch>
            <a:fillRect/>
          </a:stretch>
        </p:blipFill>
        <p:spPr>
          <a:xfrm>
            <a:off x="4343400" y="1783080"/>
            <a:ext cx="1691640" cy="1691640"/>
          </a:xfrm>
          <a:prstGeom prst="rect">
            <a:avLst/>
          </a:prstGeom>
        </p:spPr>
      </p:pic>
      <p:sp>
        <p:nvSpPr>
          <p:cNvPr id="11" name="TextBox 10"/>
          <p:cNvSpPr txBox="1"/>
          <p:nvPr/>
        </p:nvSpPr>
        <p:spPr>
          <a:xfrm>
            <a:off x="4343400" y="3547872"/>
            <a:ext cx="1691640" cy="256032"/>
          </a:xfrm>
          <a:prstGeom prst="rect">
            <a:avLst/>
          </a:prstGeom>
          <a:noFill/>
        </p:spPr>
        <p:txBody>
          <a:bodyPr wrap="square" anchor="t">
            <a:spAutoFit/>
          </a:bodyPr>
          <a:lstStyle/>
          <a:p>
            <a:pPr algn="ctr">
              <a:lnSpc>
                <a:spcPct val="100000"/>
              </a:lnSpc>
            </a:pPr>
            <a:r>
              <a:rPr sz="950" b="1">
                <a:solidFill>
                  <a:srgbClr val="0F1729"/>
                </a:solidFill>
                <a:latin typeface="Calibri"/>
              </a:rPr>
              <a:t>Home Hub</a:t>
            </a:r>
          </a:p>
        </p:txBody>
      </p:sp>
      <p:pic>
        <p:nvPicPr>
          <p:cNvPr id="12" name="Picture 11" descr="product-camera.png"/>
          <p:cNvPicPr>
            <a:picLocks noChangeAspect="1"/>
          </p:cNvPicPr>
          <p:nvPr/>
        </p:nvPicPr>
        <p:blipFill>
          <a:blip r:embed="rId5"/>
          <a:stretch>
            <a:fillRect/>
          </a:stretch>
        </p:blipFill>
        <p:spPr>
          <a:xfrm>
            <a:off x="6126480" y="1783080"/>
            <a:ext cx="1691640" cy="1691640"/>
          </a:xfrm>
          <a:prstGeom prst="rect">
            <a:avLst/>
          </a:prstGeom>
        </p:spPr>
      </p:pic>
      <p:sp>
        <p:nvSpPr>
          <p:cNvPr id="13" name="TextBox 12"/>
          <p:cNvSpPr txBox="1"/>
          <p:nvPr/>
        </p:nvSpPr>
        <p:spPr>
          <a:xfrm>
            <a:off x="6126480" y="3547872"/>
            <a:ext cx="1691640" cy="256032"/>
          </a:xfrm>
          <a:prstGeom prst="rect">
            <a:avLst/>
          </a:prstGeom>
          <a:noFill/>
        </p:spPr>
        <p:txBody>
          <a:bodyPr wrap="square" anchor="t">
            <a:spAutoFit/>
          </a:bodyPr>
          <a:lstStyle/>
          <a:p>
            <a:pPr algn="ctr">
              <a:lnSpc>
                <a:spcPct val="100000"/>
              </a:lnSpc>
            </a:pPr>
            <a:r>
              <a:rPr sz="950" b="1">
                <a:solidFill>
                  <a:srgbClr val="0F1729"/>
                </a:solidFill>
                <a:latin typeface="Calibri"/>
              </a:rPr>
              <a:t>Camera</a:t>
            </a:r>
          </a:p>
        </p:txBody>
      </p:sp>
      <p:pic>
        <p:nvPicPr>
          <p:cNvPr id="14" name="Picture 13" descr="product-sentinel.png"/>
          <p:cNvPicPr>
            <a:picLocks noChangeAspect="1"/>
          </p:cNvPicPr>
          <p:nvPr/>
        </p:nvPicPr>
        <p:blipFill>
          <a:blip r:embed="rId6"/>
          <a:stretch>
            <a:fillRect/>
          </a:stretch>
        </p:blipFill>
        <p:spPr>
          <a:xfrm>
            <a:off x="7909560" y="1783080"/>
            <a:ext cx="1691640" cy="1691640"/>
          </a:xfrm>
          <a:prstGeom prst="rect">
            <a:avLst/>
          </a:prstGeom>
        </p:spPr>
      </p:pic>
      <p:sp>
        <p:nvSpPr>
          <p:cNvPr id="15" name="TextBox 14"/>
          <p:cNvSpPr txBox="1"/>
          <p:nvPr/>
        </p:nvSpPr>
        <p:spPr>
          <a:xfrm>
            <a:off x="7909560" y="3547872"/>
            <a:ext cx="1691640" cy="256032"/>
          </a:xfrm>
          <a:prstGeom prst="rect">
            <a:avLst/>
          </a:prstGeom>
          <a:noFill/>
        </p:spPr>
        <p:txBody>
          <a:bodyPr wrap="square" anchor="t">
            <a:spAutoFit/>
          </a:bodyPr>
          <a:lstStyle/>
          <a:p>
            <a:pPr algn="ctr">
              <a:lnSpc>
                <a:spcPct val="100000"/>
              </a:lnSpc>
            </a:pPr>
            <a:r>
              <a:rPr sz="950" b="1">
                <a:solidFill>
                  <a:srgbClr val="0F1729"/>
                </a:solidFill>
                <a:latin typeface="Calibri"/>
              </a:rPr>
              <a:t>Sentinel</a:t>
            </a:r>
          </a:p>
        </p:txBody>
      </p:sp>
      <p:pic>
        <p:nvPicPr>
          <p:cNvPr id="16" name="Picture 15" descr="product-watertank.png"/>
          <p:cNvPicPr>
            <a:picLocks noChangeAspect="1"/>
          </p:cNvPicPr>
          <p:nvPr/>
        </p:nvPicPr>
        <p:blipFill>
          <a:blip r:embed="rId7"/>
          <a:stretch>
            <a:fillRect/>
          </a:stretch>
        </p:blipFill>
        <p:spPr>
          <a:xfrm>
            <a:off x="9692640" y="1783080"/>
            <a:ext cx="1691640" cy="1691640"/>
          </a:xfrm>
          <a:prstGeom prst="rect">
            <a:avLst/>
          </a:prstGeom>
        </p:spPr>
      </p:pic>
      <p:sp>
        <p:nvSpPr>
          <p:cNvPr id="17" name="TextBox 16"/>
          <p:cNvSpPr txBox="1"/>
          <p:nvPr/>
        </p:nvSpPr>
        <p:spPr>
          <a:xfrm>
            <a:off x="9692640" y="3547872"/>
            <a:ext cx="1691640" cy="256032"/>
          </a:xfrm>
          <a:prstGeom prst="rect">
            <a:avLst/>
          </a:prstGeom>
          <a:noFill/>
        </p:spPr>
        <p:txBody>
          <a:bodyPr wrap="square" anchor="t">
            <a:spAutoFit/>
          </a:bodyPr>
          <a:lstStyle/>
          <a:p>
            <a:pPr algn="ctr">
              <a:lnSpc>
                <a:spcPct val="100000"/>
              </a:lnSpc>
            </a:pPr>
            <a:r>
              <a:rPr sz="950" b="1">
                <a:solidFill>
                  <a:srgbClr val="0F1729"/>
                </a:solidFill>
                <a:latin typeface="Calibri"/>
              </a:rPr>
              <a:t>WaterTank</a:t>
            </a:r>
          </a:p>
        </p:txBody>
      </p:sp>
      <p:sp>
        <p:nvSpPr>
          <p:cNvPr id="18" name="TextBox 17"/>
          <p:cNvSpPr txBox="1"/>
          <p:nvPr/>
        </p:nvSpPr>
        <p:spPr>
          <a:xfrm>
            <a:off x="777240" y="3977639"/>
            <a:ext cx="10607040" cy="365760"/>
          </a:xfrm>
          <a:prstGeom prst="rect">
            <a:avLst/>
          </a:prstGeom>
          <a:noFill/>
        </p:spPr>
        <p:txBody>
          <a:bodyPr wrap="square" anchor="t">
            <a:spAutoFit/>
          </a:bodyPr>
          <a:lstStyle/>
          <a:p>
            <a:pPr algn="l">
              <a:lnSpc>
                <a:spcPct val="100000"/>
              </a:lnSpc>
            </a:pPr>
            <a:r>
              <a:rPr sz="1000" b="0">
                <a:solidFill>
                  <a:srgbClr val="64748B"/>
                </a:solidFill>
                <a:latin typeface="Calibri"/>
              </a:rPr>
              <a:t>Artwork is rasterised at build time from public/img, which scripts/gen-product-art.js owns. Nothing here is a screenshot that can go stale against the shop.</a:t>
            </a:r>
          </a:p>
        </p:txBody>
      </p:sp>
      <p:sp>
        <p:nvSpPr>
          <p:cNvPr id="19" name="TextBox 18"/>
          <p:cNvSpPr txBox="1"/>
          <p:nvPr/>
        </p:nvSpPr>
        <p:spPr>
          <a:xfrm>
            <a:off x="777240" y="4526280"/>
            <a:ext cx="10607040" cy="1371600"/>
          </a:xfrm>
          <a:prstGeom prst="rect">
            <a:avLst/>
          </a:prstGeom>
          <a:noFill/>
        </p:spPr>
        <p:txBody>
          <a:bodyPr wrap="square">
            <a:spAutoFit/>
          </a:bodyPr>
          <a:lstStyle/>
          <a:p>
            <a:pPr>
              <a:lnSpc>
                <a:spcPct val="125000"/>
              </a:lnSpc>
              <a:spcAft>
                <a:spcPts val="1000"/>
              </a:spcAft>
            </a:pPr>
            <a:r>
              <a:rPr sz="650">
                <a:solidFill>
                  <a:srgbClr val="0891B2"/>
                </a:solidFill>
                <a:latin typeface="Calibri"/>
              </a:rPr>
              <a:t>●  </a:t>
            </a:r>
            <a:r>
              <a:rPr sz="1150" b="1">
                <a:solidFill>
                  <a:srgbClr val="0F1729"/>
                </a:solidFill>
                <a:latin typeface="Calibri"/>
              </a:rPr>
              <a:t>Every one of these has a console control surface, a phone control surface and a command-map entry — </a:t>
            </a:r>
            <a:r>
              <a:rPr sz="1150">
                <a:solidFill>
                  <a:srgbClr val="334155"/>
                </a:solidFill>
                <a:latin typeface="Calibri"/>
              </a:rPr>
              <a:t>tests/firmware-console-parity.test.ts fails the build if one is added without them.</a:t>
            </a:r>
          </a:p>
          <a:p>
            <a:pPr>
              <a:lnSpc>
                <a:spcPct val="125000"/>
              </a:lnSpc>
              <a:spcAft>
                <a:spcPts val="1000"/>
              </a:spcAft>
            </a:pPr>
            <a:r>
              <a:rPr sz="650">
                <a:solidFill>
                  <a:srgbClr val="0891B2"/>
                </a:solidFill>
                <a:latin typeface="Calibri"/>
              </a:rPr>
              <a:t>●  </a:t>
            </a:r>
            <a:r>
              <a:rPr sz="1150">
                <a:solidFill>
                  <a:srgbClr val="334155"/>
                </a:solidFill>
                <a:latin typeface="Calibri"/>
              </a:rPr>
              <a:t>A device type touches roughly thirty files across four surfaces. Docs/07-adding-a-new-device.md is the checklist, and it names five failures that produce no error at all.</a:t>
            </a:r>
          </a:p>
        </p:txBody>
      </p:sp>
      <p:sp>
        <p:nvSpPr>
          <p:cNvPr id="20" name="TextBox 19"/>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21" name="TextBox 20"/>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THE LOCAL BUS</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Boards in one home talk directly</a:t>
            </a:r>
          </a:p>
        </p:txBody>
      </p:sp>
      <p:sp>
        <p:nvSpPr>
          <p:cNvPr id="6" name="TextBox 5"/>
          <p:cNvSpPr txBox="1"/>
          <p:nvPr/>
        </p:nvSpPr>
        <p:spPr>
          <a:xfrm>
            <a:off x="777240" y="1783080"/>
            <a:ext cx="10607040" cy="2286000"/>
          </a:xfrm>
          <a:prstGeom prst="rect">
            <a:avLst/>
          </a:prstGeom>
          <a:noFill/>
        </p:spPr>
        <p:txBody>
          <a:bodyPr wrap="square">
            <a:spAutoFit/>
          </a:bodyPr>
          <a:lstStyle/>
          <a:p>
            <a:pPr>
              <a:lnSpc>
                <a:spcPct val="125000"/>
              </a:lnSpc>
              <a:spcAft>
                <a:spcPts val="1000"/>
              </a:spcAft>
            </a:pPr>
            <a:r>
              <a:rPr sz="750">
                <a:solidFill>
                  <a:srgbClr val="0891B2"/>
                </a:solidFill>
                <a:latin typeface="Calibri"/>
              </a:rPr>
              <a:t>●  </a:t>
            </a:r>
            <a:r>
              <a:rPr sz="1250">
                <a:solidFill>
                  <a:srgbClr val="334155"/>
                </a:solidFill>
                <a:latin typeface="Calibri"/>
              </a:rPr>
              <a:t>ESP-NOW between boards: no router, no broker, single-digit milliseconds. A hall pad can switch a bedroom light with the broadband unplugged.</a:t>
            </a:r>
          </a:p>
          <a:p>
            <a:pPr>
              <a:lnSpc>
                <a:spcPct val="125000"/>
              </a:lnSpc>
              <a:spcAft>
                <a:spcPts val="1000"/>
              </a:spcAft>
            </a:pPr>
            <a:r>
              <a:rPr sz="750">
                <a:solidFill>
                  <a:srgbClr val="0891B2"/>
                </a:solidFill>
                <a:latin typeface="Calibri"/>
              </a:rPr>
              <a:t>●  </a:t>
            </a:r>
            <a:r>
              <a:rPr sz="1250">
                <a:solidFill>
                  <a:srgbClr val="334155"/>
                </a:solidFill>
                <a:latin typeface="Calibri"/>
              </a:rPr>
              <a:t>Authenticated with a truncated HMAC-SHA512 keyed by a per-home secret, plus a per-sender rolling sequence. An ESP-NOW frame is broadcast into a building containing other people's flats.</a:t>
            </a:r>
          </a:p>
          <a:p>
            <a:pPr>
              <a:lnSpc>
                <a:spcPct val="125000"/>
              </a:lnSpc>
              <a:spcAft>
                <a:spcPts val="1000"/>
              </a:spcAft>
            </a:pPr>
            <a:r>
              <a:rPr sz="750">
                <a:solidFill>
                  <a:srgbClr val="0891B2"/>
                </a:solidFill>
                <a:latin typeface="Calibri"/>
              </a:rPr>
              <a:t>●  </a:t>
            </a:r>
            <a:r>
              <a:rPr sz="1250" b="1">
                <a:solidFill>
                  <a:srgbClr val="0F1729"/>
                </a:solidFill>
                <a:latin typeface="Calibri"/>
              </a:rPr>
              <a:t>No home key means no local bus — </a:t>
            </a:r>
            <a:r>
              <a:rPr sz="1250">
                <a:solidFill>
                  <a:srgbClr val="334155"/>
                </a:solidFill>
                <a:latin typeface="Calibri"/>
              </a:rPr>
              <a:t>never an unauthenticated one.</a:t>
            </a:r>
          </a:p>
        </p:txBody>
      </p:sp>
      <p:sp>
        <p:nvSpPr>
          <p:cNvPr id="7" name="Rectangle 6"/>
          <p:cNvSpPr/>
          <p:nvPr/>
        </p:nvSpPr>
        <p:spPr>
          <a:xfrm>
            <a:off x="777240" y="4206240"/>
            <a:ext cx="10607040" cy="1600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4206240"/>
            <a:ext cx="45720" cy="1600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4370832"/>
            <a:ext cx="10149840" cy="320040"/>
          </a:xfrm>
          <a:prstGeom prst="rect">
            <a:avLst/>
          </a:prstGeom>
          <a:noFill/>
        </p:spPr>
        <p:txBody>
          <a:bodyPr wrap="square" anchor="t">
            <a:spAutoFit/>
          </a:bodyPr>
          <a:lstStyle/>
          <a:p>
            <a:pPr algn="l">
              <a:lnSpc>
                <a:spcPct val="100000"/>
              </a:lnSpc>
            </a:pPr>
            <a:r>
              <a:rPr sz="1300" b="1">
                <a:solidFill>
                  <a:srgbClr val="0F1729"/>
                </a:solidFill>
                <a:latin typeface="Calibri"/>
              </a:rPr>
              <a:t>The hard part is the channel, not the radio</a:t>
            </a:r>
          </a:p>
        </p:txBody>
      </p:sp>
      <p:sp>
        <p:nvSpPr>
          <p:cNvPr id="10" name="TextBox 9"/>
          <p:cNvSpPr txBox="1"/>
          <p:nvPr/>
        </p:nvSpPr>
        <p:spPr>
          <a:xfrm>
            <a:off x="1005840" y="4736592"/>
            <a:ext cx="10149840" cy="1005840"/>
          </a:xfrm>
          <a:prstGeom prst="rect">
            <a:avLst/>
          </a:prstGeom>
          <a:noFill/>
        </p:spPr>
        <p:txBody>
          <a:bodyPr wrap="square" anchor="t">
            <a:spAutoFit/>
          </a:bodyPr>
          <a:lstStyle/>
          <a:p>
            <a:pPr algn="l">
              <a:lnSpc>
                <a:spcPct val="100000"/>
              </a:lnSpc>
            </a:pPr>
            <a:r>
              <a:rPr sz="1100" b="0">
                <a:solidFill>
                  <a:srgbClr val="64748B"/>
                </a:solidFill>
                <a:latin typeface="Calibri"/>
              </a:rPr>
              <a:t>An ESP32 has one radio, and ESP-NOW transmits on whatever channel Wi-Fi is parked on. When the router dies each board starts scanning independently and they scatter across the band — so the local bus disintegrates during the outage it exists for. Boards now park on a fixed channel after 20s down, and all converge.</a:t>
            </a:r>
          </a:p>
        </p:txBody>
      </p:sp>
      <p:sp>
        <p:nvSpPr>
          <p:cNvPr id="11" name="TextBox 10"/>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12" name="TextBox 11"/>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F1A"/>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6B6D4"/>
                </a:solidFill>
                <a:latin typeface="Calibri"/>
              </a:rPr>
              <a:t>HOW THIS SYSTEM FAILS</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FFFFFF"/>
                </a:solidFill>
                <a:latin typeface="Calibri"/>
              </a:rPr>
              <a:t>Quietly, and while looking healthy</a:t>
            </a:r>
          </a:p>
        </p:txBody>
      </p:sp>
      <p:sp>
        <p:nvSpPr>
          <p:cNvPr id="6" name="TextBox 5"/>
          <p:cNvSpPr txBox="1"/>
          <p:nvPr/>
        </p:nvSpPr>
        <p:spPr>
          <a:xfrm>
            <a:off x="777240" y="1828800"/>
            <a:ext cx="10607040" cy="3657600"/>
          </a:xfrm>
          <a:prstGeom prst="rect">
            <a:avLst/>
          </a:prstGeom>
          <a:noFill/>
        </p:spPr>
        <p:txBody>
          <a:bodyPr wrap="square">
            <a:spAutoFit/>
          </a:bodyPr>
          <a:lstStyle/>
          <a:p>
            <a:pPr>
              <a:lnSpc>
                <a:spcPct val="125000"/>
              </a:lnSpc>
              <a:spcAft>
                <a:spcPts val="900"/>
              </a:spcAft>
            </a:pPr>
            <a:r>
              <a:rPr sz="700">
                <a:solidFill>
                  <a:srgbClr val="0891B2"/>
                </a:solidFill>
                <a:latin typeface="Calibri"/>
              </a:rPr>
              <a:t>●  </a:t>
            </a:r>
            <a:r>
              <a:rPr sz="1200" b="1">
                <a:solidFill>
                  <a:srgbClr val="FFFFFF"/>
                </a:solidFill>
                <a:latin typeface="Calibri"/>
              </a:rPr>
              <a:t>A slider that cannot ask for what the hardware does — </a:t>
            </a:r>
            <a:r>
              <a:rPr sz="1200">
                <a:solidFill>
                  <a:srgbClr val="CBD5E1"/>
                </a:solidFill>
                <a:latin typeface="Calibri"/>
              </a:rPr>
              <a:t>Camera fps capped at 15 in the app and 30 in the console while the firmware did 60. The device silently clamps, so nothing contradicts it.</a:t>
            </a:r>
          </a:p>
          <a:p>
            <a:pPr>
              <a:lnSpc>
                <a:spcPct val="125000"/>
              </a:lnSpc>
              <a:spcAft>
                <a:spcPts val="900"/>
              </a:spcAft>
            </a:pPr>
            <a:r>
              <a:rPr sz="700">
                <a:solidFill>
                  <a:srgbClr val="0891B2"/>
                </a:solidFill>
                <a:latin typeface="Calibri"/>
              </a:rPr>
              <a:t>●  </a:t>
            </a:r>
            <a:r>
              <a:rPr sz="1200" b="1">
                <a:solidFill>
                  <a:srgbClr val="FFFFFF"/>
                </a:solidFill>
                <a:latin typeface="Calibri"/>
              </a:rPr>
              <a:t>A field published and never read — </a:t>
            </a:r>
            <a:r>
              <a:rPr sz="1200">
                <a:solidFill>
                  <a:srgbClr val="CBD5E1"/>
                </a:solidFill>
                <a:latin typeface="Calibri"/>
              </a:rPr>
              <a:t>otaStatus and wifiStatus were both broadcast for years. A camera mid-update rendered as a hardware fault telling somebody to reseat a ribbon cable.</a:t>
            </a:r>
          </a:p>
          <a:p>
            <a:pPr>
              <a:lnSpc>
                <a:spcPct val="125000"/>
              </a:lnSpc>
              <a:spcAft>
                <a:spcPts val="900"/>
              </a:spcAft>
            </a:pPr>
            <a:r>
              <a:rPr sz="700">
                <a:solidFill>
                  <a:srgbClr val="0891B2"/>
                </a:solidFill>
                <a:latin typeface="Calibri"/>
              </a:rPr>
              <a:t>●  </a:t>
            </a:r>
            <a:r>
              <a:rPr sz="1200" b="1">
                <a:solidFill>
                  <a:srgbClr val="FFFFFF"/>
                </a:solidFill>
                <a:latin typeface="Calibri"/>
              </a:rPr>
              <a:t>A control that reaches only part of what it claims — </a:t>
            </a:r>
            <a:r>
              <a:rPr sz="1200">
                <a:solidFill>
                  <a:srgbClr val="CBD5E1"/>
                </a:solidFill>
                <a:latin typeface="Calibri"/>
              </a:rPr>
              <a:t>The view-density setting moved three padding steps out of six, so 46 sections ignored it.</a:t>
            </a:r>
          </a:p>
          <a:p>
            <a:pPr>
              <a:lnSpc>
                <a:spcPct val="125000"/>
              </a:lnSpc>
              <a:spcAft>
                <a:spcPts val="900"/>
              </a:spcAft>
            </a:pPr>
            <a:r>
              <a:rPr sz="700">
                <a:solidFill>
                  <a:srgbClr val="0891B2"/>
                </a:solidFill>
                <a:latin typeface="Calibri"/>
              </a:rPr>
              <a:t>●  </a:t>
            </a:r>
            <a:r>
              <a:rPr sz="1200" b="1">
                <a:solidFill>
                  <a:srgbClr val="FFFFFF"/>
                </a:solidFill>
                <a:latin typeface="Calibri"/>
              </a:rPr>
              <a:t>A job that fails closed and says nothing — </a:t>
            </a:r>
            <a:r>
              <a:rPr sz="1200">
                <a:solidFill>
                  <a:srgbClr val="CBD5E1"/>
                </a:solidFill>
                <a:latin typeface="Calibri"/>
              </a:rPr>
              <a:t>Four crons returned 403 forever without CRON_SECRET and recorded nothing either way.</a:t>
            </a:r>
          </a:p>
          <a:p>
            <a:pPr>
              <a:lnSpc>
                <a:spcPct val="125000"/>
              </a:lnSpc>
              <a:spcAft>
                <a:spcPts val="900"/>
              </a:spcAft>
            </a:pPr>
            <a:r>
              <a:rPr sz="700">
                <a:solidFill>
                  <a:srgbClr val="0891B2"/>
                </a:solidFill>
                <a:latin typeface="Calibri"/>
              </a:rPr>
              <a:t>●  </a:t>
            </a:r>
            <a:r>
              <a:rPr sz="1200" b="1">
                <a:solidFill>
                  <a:srgbClr val="FFFFFF"/>
                </a:solidFill>
                <a:latin typeface="Calibri"/>
              </a:rPr>
              <a:t>A device that cannot be told anything — </a:t>
            </a:r>
            <a:r>
              <a:rPr sz="1200">
                <a:solidFill>
                  <a:srgbClr val="CBD5E1"/>
                </a:solidFill>
                <a:latin typeface="Calibri"/>
              </a:rPr>
              <a:t>A gang in firmware with no entry in the console's field list is a switch on the wall that the app does not know exists.</a:t>
            </a:r>
          </a:p>
        </p:txBody>
      </p:sp>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94A3B8"/>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94A3B8"/>
                </a:solidFill>
                <a:latin typeface="Calibr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095847" y="0"/>
            <a:ext cx="6095847"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502920"/>
            <a:ext cx="10607040" cy="365760"/>
          </a:xfrm>
          <a:prstGeom prst="rect">
            <a:avLst/>
          </a:prstGeom>
          <a:noFill/>
        </p:spPr>
        <p:txBody>
          <a:bodyPr wrap="square" anchor="t">
            <a:spAutoFit/>
          </a:bodyPr>
          <a:lstStyle/>
          <a:p>
            <a:pPr algn="l">
              <a:lnSpc>
                <a:spcPct val="100000"/>
              </a:lnSpc>
            </a:pPr>
            <a:r>
              <a:rPr sz="1200" b="1">
                <a:solidFill>
                  <a:srgbClr val="0891B2"/>
                </a:solidFill>
                <a:latin typeface="Calibri"/>
              </a:rPr>
              <a:t>RECENT WORK</a:t>
            </a:r>
          </a:p>
        </p:txBody>
      </p:sp>
      <p:sp>
        <p:nvSpPr>
          <p:cNvPr id="5" name="TextBox 4"/>
          <p:cNvSpPr txBox="1"/>
          <p:nvPr/>
        </p:nvSpPr>
        <p:spPr>
          <a:xfrm>
            <a:off x="777240" y="868680"/>
            <a:ext cx="10607040" cy="822960"/>
          </a:xfrm>
          <a:prstGeom prst="rect">
            <a:avLst/>
          </a:prstGeom>
          <a:noFill/>
        </p:spPr>
        <p:txBody>
          <a:bodyPr wrap="square" anchor="t">
            <a:spAutoFit/>
          </a:bodyPr>
          <a:lstStyle/>
          <a:p>
            <a:pPr algn="l">
              <a:lnSpc>
                <a:spcPct val="100000"/>
              </a:lnSpc>
            </a:pPr>
            <a:r>
              <a:rPr sz="3400" b="1">
                <a:solidFill>
                  <a:srgbClr val="0F1729"/>
                </a:solidFill>
                <a:latin typeface="Calibri"/>
              </a:rPr>
              <a:t>From the log, not from memory</a:t>
            </a:r>
          </a:p>
        </p:txBody>
      </p:sp>
      <p:graphicFrame>
        <p:nvGraphicFramePr>
          <p:cNvPr id="6" name="Table 5"/>
          <p:cNvGraphicFramePr>
            <a:graphicFrameLocks noGrp="1"/>
          </p:cNvGraphicFramePr>
          <p:nvPr/>
        </p:nvGraphicFramePr>
        <p:xfrm>
          <a:off x="777240" y="1737360"/>
          <a:ext cx="10607040" cy="5047488"/>
        </p:xfrm>
        <a:graphic>
          <a:graphicData uri="http://schemas.openxmlformats.org/drawingml/2006/table">
            <a:tbl>
              <a:tblPr firstRow="1" bandRow="1">
                <a:tableStyleId>{5C22544A-7EE6-4342-B048-85BDC9FD1C3A}</a:tableStyleId>
              </a:tblPr>
              <a:tblGrid>
                <a:gridCol w="1371600"/>
                <a:gridCol w="9235440"/>
              </a:tblGrid>
              <a:tr h="438912">
                <a:tc>
                  <a:txBody>
                    <a:bodyPr/>
                    <a:lstStyle/>
                    <a:p>
                      <a:r>
                        <a:rPr sz="950" b="1">
                          <a:solidFill>
                            <a:srgbClr val="FFFFFF"/>
                          </a:solidFill>
                          <a:latin typeface="Calibri"/>
                        </a:rPr>
                        <a:t>Commit</a:t>
                      </a:r>
                    </a:p>
                  </a:txBody>
                  <a:tcPr anchor="ctr" marL="91440">
                    <a:solidFill>
                      <a:srgbClr val="0F1729"/>
                    </a:solidFill>
                  </a:tcPr>
                </a:tc>
                <a:tc>
                  <a:txBody>
                    <a:bodyPr/>
                    <a:lstStyle/>
                    <a:p>
                      <a:r>
                        <a:rPr sz="950" b="1">
                          <a:solidFill>
                            <a:srgbClr val="FFFFFF"/>
                          </a:solidFill>
                          <a:latin typeface="Calibri"/>
                        </a:rPr>
                        <a:t>What it did</a:t>
                      </a:r>
                    </a:p>
                  </a:txBody>
                  <a:tcPr anchor="ctr" marL="91440">
                    <a:solidFill>
                      <a:srgbClr val="0F1729"/>
                    </a:solidFill>
                  </a:tcPr>
                </a:tc>
              </a:tr>
              <a:tr h="384048">
                <a:tc>
                  <a:txBody>
                    <a:bodyPr/>
                    <a:lstStyle/>
                    <a:p>
                      <a:pPr algn="l"/>
                      <a:r>
                        <a:rPr sz="950">
                          <a:solidFill>
                            <a:srgbClr val="334155"/>
                          </a:solidFill>
                          <a:latin typeface="Calibri"/>
                        </a:rPr>
                        <a:t>999e5fe</a:t>
                      </a:r>
                    </a:p>
                  </a:txBody>
                  <a:tcPr anchor="ctr" marL="91440">
                    <a:solidFill>
                      <a:srgbClr val="FFFFFF"/>
                    </a:solidFill>
                  </a:tcPr>
                </a:tc>
                <a:tc>
                  <a:txBody>
                    <a:bodyPr/>
                    <a:lstStyle/>
                    <a:p>
                      <a:pPr algn="l"/>
                      <a:r>
                        <a:rPr sz="950">
                          <a:solidFill>
                            <a:srgbClr val="334155"/>
                          </a:solidFill>
                          <a:latin typeface="Calibri"/>
                        </a:rPr>
                        <a:t>Add an architecture and operations KT deck, generated from the tree</a:t>
                      </a:r>
                    </a:p>
                  </a:txBody>
                  <a:tcPr anchor="ctr" marL="91440">
                    <a:solidFill>
                      <a:srgbClr val="FFFFFF"/>
                    </a:solidFill>
                  </a:tcPr>
                </a:tc>
              </a:tr>
              <a:tr h="384048">
                <a:tc>
                  <a:txBody>
                    <a:bodyPr/>
                    <a:lstStyle/>
                    <a:p>
                      <a:pPr algn="l"/>
                      <a:r>
                        <a:rPr sz="950">
                          <a:solidFill>
                            <a:srgbClr val="334155"/>
                          </a:solidFill>
                          <a:latin typeface="Calibri"/>
                        </a:rPr>
                        <a:t>74ecb95</a:t>
                      </a:r>
                    </a:p>
                  </a:txBody>
                  <a:tcPr anchor="ctr" marL="91440">
                    <a:solidFill>
                      <a:srgbClr val="F0F4F8"/>
                    </a:solidFill>
                  </a:tcPr>
                </a:tc>
                <a:tc>
                  <a:txBody>
                    <a:bodyPr/>
                    <a:lstStyle/>
                    <a:p>
                      <a:pPr algn="l"/>
                      <a:r>
                        <a:rPr sz="950">
                          <a:solidFill>
                            <a:srgbClr val="334155"/>
                          </a:solidFill>
                          <a:latin typeface="Calibri"/>
                        </a:rPr>
                        <a:t>Let the boards in a home talk to each other, and stop sending people to the wall</a:t>
                      </a:r>
                    </a:p>
                  </a:txBody>
                  <a:tcPr anchor="ctr" marL="91440">
                    <a:solidFill>
                      <a:srgbClr val="F0F4F8"/>
                    </a:solidFill>
                  </a:tcPr>
                </a:tc>
              </a:tr>
              <a:tr h="384048">
                <a:tc>
                  <a:txBody>
                    <a:bodyPr/>
                    <a:lstStyle/>
                    <a:p>
                      <a:pPr algn="l"/>
                      <a:r>
                        <a:rPr sz="950">
                          <a:solidFill>
                            <a:srgbClr val="334155"/>
                          </a:solidFill>
                          <a:latin typeface="Calibri"/>
                        </a:rPr>
                        <a:t>162d3ec</a:t>
                      </a:r>
                    </a:p>
                  </a:txBody>
                  <a:tcPr anchor="ctr" marL="91440">
                    <a:solidFill>
                      <a:srgbClr val="FFFFFF"/>
                    </a:solidFill>
                  </a:tcPr>
                </a:tc>
                <a:tc>
                  <a:txBody>
                    <a:bodyPr/>
                    <a:lstStyle/>
                    <a:p>
                      <a:pPr algn="l"/>
                      <a:r>
                        <a:rPr sz="950">
                          <a:solidFill>
                            <a:srgbClr val="334155"/>
                          </a:solidFill>
                          <a:latin typeface="Calibri"/>
                        </a:rPr>
                        <a:t>Add the 8-gang touch board, wired through every surface that has to know</a:t>
                      </a:r>
                    </a:p>
                  </a:txBody>
                  <a:tcPr anchor="ctr" marL="91440">
                    <a:solidFill>
                      <a:srgbClr val="FFFFFF"/>
                    </a:solidFill>
                  </a:tcPr>
                </a:tc>
              </a:tr>
              <a:tr h="384048">
                <a:tc>
                  <a:txBody>
                    <a:bodyPr/>
                    <a:lstStyle/>
                    <a:p>
                      <a:pPr algn="l"/>
                      <a:r>
                        <a:rPr sz="950">
                          <a:solidFill>
                            <a:srgbClr val="334155"/>
                          </a:solidFill>
                          <a:latin typeface="Calibri"/>
                        </a:rPr>
                        <a:t>9bf5ffb</a:t>
                      </a:r>
                    </a:p>
                  </a:txBody>
                  <a:tcPr anchor="ctr" marL="91440">
                    <a:solidFill>
                      <a:srgbClr val="F0F4F8"/>
                    </a:solidFill>
                  </a:tcPr>
                </a:tc>
                <a:tc>
                  <a:txBody>
                    <a:bodyPr/>
                    <a:lstStyle/>
                    <a:p>
                      <a:pPr algn="l"/>
                      <a:r>
                        <a:rPr sz="950">
                          <a:solidFill>
                            <a:srgbClr val="334155"/>
                          </a:solidFill>
                          <a:latin typeface="Calibri"/>
                        </a:rPr>
                        <a:t>Release 1.12.0 (22), and stop the console halving the camera's frame rate</a:t>
                      </a:r>
                    </a:p>
                  </a:txBody>
                  <a:tcPr anchor="ctr" marL="91440">
                    <a:solidFill>
                      <a:srgbClr val="F0F4F8"/>
                    </a:solidFill>
                  </a:tcPr>
                </a:tc>
              </a:tr>
              <a:tr h="384048">
                <a:tc>
                  <a:txBody>
                    <a:bodyPr/>
                    <a:lstStyle/>
                    <a:p>
                      <a:pPr algn="l"/>
                      <a:r>
                        <a:rPr sz="950">
                          <a:solidFill>
                            <a:srgbClr val="334155"/>
                          </a:solidFill>
                          <a:latin typeface="Calibri"/>
                        </a:rPr>
                        <a:t>811bbca</a:t>
                      </a:r>
                    </a:p>
                  </a:txBody>
                  <a:tcPr anchor="ctr" marL="91440">
                    <a:solidFill>
                      <a:srgbClr val="FFFFFF"/>
                    </a:solidFill>
                  </a:tcPr>
                </a:tc>
                <a:tc>
                  <a:txBody>
                    <a:bodyPr/>
                    <a:lstStyle/>
                    <a:p>
                      <a:pPr algn="l"/>
                      <a:r>
                        <a:rPr sz="950">
                          <a:solidFill>
                            <a:srgbClr val="334155"/>
                          </a:solidFill>
                          <a:latin typeface="Calibri"/>
                        </a:rPr>
                        <a:t>Fix cramped section headings by making all six padding steps density-aware</a:t>
                      </a:r>
                    </a:p>
                  </a:txBody>
                  <a:tcPr anchor="ctr" marL="91440">
                    <a:solidFill>
                      <a:srgbClr val="FFFFFF"/>
                    </a:solidFill>
                  </a:tcPr>
                </a:tc>
              </a:tr>
              <a:tr h="384048">
                <a:tc>
                  <a:txBody>
                    <a:bodyPr/>
                    <a:lstStyle/>
                    <a:p>
                      <a:pPr algn="l"/>
                      <a:r>
                        <a:rPr sz="950">
                          <a:solidFill>
                            <a:srgbClr val="334155"/>
                          </a:solidFill>
                          <a:latin typeface="Calibri"/>
                        </a:rPr>
                        <a:t>8aa7d0c</a:t>
                      </a:r>
                    </a:p>
                  </a:txBody>
                  <a:tcPr anchor="ctr" marL="91440">
                    <a:solidFill>
                      <a:srgbClr val="F0F4F8"/>
                    </a:solidFill>
                  </a:tcPr>
                </a:tc>
                <a:tc>
                  <a:txBody>
                    <a:bodyPr/>
                    <a:lstStyle/>
                    <a:p>
                      <a:pPr algn="l"/>
                      <a:r>
                        <a:rPr sz="950">
                          <a:solidFill>
                            <a:srgbClr val="334155"/>
                          </a:solidFill>
                          <a:latin typeface="Calibri"/>
                        </a:rPr>
                        <a:t>Ship the working tree: view settings, ICM durability, broker cert, PCBs</a:t>
                      </a:r>
                    </a:p>
                  </a:txBody>
                  <a:tcPr anchor="ctr" marL="91440">
                    <a:solidFill>
                      <a:srgbClr val="F0F4F8"/>
                    </a:solidFill>
                  </a:tcPr>
                </a:tc>
              </a:tr>
              <a:tr h="384048">
                <a:tc>
                  <a:txBody>
                    <a:bodyPr/>
                    <a:lstStyle/>
                    <a:p>
                      <a:pPr algn="l"/>
                      <a:r>
                        <a:rPr sz="950">
                          <a:solidFill>
                            <a:srgbClr val="334155"/>
                          </a:solidFill>
                          <a:latin typeface="Calibri"/>
                        </a:rPr>
                        <a:t>ab3e56c</a:t>
                      </a:r>
                    </a:p>
                  </a:txBody>
                  <a:tcPr anchor="ctr" marL="91440">
                    <a:solidFill>
                      <a:srgbClr val="FFFFFF"/>
                    </a:solidFill>
                  </a:tcPr>
                </a:tc>
                <a:tc>
                  <a:txBody>
                    <a:bodyPr/>
                    <a:lstStyle/>
                    <a:p>
                      <a:pPr algn="l"/>
                      <a:r>
                        <a:rPr sz="950">
                          <a:solidFill>
                            <a:srgbClr val="334155"/>
                          </a:solidFill>
                          <a:latin typeface="Calibri"/>
                        </a:rPr>
                        <a:t>Generate the engineering handover pack</a:t>
                      </a:r>
                    </a:p>
                  </a:txBody>
                  <a:tcPr anchor="ctr" marL="91440">
                    <a:solidFill>
                      <a:srgbClr val="FFFFFF"/>
                    </a:solidFill>
                  </a:tcPr>
                </a:tc>
              </a:tr>
              <a:tr h="384048">
                <a:tc>
                  <a:txBody>
                    <a:bodyPr/>
                    <a:lstStyle/>
                    <a:p>
                      <a:pPr algn="l"/>
                      <a:r>
                        <a:rPr sz="950">
                          <a:solidFill>
                            <a:srgbClr val="334155"/>
                          </a:solidFill>
                          <a:latin typeface="Calibri"/>
                        </a:rPr>
                        <a:t>ba3a4ef</a:t>
                      </a:r>
                    </a:p>
                  </a:txBody>
                  <a:tcPr anchor="ctr" marL="91440">
                    <a:solidFill>
                      <a:srgbClr val="F0F4F8"/>
                    </a:solidFill>
                  </a:tcPr>
                </a:tc>
                <a:tc>
                  <a:txBody>
                    <a:bodyPr/>
                    <a:lstStyle/>
                    <a:p>
                      <a:pPr algn="l"/>
                      <a:r>
                        <a:rPr sz="950">
                          <a:solidFill>
                            <a:srgbClr val="334155"/>
                          </a:solidFill>
                          <a:latin typeface="Calibri"/>
                        </a:rPr>
                        <a:t>The unattended sweep could never have run as documented</a:t>
                      </a:r>
                    </a:p>
                  </a:txBody>
                  <a:tcPr anchor="ctr" marL="91440">
                    <a:solidFill>
                      <a:srgbClr val="F0F4F8"/>
                    </a:solidFill>
                  </a:tcPr>
                </a:tc>
              </a:tr>
              <a:tr h="384048">
                <a:tc>
                  <a:txBody>
                    <a:bodyPr/>
                    <a:lstStyle/>
                    <a:p>
                      <a:pPr algn="l"/>
                      <a:r>
                        <a:rPr sz="950">
                          <a:solidFill>
                            <a:srgbClr val="334155"/>
                          </a:solidFill>
                          <a:latin typeface="Calibri"/>
                        </a:rPr>
                        <a:t>2081f26</a:t>
                      </a:r>
                    </a:p>
                  </a:txBody>
                  <a:tcPr anchor="ctr" marL="91440">
                    <a:solidFill>
                      <a:srgbClr val="FFFFFF"/>
                    </a:solidFill>
                  </a:tcPr>
                </a:tc>
                <a:tc>
                  <a:txBody>
                    <a:bodyPr/>
                    <a:lstStyle/>
                    <a:p>
                      <a:pPr algn="l"/>
                      <a:r>
                        <a:rPr sz="950">
                          <a:solidFill>
                            <a:srgbClr val="334155"/>
                          </a:solidFill>
                          <a:latin typeface="Calibri"/>
                        </a:rPr>
                        <a:t>Set up the Vercel Workflow SDK, and exclude it from the proxy</a:t>
                      </a:r>
                    </a:p>
                  </a:txBody>
                  <a:tcPr anchor="ctr" marL="91440">
                    <a:solidFill>
                      <a:srgbClr val="FFFFFF"/>
                    </a:solidFill>
                  </a:tcPr>
                </a:tc>
              </a:tr>
              <a:tr h="384048">
                <a:tc>
                  <a:txBody>
                    <a:bodyPr/>
                    <a:lstStyle/>
                    <a:p>
                      <a:pPr algn="l"/>
                      <a:r>
                        <a:rPr sz="950">
                          <a:solidFill>
                            <a:srgbClr val="334155"/>
                          </a:solidFill>
                          <a:latin typeface="Calibri"/>
                        </a:rPr>
                        <a:t>7b7a7b1</a:t>
                      </a:r>
                    </a:p>
                  </a:txBody>
                  <a:tcPr anchor="ctr" marL="91440">
                    <a:solidFill>
                      <a:srgbClr val="F0F4F8"/>
                    </a:solidFill>
                  </a:tcPr>
                </a:tc>
                <a:tc>
                  <a:txBody>
                    <a:bodyPr/>
                    <a:lstStyle/>
                    <a:p>
                      <a:pPr algn="l"/>
                      <a:r>
                        <a:rPr sz="950">
                          <a:solidFill>
                            <a:srgbClr val="334155"/>
                          </a:solidFill>
                          <a:latin typeface="Calibri"/>
                        </a:rPr>
                        <a:t>Unbreak the build: I committed somebody else's work in progress</a:t>
                      </a:r>
                    </a:p>
                  </a:txBody>
                  <a:tcPr anchor="ctr" marL="91440">
                    <a:solidFill>
                      <a:srgbClr val="F0F4F8"/>
                    </a:solidFill>
                  </a:tcPr>
                </a:tc>
              </a:tr>
              <a:tr h="384048">
                <a:tc>
                  <a:txBody>
                    <a:bodyPr/>
                    <a:lstStyle/>
                    <a:p>
                      <a:pPr algn="l"/>
                      <a:r>
                        <a:rPr sz="950">
                          <a:solidFill>
                            <a:srgbClr val="334155"/>
                          </a:solidFill>
                          <a:latin typeface="Calibri"/>
                        </a:rPr>
                        <a:t>d7df311</a:t>
                      </a:r>
                    </a:p>
                  </a:txBody>
                  <a:tcPr anchor="ctr" marL="91440">
                    <a:solidFill>
                      <a:srgbClr val="FFFFFF"/>
                    </a:solidFill>
                  </a:tcPr>
                </a:tc>
                <a:tc>
                  <a:txBody>
                    <a:bodyPr/>
                    <a:lstStyle/>
                    <a:p>
                      <a:pPr algn="l"/>
                      <a:r>
                        <a:rPr sz="950">
                          <a:solidFill>
                            <a:srgbClr val="334155"/>
                          </a:solidFill>
                          <a:latin typeface="Calibri"/>
                        </a:rPr>
                        <a:t>The AI routes are deployed; the doc still said they 404</a:t>
                      </a:r>
                    </a:p>
                  </a:txBody>
                  <a:tcPr anchor="ctr" marL="91440">
                    <a:solidFill>
                      <a:srgbClr val="FFFFFF"/>
                    </a:solidFill>
                  </a:tcPr>
                </a:tc>
              </a:tr>
              <a:tr h="384048">
                <a:tc>
                  <a:txBody>
                    <a:bodyPr/>
                    <a:lstStyle/>
                    <a:p>
                      <a:pPr algn="l"/>
                      <a:r>
                        <a:rPr sz="950">
                          <a:solidFill>
                            <a:srgbClr val="334155"/>
                          </a:solidFill>
                          <a:latin typeface="Calibri"/>
                        </a:rPr>
                        <a:t>55fbe8a</a:t>
                      </a:r>
                    </a:p>
                  </a:txBody>
                  <a:tcPr anchor="ctr" marL="91440">
                    <a:solidFill>
                      <a:srgbClr val="F0F4F8"/>
                    </a:solidFill>
                  </a:tcPr>
                </a:tc>
                <a:tc>
                  <a:txBody>
                    <a:bodyPr/>
                    <a:lstStyle/>
                    <a:p>
                      <a:pPr algn="l"/>
                      <a:r>
                        <a:rPr sz="950">
                          <a:solidFill>
                            <a:srgbClr val="334155"/>
                          </a:solidFill>
                          <a:latin typeface="Calibri"/>
                        </a:rPr>
                        <a:t>Make it possible to find out whether the scheduled jobs run</a:t>
                      </a:r>
                    </a:p>
                  </a:txBody>
                  <a:tcPr anchor="ctr" marL="91440">
                    <a:solidFill>
                      <a:srgbClr val="F0F4F8"/>
                    </a:solidFill>
                  </a:tcPr>
                </a:tc>
              </a:tr>
            </a:tbl>
          </a:graphicData>
        </a:graphic>
      </p:graphicFrame>
      <p:sp>
        <p:nvSpPr>
          <p:cNvPr id="7" name="TextBox 6"/>
          <p:cNvSpPr txBox="1"/>
          <p:nvPr/>
        </p:nvSpPr>
        <p:spPr>
          <a:xfrm>
            <a:off x="777240" y="6355080"/>
            <a:ext cx="8686800" cy="320040"/>
          </a:xfrm>
          <a:prstGeom prst="rect">
            <a:avLst/>
          </a:prstGeom>
          <a:noFill/>
        </p:spPr>
        <p:txBody>
          <a:bodyPr wrap="square" anchor="t">
            <a:spAutoFit/>
          </a:bodyPr>
          <a:lstStyle/>
          <a:p>
            <a:pPr algn="l">
              <a:lnSpc>
                <a:spcPct val="100000"/>
              </a:lnSpc>
            </a:pPr>
            <a:r>
              <a:rPr sz="900" b="0">
                <a:solidFill>
                  <a:srgbClr val="64748B"/>
                </a:solidFill>
                <a:latin typeface="Calibri"/>
              </a:rPr>
              <a:t>Circuvent Technologies  ·  circuvent.com  ·  contact@circuvent.com  ·  +91 765 999 333 1</a:t>
            </a:r>
          </a:p>
        </p:txBody>
      </p:sp>
      <p:sp>
        <p:nvSpPr>
          <p:cNvPr id="8" name="TextBox 7"/>
          <p:cNvSpPr txBox="1"/>
          <p:nvPr/>
        </p:nvSpPr>
        <p:spPr>
          <a:xfrm>
            <a:off x="10728655" y="6355080"/>
            <a:ext cx="685800" cy="320040"/>
          </a:xfrm>
          <a:prstGeom prst="rect">
            <a:avLst/>
          </a:prstGeom>
          <a:noFill/>
        </p:spPr>
        <p:txBody>
          <a:bodyPr wrap="square" anchor="t">
            <a:spAutoFit/>
          </a:bodyPr>
          <a:lstStyle/>
          <a:p>
            <a:pPr algn="r">
              <a:lnSpc>
                <a:spcPct val="100000"/>
              </a:lnSpc>
            </a:pPr>
            <a:r>
              <a:rPr sz="900" b="0">
                <a:solidFill>
                  <a:srgbClr val="64748B"/>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F1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05840" y="2103120"/>
            <a:ext cx="10058400" cy="914400"/>
          </a:xfrm>
          <a:prstGeom prst="rect">
            <a:avLst/>
          </a:prstGeom>
          <a:noFill/>
        </p:spPr>
        <p:txBody>
          <a:bodyPr wrap="square" anchor="t">
            <a:spAutoFit/>
          </a:bodyPr>
          <a:lstStyle/>
          <a:p>
            <a:pPr algn="l">
              <a:lnSpc>
                <a:spcPct val="100000"/>
              </a:lnSpc>
            </a:pPr>
            <a:r>
              <a:rPr sz="4000" b="1">
                <a:solidFill>
                  <a:srgbClr val="FFFFFF"/>
                </a:solidFill>
                <a:latin typeface="Calibri"/>
              </a:rPr>
              <a:t>If you change one thing here</a:t>
            </a:r>
          </a:p>
        </p:txBody>
      </p:sp>
      <p:sp>
        <p:nvSpPr>
          <p:cNvPr id="4" name="TextBox 3"/>
          <p:cNvSpPr txBox="1"/>
          <p:nvPr/>
        </p:nvSpPr>
        <p:spPr>
          <a:xfrm>
            <a:off x="1005840" y="3200400"/>
            <a:ext cx="9875520" cy="2011680"/>
          </a:xfrm>
          <a:prstGeom prst="rect">
            <a:avLst/>
          </a:prstGeom>
          <a:noFill/>
        </p:spPr>
        <p:txBody>
          <a:bodyPr wrap="square">
            <a:spAutoFit/>
          </a:bodyPr>
          <a:lstStyle/>
          <a:p>
            <a:pPr>
              <a:lnSpc>
                <a:spcPct val="125000"/>
              </a:lnSpc>
              <a:spcAft>
                <a:spcPts val="1000"/>
              </a:spcAft>
            </a:pPr>
            <a:r>
              <a:rPr sz="900">
                <a:solidFill>
                  <a:srgbClr val="0891B2"/>
                </a:solidFill>
                <a:latin typeface="Calibri"/>
              </a:rPr>
              <a:t>●  </a:t>
            </a:r>
            <a:r>
              <a:rPr sz="1400" b="1">
                <a:solidFill>
                  <a:srgbClr val="FFFFFF"/>
                </a:solidFill>
                <a:latin typeface="Calibri"/>
              </a:rPr>
              <a:t>Regenerate this deck rather than editing a slide — </a:t>
            </a:r>
            <a:r>
              <a:rPr sz="1400">
                <a:solidFill>
                  <a:srgbClr val="CBD5E1"/>
                </a:solidFill>
                <a:latin typeface="Calibri"/>
              </a:rPr>
              <a:t>it is built from the repository.</a:t>
            </a:r>
          </a:p>
          <a:p>
            <a:pPr>
              <a:lnSpc>
                <a:spcPct val="125000"/>
              </a:lnSpc>
              <a:spcAft>
                <a:spcPts val="1000"/>
              </a:spcAft>
            </a:pPr>
            <a:r>
              <a:rPr sz="900">
                <a:solidFill>
                  <a:srgbClr val="0891B2"/>
                </a:solidFill>
                <a:latin typeface="Calibri"/>
              </a:rPr>
              <a:t>●  </a:t>
            </a:r>
            <a:r>
              <a:rPr sz="1400">
                <a:solidFill>
                  <a:srgbClr val="CBD5E1"/>
                </a:solidFill>
                <a:latin typeface="Calibri"/>
              </a:rPr>
              <a:t>Add a parity test whenever two files have to agree. That is what catches the silent class.</a:t>
            </a:r>
          </a:p>
          <a:p>
            <a:pPr>
              <a:lnSpc>
                <a:spcPct val="125000"/>
              </a:lnSpc>
              <a:spcAft>
                <a:spcPts val="1000"/>
              </a:spcAft>
            </a:pPr>
            <a:r>
              <a:rPr sz="900">
                <a:solidFill>
                  <a:srgbClr val="0891B2"/>
                </a:solidFill>
                <a:latin typeface="Calibri"/>
              </a:rPr>
              <a:t>●  </a:t>
            </a:r>
            <a:r>
              <a:rPr sz="1400">
                <a:solidFill>
                  <a:srgbClr val="CBD5E1"/>
                </a:solidFill>
                <a:latin typeface="Calibri"/>
              </a:rPr>
              <a:t>Prove it by running it. A guard that has never failed is not a guard yet.</a:t>
            </a:r>
          </a:p>
        </p:txBody>
      </p:sp>
      <p:sp>
        <p:nvSpPr>
          <p:cNvPr id="5" name="TextBox 4"/>
          <p:cNvSpPr txBox="1"/>
          <p:nvPr/>
        </p:nvSpPr>
        <p:spPr>
          <a:xfrm>
            <a:off x="1005840" y="6035040"/>
            <a:ext cx="10058400" cy="365760"/>
          </a:xfrm>
          <a:prstGeom prst="rect">
            <a:avLst/>
          </a:prstGeom>
          <a:noFill/>
        </p:spPr>
        <p:txBody>
          <a:bodyPr wrap="square" anchor="t">
            <a:spAutoFit/>
          </a:bodyPr>
          <a:lstStyle/>
          <a:p>
            <a:pPr algn="l">
              <a:lnSpc>
                <a:spcPct val="100000"/>
              </a:lnSpc>
            </a:pPr>
            <a:r>
              <a:rPr sz="1000" b="0">
                <a:solidFill>
                  <a:srgbClr val="475569"/>
                </a:solidFill>
                <a:latin typeface="Calibri"/>
              </a:rPr>
              <a:t>Generated 15 August 2026 from the repository at 999e5fe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