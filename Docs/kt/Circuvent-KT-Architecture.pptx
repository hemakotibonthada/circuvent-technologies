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plainly that this deck goes stale the moment somebody edits infrastructure by hand instead of in the repo, and that is the point: it is generated, so regenerate it rather than patching 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retained/not-retained split is the part people get wrong. State is retained so a new subscriber learns reality immediately; telemetry must not be, or every reconnect replays an old reading as if it had just happened.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Worth stressing: per-device credentials are minted automatically at provisioning by the control plane, so nobody touches the broker to add a device. The ACL is what keeps one compromised device from reading or driving the rest of the fleet.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branch-scoping of Vercel preview variables is a real trap: pulling env without naming the branch gives you production's values under a preview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Alexa category point is the one to dwell on. It is not cosmetic: a water pump typed as a plain switch gets caught by 'turn everything off' at bedtime, which stops an irrigation cycle halfway.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one of these shipped. None threw, none logged. This is why the codebase is full of parity tests between two files that must agree: they are the only thing that catches this class at 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3771900"/>
            <a:ext cx="146304" cy="30861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005840" y="1920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6B6D4"/>
                </a:solidFill>
                <a:latin typeface="Calibri"/>
              </a:rPr>
              <a:t>CIRCUVENT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423160"/>
            <a:ext cx="10241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Calibri"/>
              </a:rPr>
              <a:t>Architecture &amp; 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601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0">
                <a:solidFill>
                  <a:srgbClr val="94A3B8"/>
                </a:solidFill>
                <a:latin typeface="Calibri"/>
              </a:rPr>
              <a:t>How it fits together, how it ships, and what to check when it does not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5120640"/>
            <a:ext cx="2011680" cy="4114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05840" y="5349240"/>
            <a:ext cx="9601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4748B"/>
                </a:solidFill>
                <a:latin typeface="Calibri"/>
              </a:rPr>
              <a:t>Generated 15 August 2026 · 74ecb95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617220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475569"/>
                </a:solidFill>
                <a:latin typeface="Calibri"/>
              </a:rPr>
              <a:t>Generated 15 August 2026 from the repository at 74ecb95 · Docs/ is the source of truth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WHAT THIS DECK IS FOR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The other KT deck is the map; this is the machine room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900">
                <a:solidFill>
                  <a:srgbClr val="0891B2"/>
                </a:solidFill>
                <a:latin typeface="Calibri"/>
              </a:rPr>
              <a:t>●  </a:t>
            </a:r>
            <a:r>
              <a:rPr sz="1400">
                <a:solidFill>
                  <a:srgbClr val="334155"/>
                </a:solidFill>
                <a:latin typeface="Calibri"/>
              </a:rPr>
              <a:t>Read the handover deck first if you are new. It answers what the four deployables are and which documents to open.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900">
                <a:solidFill>
                  <a:srgbClr val="0891B2"/>
                </a:solidFill>
                <a:latin typeface="Calibri"/>
              </a:rPr>
              <a:t>●  </a:t>
            </a:r>
            <a:r>
              <a:rPr sz="1400">
                <a:solidFill>
                  <a:srgbClr val="334155"/>
                </a:solidFill>
                <a:latin typeface="Calibri"/>
              </a:rPr>
              <a:t>This one assumes you know that, and covers the parts you need when you are changing infrastructure or when something is down.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900">
                <a:solidFill>
                  <a:srgbClr val="0891B2"/>
                </a:solidFill>
                <a:latin typeface="Calibri"/>
              </a:rPr>
              <a:t>●  </a:t>
            </a:r>
            <a:r>
              <a:rPr sz="1400" b="1">
                <a:solidFill>
                  <a:srgbClr val="0F1729"/>
                </a:solidFill>
                <a:latin typeface="Calibri"/>
              </a:rPr>
              <a:t>Every fact here is derived from the repository at build time — </a:t>
            </a:r>
            <a:r>
              <a:rPr sz="1400">
                <a:solidFill>
                  <a:srgbClr val="334155"/>
                </a:solidFill>
                <a:latin typeface="Calibri"/>
              </a:rPr>
              <a:t>topic names out of the firmware, limits out of mosquitto.conf, required secrets out of the schema that validates them.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900">
                <a:solidFill>
                  <a:srgbClr val="0891B2"/>
                </a:solidFill>
                <a:latin typeface="Calibri"/>
              </a:rPr>
              <a:t>●  </a:t>
            </a:r>
            <a:r>
              <a:rPr sz="1400">
                <a:solidFill>
                  <a:srgbClr val="334155"/>
                </a:solidFill>
                <a:latin typeface="Calibri"/>
              </a:rPr>
              <a:t>Where a fact could not be derived, the file that owns it is named. Go and check it rather than trusting the slide.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THE SHAPE OF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Four deployables, one broker, two databases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070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371600"/>
                <a:gridCol w="2651760"/>
                <a:gridCol w="4206240"/>
              </a:tblGrid>
              <a:tr h="4389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Lives in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Runs on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Owns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Website, shop, console, admin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src/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Vercel → circuvent.com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Marketing, storefront, orders, customer accounts, the /smarthome console and /admin.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Control plane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platform/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One VM, Docker Compose → api.circuvent.com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Devices, telemetry, commands, automations, scenes, rooms, households, voice assistants.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Mobile app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mobile/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Play Store · com.circuvent.app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The console, on a phone.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Device firmware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firmware/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ESP32 hardware in customers' homes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Sensing and actuation, and the local behaviour that must survive losing the network.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89204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The broker is the hinge. Everything a customer sees is one of the first three; everything that physically happens is the fourth, and the two only ever meet over MQTT.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THE COMMAND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What happens between a tap and a relay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783080"/>
            <a:ext cx="1966508" cy="105156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1966508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1747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729"/>
                </a:solidFill>
                <a:latin typeface="Calibri"/>
              </a:rPr>
              <a:t>Browser / 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286000"/>
            <a:ext cx="17470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optimistic pin applied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5460" y="2130552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891B2"/>
                </a:solidFill>
                <a:latin typeface="Calibri"/>
              </a:rPr>
              <a:t>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944916" y="1783080"/>
            <a:ext cx="1966508" cy="105156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944916" y="1783080"/>
            <a:ext cx="1966508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3054644" y="1947672"/>
            <a:ext cx="1747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729"/>
                </a:solidFill>
                <a:latin typeface="Calibri"/>
              </a:rPr>
              <a:t>Control plane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54644" y="2286000"/>
            <a:ext cx="17470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auth, ownership, projection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3137" y="2130552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891B2"/>
                </a:solidFill>
                <a:latin typeface="Calibri"/>
              </a:rPr>
              <a:t>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112593" y="1783080"/>
            <a:ext cx="1966508" cy="105156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112593" y="1783080"/>
            <a:ext cx="1966508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222321" y="1947672"/>
            <a:ext cx="1747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729"/>
                </a:solidFill>
                <a:latin typeface="Calibri"/>
              </a:rPr>
              <a:t>Broker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22321" y="2286000"/>
            <a:ext cx="17470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cv/&lt;id&gt;/cmd, QoS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0813" y="2130552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891B2"/>
                </a:solidFill>
                <a:latin typeface="Calibri"/>
              </a:rPr>
              <a:t>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80269" y="1783080"/>
            <a:ext cx="1966508" cy="105156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ectangle 21"/>
          <p:cNvSpPr/>
          <p:nvPr/>
        </p:nvSpPr>
        <p:spPr>
          <a:xfrm>
            <a:off x="7280269" y="1783080"/>
            <a:ext cx="1966508" cy="457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389997" y="1947672"/>
            <a:ext cx="1747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729"/>
                </a:solidFill>
                <a:latin typeface="Calibri"/>
              </a:rPr>
              <a:t>Device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89997" y="2286000"/>
            <a:ext cx="17470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acts, then publishes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28490" y="2130552"/>
            <a:ext cx="25603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891B2"/>
                </a:solidFill>
                <a:latin typeface="Calibri"/>
              </a:rPr>
              <a:t>›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447946" y="1783080"/>
            <a:ext cx="1966508" cy="105156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9447946" y="1783080"/>
            <a:ext cx="1966508" cy="4572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557674" y="1947672"/>
            <a:ext cx="174705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0F1729"/>
                </a:solidFill>
                <a:latin typeface="Calibri"/>
              </a:rPr>
              <a:t>cv/&lt;id&gt;/state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7674" y="2286000"/>
            <a:ext cx="17470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retained, fans back 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3200400"/>
            <a:ext cx="106070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50">
                <a:solidFill>
                  <a:srgbClr val="0891B2"/>
                </a:solidFill>
                <a:latin typeface="Calibri"/>
              </a:rPr>
              <a:t>●  </a:t>
            </a:r>
            <a:r>
              <a:rPr sz="1250" b="1">
                <a:solidFill>
                  <a:srgbClr val="0F1729"/>
                </a:solidFill>
                <a:latin typeface="Calibri"/>
              </a:rPr>
              <a:t>The optimistic pin is why the UI feels instant — </a:t>
            </a:r>
            <a:r>
              <a:rPr sz="1250">
                <a:solidFill>
                  <a:srgbClr val="334155"/>
                </a:solidFill>
                <a:latin typeface="Calibri"/>
              </a:rPr>
              <a:t>and why projectCommand has to predict exactly what the device will report. Predict a field the firmware computes for itself and the control waits forever for a confirmation that cannot arrive.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50">
                <a:solidFill>
                  <a:srgbClr val="0891B2"/>
                </a:solidFill>
                <a:latin typeface="Calibri"/>
              </a:rPr>
              <a:t>●  </a:t>
            </a:r>
            <a:r>
              <a:rPr sz="1250">
                <a:solidFill>
                  <a:srgbClr val="334155"/>
                </a:solidFill>
                <a:latin typeface="Calibri"/>
              </a:rPr>
              <a:t>The device is the only authority on its own state. Everything upstream is displaying a belief until the retained state message replaces it.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50">
                <a:solidFill>
                  <a:srgbClr val="0891B2"/>
                </a:solidFill>
                <a:latin typeface="Calibri"/>
              </a:rPr>
              <a:t>●  </a:t>
            </a:r>
            <a:r>
              <a:rPr sz="1250" b="1">
                <a:solidFill>
                  <a:srgbClr val="0F1729"/>
                </a:solidFill>
                <a:latin typeface="Calibri"/>
              </a:rPr>
              <a:t>Boards in one home can now short-circuit this entirely over the local bus — </a:t>
            </a:r>
            <a:r>
              <a:rPr sz="1250">
                <a:solidFill>
                  <a:srgbClr val="334155"/>
                </a:solidFill>
                <a:latin typeface="Calibri"/>
              </a:rPr>
              <a:t>see the local-bus slide.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MQTT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The topic contract, which four codebases depend 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070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554480"/>
                <a:gridCol w="1371600"/>
                <a:gridCol w="5394960"/>
              </a:tblGrid>
              <a:tr h="4389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Direction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Delivery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Why it is that way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cv/&lt;id&gt;/state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device → cloud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retained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The whole reported state. Retained, so anything that connects learns the current state immediately instead of waiting for the next heartbeat.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cv/&lt;id&gt;/telemetry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device → cloud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not retained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Readings worth keeping history for. Never retained — a stored reading would be replayed to every new subscriber as though it had just happened.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cv/&lt;id&gt;/cmd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cloud → device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QoS 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The only topic a device subscribes to. QoS 1 because a dropped 'switch off' is not an inconvenience, it is a heater left running.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cv/&lt;id&gt;/status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device → cloud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last will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Set as the MQTT will, so the broker publishes it if the device stops answering. A device cannot announce its own unexpected death.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02920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64748B"/>
                </a:solidFill>
                <a:latin typeface="Calibri"/>
              </a:rPr>
              <a:t>Rename a leaf in the sketch and the console, the app and the bridge all go quiet without a single error anywhere. These names are an interface, not an implementation detail.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THE BROKER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Self-hosted, and deliberately so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37360"/>
          <a:ext cx="10607038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19"/>
                <a:gridCol w="8503919"/>
              </a:tblGrid>
              <a:tr h="4389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/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How it is set up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Broker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eclipse-mosquitto:2, in Docker Compose on the control-plane VM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Listeners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1883, 8883 — 1883 private to the Docker network, 8883 public TLS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Anonymous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allow_anonymous false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Auth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Dynamic Security plugin. The control plane creates a per-device client the moment the app provisions it, so a new device needs no server step.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ACL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Each device is scoped to cv/&lt;its own id&gt;/# — one compromised device cannot read or drive another.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set_tcp_nodelay true — without it Nagle buffers small control packets for ~40ms, which is felt on a light switch.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Limits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max_connections 2000, max_inflight 40, message_size_limit 262144 bytes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CERTIFICATES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Three separate stories that get mistaken for one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83080"/>
          <a:ext cx="10607036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79"/>
                <a:gridCol w="2285999"/>
                <a:gridCol w="1371599"/>
                <a:gridCol w="4937759"/>
              </a:tblGrid>
              <a:tr h="4389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Where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Issued by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Renewal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What that means for you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circuvent.com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Let's Encrypt, via Vercel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Automatic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Renewed by Vercel. Nothing to do, and nothing that can be done by hand.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api.circuvent.com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Let's Encrypt, via Caddy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Automatic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Caddy handles ACME in the compose stack. Port 80 must stay reachable or renewal fails silently until the certificate simply expires.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mqtt :8883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Circuvent's own CA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Ours to renew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platform/scripts/gen-certs.sh. The firmware embeds ca.crt (CIRCUVENT_DEFAULT_CA), so replacing this CA means an OTA to every device before the swap, in that order, or the fleet cannot reconnect.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OTA downloads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Let's Encrypt roots, pinned in firmware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Pinned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ISRG Root X1 and X2 are compiled into the sketch so a device will only fetch firmware from a host chaining to them.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5120640"/>
            <a:ext cx="106070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Only one of these is ours to renew. It is also the one whose expiry takes the whole fleet offline, and the one no ACME client is watching.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6B6D4"/>
                </a:solidFill>
                <a:latin typeface="Calibri"/>
              </a:rPr>
              <a:t>THE PINNING SCARE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A worked example of the house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2024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850">
                <a:solidFill>
                  <a:srgbClr val="0891B2"/>
                </a:solidFill>
                <a:latin typeface="Calibri"/>
              </a:rPr>
              <a:t>●  </a:t>
            </a:r>
            <a:r>
              <a:rPr sz="1350">
                <a:solidFill>
                  <a:srgbClr val="CBD5E1"/>
                </a:solidFill>
                <a:latin typeface="Calibri"/>
              </a:rPr>
              <a:t>The firmware pins ISRG Root X1 and X2. Reading the live chain for the site showed it terminating at a root with a different name, which looks exactly like a fleet that is about to fail every OTA.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850">
                <a:solidFill>
                  <a:srgbClr val="0891B2"/>
                </a:solidFill>
                <a:latin typeface="Calibri"/>
              </a:rPr>
              <a:t>●  </a:t>
            </a:r>
            <a:r>
              <a:rPr sz="1350" b="1">
                <a:solidFill>
                  <a:srgbClr val="FFFFFF"/>
                </a:solidFill>
                <a:latin typeface="Calibri"/>
              </a:rPr>
              <a:t>Pushing an update on that reading would have been the wrong call in both directions — </a:t>
            </a:r>
            <a:r>
              <a:rPr sz="1350">
                <a:solidFill>
                  <a:srgbClr val="CBD5E1"/>
                </a:solidFill>
                <a:latin typeface="Calibri"/>
              </a:rPr>
              <a:t>abandoning a working pipeline, or worse, removing the pin.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850">
                <a:solidFill>
                  <a:srgbClr val="0891B2"/>
                </a:solidFill>
                <a:latin typeface="Calibri"/>
              </a:rPr>
              <a:t>●  </a:t>
            </a:r>
            <a:r>
              <a:rPr sz="1350">
                <a:solidFill>
                  <a:srgbClr val="CBD5E1"/>
                </a:solidFill>
                <a:latin typeface="Calibri"/>
              </a:rPr>
              <a:t>Running the actual handshake settled it in a minute: the chain served is cross-signed and terminates at X1, which is precisely what the device validates against. Nothing was wrong.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850">
                <a:solidFill>
                  <a:srgbClr val="0891B2"/>
                </a:solidFill>
                <a:latin typeface="Calibri"/>
              </a:rPr>
              <a:t>●  </a:t>
            </a:r>
            <a:r>
              <a:rPr sz="1350">
                <a:solidFill>
                  <a:srgbClr val="CBD5E1"/>
                </a:solidFill>
                <a:latin typeface="Calibri"/>
              </a:rPr>
              <a:t>The lesson is the house rule, in its most expensive form: reading a certificate's subject names is not the same as completing a handshake.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5212080"/>
            <a:ext cx="2011680" cy="41148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Calibri"/>
              </a:rPr>
              <a:t>Verify by running it, not by reading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Where each one lives — named here, never valued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37360"/>
          <a:ext cx="106070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08960"/>
                <a:gridCol w="5303520"/>
              </a:tblGrid>
              <a:tr h="43891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Class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Lives in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The part that catches people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Website / console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Vercel project environment variables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Per-environment, and preview variables are branch-scoped — pulling them without naming the branch quietly gives you production's.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Control plane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platform/.env on the VM, read by Docker Compose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Never in the repo. config.ts validates it at boot so a missing one is a refusal to start rather than a runtime surprise at 3am.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Broker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Dynamic Security store in the mosquitto data volume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Per-device credentials, minted by the control plane at provisioning.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Device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NVS on the ESP32, written during provisioning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Identity and key never leave the device; a factory reset clears them.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Signing key (Android)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mobile/credentials/, gitignored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play-upload-key.json names the active keystore. Two keystores with no named winner is a refusal to build, not a guess.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Home link key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NVS, pushed as {action:"homekey"}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334155"/>
                          </a:solidFill>
                          <a:latin typeface="Calibri"/>
                        </a:rPr>
                        <a:t>No key means no local bus — never an unauthenticated one.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CONTROL PLANE: WHAT IT REFUSES TO START WITHOUT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3 variables with no default, from config.ts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700">
                <a:solidFill>
                  <a:srgbClr val="0891B2"/>
                </a:solidFill>
                <a:latin typeface="Calibri"/>
              </a:rPr>
              <a:t>●  </a:t>
            </a:r>
            <a:r>
              <a:rPr sz="1200" b="1">
                <a:solidFill>
                  <a:srgbClr val="0F1729"/>
                </a:solidFill>
                <a:latin typeface="Calibri"/>
              </a:rPr>
              <a:t>DATABASE_URL — </a:t>
            </a:r>
            <a:r>
              <a:rPr sz="1200">
                <a:solidFill>
                  <a:srgbClr val="334155"/>
                </a:solidFill>
                <a:latin typeface="Calibri"/>
              </a:rPr>
              <a:t>required — the API refuses to start without it</a:t>
            </a:r>
          </a:p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700">
                <a:solidFill>
                  <a:srgbClr val="0891B2"/>
                </a:solidFill>
                <a:latin typeface="Calibri"/>
              </a:rPr>
              <a:t>●  </a:t>
            </a:r>
            <a:r>
              <a:rPr sz="1200" b="1">
                <a:solidFill>
                  <a:srgbClr val="0F1729"/>
                </a:solidFill>
                <a:latin typeface="Calibri"/>
              </a:rPr>
              <a:t>MQTT_PASSWORD — </a:t>
            </a:r>
            <a:r>
              <a:rPr sz="1200">
                <a:solidFill>
                  <a:srgbClr val="334155"/>
                </a:solidFill>
                <a:latin typeface="Calibri"/>
              </a:rPr>
              <a:t>required — the API refuses to start without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1828800"/>
            <a:ext cx="52120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</a:pPr>
            <a:r>
              <a:rPr sz="700">
                <a:solidFill>
                  <a:srgbClr val="0891B2"/>
                </a:solidFill>
                <a:latin typeface="Calibri"/>
              </a:rPr>
              <a:t>●  </a:t>
            </a:r>
            <a:r>
              <a:rPr sz="1200" b="1">
                <a:solidFill>
                  <a:srgbClr val="0F1729"/>
                </a:solidFill>
                <a:latin typeface="Calibri"/>
              </a:rPr>
              <a:t>JWT_SECRET — </a:t>
            </a:r>
            <a:r>
              <a:rPr sz="1200">
                <a:solidFill>
                  <a:srgbClr val="334155"/>
                </a:solidFill>
                <a:latin typeface="Calibri"/>
              </a:rPr>
              <a:t>required — the API refuses to start without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Validated by a schema at boot, so a missing one is a refusal to start rather than a surprise at 3am.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INTEGRATIONS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Everything this system talks to that is not ours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37360"/>
          <a:ext cx="10607040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017520"/>
                <a:gridCol w="5394960"/>
              </a:tblGrid>
              <a:tr h="43891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Integration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to know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Google Home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Smart Home intents + HomeGraph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onOff() decides what is exposed. A type missing from it is simply absent, with no error.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Amazon Alexa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Smart Home skill + event gateway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Display category is a physical-consequence decision: a pump typed as a switch is caught by 'turn everything off' at bedtime.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Siri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Derived on-device from DEVICE_META.toggle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No Swift change needed to add a device.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Shop ↔ console SSO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Shared FEDERATION_SECRET, HMAC + timestamp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Server-to-server only. Guarded by PROD_IDENTITY_HOSTS so a preview deployment cannot authenticate a production customer.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OTA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Signed pointer over MQTT → HTTPS fetch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public/fw/ on Vercel; the device pins the roots it will fetch from.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Incident routing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ICM + Teams webhooks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Durable escalation runs on the Vercel Workflow SDK.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Databases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Neon (shop) and Postgres 16 in Compose (fleet)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Two databases, deliberately. Different owners, different blast radius.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Four things, four different mechanisms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37360"/>
          <a:ext cx="10607040" cy="19751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200400"/>
                <a:gridCol w="5212080"/>
              </a:tblGrid>
              <a:tr h="438912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What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How it ships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Calibri"/>
                        </a:rPr>
                        <a:t>The part that bites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Website / console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git push → Vercel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main → circuvent.com, develop → dev.circuvent.com. Build failures surface as a stuck deployment, not a red X on the commit.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Control plane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docker compose up -d --build on the VM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Caddy terminates TLS; the API and broker sit behind it.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Mobile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node scripts/build-android.mjs --apk | --aab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Signing is checked before and after the build, so a rejected upload costs seconds instead of a seven-minute build plus a Play round trip.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Firmware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python -m platformio run, then OTA broadcast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334155"/>
                          </a:solidFill>
                          <a:latin typeface="Calibri"/>
                        </a:rPr>
                        <a:t>The binary goes to public/fw/; the device is told where by MQTT.</a:t>
                      </a:r>
                    </a:p>
                  </a:txBody>
                  <a:tcPr anchor="ctr" marL="91440" marR="9144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49377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4748B"/>
                </a:solidFill>
                <a:latin typeface="Calibri"/>
              </a:rPr>
              <a:t>A local build passing is not evidence the pushed tree builds — uncommitted files can satisfy an import. Diagnose with a worktree at the pushed commit.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THE LOCAL BUS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Boards in one home talk directly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783080"/>
            <a:ext cx="106070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50">
                <a:solidFill>
                  <a:srgbClr val="0891B2"/>
                </a:solidFill>
                <a:latin typeface="Calibri"/>
              </a:rPr>
              <a:t>●  </a:t>
            </a:r>
            <a:r>
              <a:rPr sz="1250">
                <a:solidFill>
                  <a:srgbClr val="334155"/>
                </a:solidFill>
                <a:latin typeface="Calibri"/>
              </a:rPr>
              <a:t>ESP-NOW between boards: no router, no broker, single-digit milliseconds. A hall pad can switch a bedroom light with the broadband unplugged.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50">
                <a:solidFill>
                  <a:srgbClr val="0891B2"/>
                </a:solidFill>
                <a:latin typeface="Calibri"/>
              </a:rPr>
              <a:t>●  </a:t>
            </a:r>
            <a:r>
              <a:rPr sz="1250">
                <a:solidFill>
                  <a:srgbClr val="334155"/>
                </a:solidFill>
                <a:latin typeface="Calibri"/>
              </a:rPr>
              <a:t>Authenticated with a truncated HMAC-SHA512 keyed by a per-home secret, plus a per-sender rolling sequence. An ESP-NOW frame is broadcast into a building containing other people's flats.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750">
                <a:solidFill>
                  <a:srgbClr val="0891B2"/>
                </a:solidFill>
                <a:latin typeface="Calibri"/>
              </a:rPr>
              <a:t>●  </a:t>
            </a:r>
            <a:r>
              <a:rPr sz="1250" b="1">
                <a:solidFill>
                  <a:srgbClr val="0F1729"/>
                </a:solidFill>
                <a:latin typeface="Calibri"/>
              </a:rPr>
              <a:t>No home key means no local bus — </a:t>
            </a:r>
            <a:r>
              <a:rPr sz="1250">
                <a:solidFill>
                  <a:srgbClr val="334155"/>
                </a:solidFill>
                <a:latin typeface="Calibri"/>
              </a:rPr>
              <a:t>never an unauthenticated one.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4206240"/>
            <a:ext cx="10607040" cy="160020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777240" y="4206240"/>
            <a:ext cx="45720" cy="1600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4370832"/>
            <a:ext cx="10149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F1729"/>
                </a:solidFill>
                <a:latin typeface="Calibri"/>
              </a:rPr>
              <a:t>The hard part is the channel, not the radio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4736592"/>
            <a:ext cx="101498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4748B"/>
                </a:solidFill>
                <a:latin typeface="Calibri"/>
              </a:rPr>
              <a:t>An ESP32 has one radio, and ESP-NOW transmits on whatever channel Wi-Fi is parked on. When the router dies each board starts scanning independently and they scatter across the band — so the local bus disintegrates during the outage it exists for. Boards now park on a fixed channel after 20s down, and all converge.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6B6D4"/>
                </a:solidFill>
                <a:latin typeface="Calibri"/>
              </a:rPr>
              <a:t>HOW THIS SYSTEM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Calibri"/>
              </a:rPr>
              <a:t>Quietly, and while looking healthy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106070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700">
                <a:solidFill>
                  <a:srgbClr val="0891B2"/>
                </a:solidFill>
                <a:latin typeface="Calibri"/>
              </a:rPr>
              <a:t>●  </a:t>
            </a:r>
            <a:r>
              <a:rPr sz="1200" b="1">
                <a:solidFill>
                  <a:srgbClr val="FFFFFF"/>
                </a:solidFill>
                <a:latin typeface="Calibri"/>
              </a:rPr>
              <a:t>A slider that cannot ask for what the hardware does — </a:t>
            </a:r>
            <a:r>
              <a:rPr sz="1200">
                <a:solidFill>
                  <a:srgbClr val="CBD5E1"/>
                </a:solidFill>
                <a:latin typeface="Calibri"/>
              </a:rPr>
              <a:t>Camera fps capped at 15 in the app and 30 in the console while the firmware did 60. The device silently clamps, so nothing contradicts it.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700">
                <a:solidFill>
                  <a:srgbClr val="0891B2"/>
                </a:solidFill>
                <a:latin typeface="Calibri"/>
              </a:rPr>
              <a:t>●  </a:t>
            </a:r>
            <a:r>
              <a:rPr sz="1200" b="1">
                <a:solidFill>
                  <a:srgbClr val="FFFFFF"/>
                </a:solidFill>
                <a:latin typeface="Calibri"/>
              </a:rPr>
              <a:t>A field published and never read — </a:t>
            </a:r>
            <a:r>
              <a:rPr sz="1200">
                <a:solidFill>
                  <a:srgbClr val="CBD5E1"/>
                </a:solidFill>
                <a:latin typeface="Calibri"/>
              </a:rPr>
              <a:t>otaStatus and wifiStatus were both broadcast for years. A camera mid-update rendered as a hardware fault telling somebody to reseat a ribbon cable.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700">
                <a:solidFill>
                  <a:srgbClr val="0891B2"/>
                </a:solidFill>
                <a:latin typeface="Calibri"/>
              </a:rPr>
              <a:t>●  </a:t>
            </a:r>
            <a:r>
              <a:rPr sz="1200" b="1">
                <a:solidFill>
                  <a:srgbClr val="FFFFFF"/>
                </a:solidFill>
                <a:latin typeface="Calibri"/>
              </a:rPr>
              <a:t>A control that reaches only part of what it claims — </a:t>
            </a:r>
            <a:r>
              <a:rPr sz="1200">
                <a:solidFill>
                  <a:srgbClr val="CBD5E1"/>
                </a:solidFill>
                <a:latin typeface="Calibri"/>
              </a:rPr>
              <a:t>The view-density setting moved three padding steps out of six, so 46 sections ignored it.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700">
                <a:solidFill>
                  <a:srgbClr val="0891B2"/>
                </a:solidFill>
                <a:latin typeface="Calibri"/>
              </a:rPr>
              <a:t>●  </a:t>
            </a:r>
            <a:r>
              <a:rPr sz="1200" b="1">
                <a:solidFill>
                  <a:srgbClr val="FFFFFF"/>
                </a:solidFill>
                <a:latin typeface="Calibri"/>
              </a:rPr>
              <a:t>A job that fails closed and says nothing — </a:t>
            </a:r>
            <a:r>
              <a:rPr sz="1200">
                <a:solidFill>
                  <a:srgbClr val="CBD5E1"/>
                </a:solidFill>
                <a:latin typeface="Calibri"/>
              </a:rPr>
              <a:t>Four crons returned 403 forever without CRON_SECRET and recorded nothing either way.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700">
                <a:solidFill>
                  <a:srgbClr val="0891B2"/>
                </a:solidFill>
                <a:latin typeface="Calibri"/>
              </a:rPr>
              <a:t>●  </a:t>
            </a:r>
            <a:r>
              <a:rPr sz="1200" b="1">
                <a:solidFill>
                  <a:srgbClr val="FFFFFF"/>
                </a:solidFill>
                <a:latin typeface="Calibri"/>
              </a:rPr>
              <a:t>A device that cannot be told anything — </a:t>
            </a:r>
            <a:r>
              <a:rPr sz="1200">
                <a:solidFill>
                  <a:srgbClr val="CBD5E1"/>
                </a:solidFill>
                <a:latin typeface="Calibri"/>
              </a:rPr>
              <a:t>A gang in firmware with no entry in the console's field list is a switch on the wall that the app does not know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94A3B8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82296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822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891B2"/>
                </a:solidFill>
                <a:latin typeface="Calibri"/>
              </a:rPr>
              <a:t>RECENT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0F1729"/>
                </a:solidFill>
                <a:latin typeface="Calibri"/>
              </a:rPr>
              <a:t>From the log, not from memory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37360"/>
          <a:ext cx="10607040" cy="5047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9235440"/>
              </a:tblGrid>
              <a:tr h="43891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Commit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What it did</a:t>
                      </a:r>
                    </a:p>
                  </a:txBody>
                  <a:tcPr anchor="ctr" marL="91440">
                    <a:solidFill>
                      <a:srgbClr val="0F172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74ecb95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Let the boards in a home talk to each other, and stop sending people to the wall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162d3ec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Add the 8-gang touch board, wired through every surface that has to know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9bf5ffb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Release 1.12.0 (22), and stop the console halving the camera's frame rate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811bbca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Fix cramped section headings by making all six padding steps density-aware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8aa7d0c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Ship the working tree: view settings, ICM durability, broker cert, PCBs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ab3e56c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Generate the engineering handover pack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ba3a4ef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The unattended sweep could never have run as documented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2081f26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Set up the Vercel Workflow SDK, and exclude it from the proxy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7b7a7b1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Unbreak the build: I committed somebody else's work in progress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d7df311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The AI routes are deployed; the doc still said they 404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55fbe8a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Make it possible to find out whether the scheduled jobs run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eed6774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>
                          <a:solidFill>
                            <a:srgbClr val="334155"/>
                          </a:solidFill>
                          <a:latin typeface="Calibri"/>
                        </a:rPr>
                        <a:t>Document the identity guard where a fresh clone will actually see it</a:t>
                      </a:r>
                    </a:p>
                  </a:txBody>
                  <a:tcPr anchor="ctr" marL="91440"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7240" y="635508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Circuvent Technologies  ·  circuvent.com  ·  contact@circuvent.com  ·  +91 765 999 333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355080"/>
            <a:ext cx="685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64748B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If you change one thing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200400"/>
            <a:ext cx="98755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900">
                <a:solidFill>
                  <a:srgbClr val="0891B2"/>
                </a:solidFill>
                <a:latin typeface="Calibri"/>
              </a:rPr>
              <a:t>●  </a:t>
            </a:r>
            <a:r>
              <a:rPr sz="1400" b="1">
                <a:solidFill>
                  <a:srgbClr val="FFFFFF"/>
                </a:solidFill>
                <a:latin typeface="Calibri"/>
              </a:rPr>
              <a:t>Regenerate this deck rather than editing a slide — </a:t>
            </a:r>
            <a:r>
              <a:rPr sz="1400">
                <a:solidFill>
                  <a:srgbClr val="CBD5E1"/>
                </a:solidFill>
                <a:latin typeface="Calibri"/>
              </a:rPr>
              <a:t>it is built from the repository.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900">
                <a:solidFill>
                  <a:srgbClr val="0891B2"/>
                </a:solidFill>
                <a:latin typeface="Calibri"/>
              </a:rPr>
              <a:t>●  </a:t>
            </a:r>
            <a:r>
              <a:rPr sz="1400">
                <a:solidFill>
                  <a:srgbClr val="CBD5E1"/>
                </a:solidFill>
                <a:latin typeface="Calibri"/>
              </a:rPr>
              <a:t>Add a parity test whenever two files have to agree. That is what catches the silent class.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900">
                <a:solidFill>
                  <a:srgbClr val="0891B2"/>
                </a:solidFill>
                <a:latin typeface="Calibri"/>
              </a:rPr>
              <a:t>●  </a:t>
            </a:r>
            <a:r>
              <a:rPr sz="1400">
                <a:solidFill>
                  <a:srgbClr val="CBD5E1"/>
                </a:solidFill>
                <a:latin typeface="Calibri"/>
              </a:rPr>
              <a:t>Prove it by running it. A guard that has never failed is not a guard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603504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75569"/>
                </a:solidFill>
                <a:latin typeface="Calibri"/>
              </a:rPr>
              <a:t>Generated 15 August 2026 from the repository at 74ecb95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