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771900"/>
            <a:ext cx="146304" cy="30861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05840" y="1920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6B6D4"/>
                </a:solidFill>
                <a:latin typeface="Calibri"/>
              </a:rPr>
              <a:t>CIRCUVENT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423160"/>
            <a:ext cx="10241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Calibri"/>
              </a:rPr>
              <a:t>Smart devices that
keep working.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94A3B8"/>
                </a:solidFill>
                <a:latin typeface="Calibri"/>
              </a:rPr>
              <a:t>22 products for the home, from ₹799. One app, one account, one company behind all of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5120640"/>
            <a:ext cx="2011680" cy="41148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05840" y="53492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Calibri"/>
              </a:rPr>
              <a:t>Product and pricing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617220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75569"/>
                </a:solidFill>
                <a:latin typeface="Calibri"/>
              </a:rPr>
              <a:t>Generated 2026-08-15 from the live product catalogue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WHY CUSTOMERS SWITCH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Bought once, not supported once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607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One app for everything — </a:t>
            </a:r>
            <a:r>
              <a:rPr sz="1700">
                <a:solidFill>
                  <a:srgbClr val="334155"/>
                </a:solidFill>
                <a:latin typeface="Calibri"/>
              </a:rPr>
              <a:t>lights, fans, water, power, locks and cameras in a single account.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Keeps working without the internet — </a:t>
            </a:r>
            <a:r>
              <a:rPr sz="1700">
                <a:solidFill>
                  <a:srgbClr val="334155"/>
                </a:solidFill>
                <a:latin typeface="Calibri"/>
              </a:rPr>
              <a:t>devices hold their local behaviour and reconnect on their own.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Real energy visibility — </a:t>
            </a:r>
            <a:r>
              <a:rPr sz="1700">
                <a:solidFill>
                  <a:srgbClr val="334155"/>
                </a:solidFill>
                <a:latin typeface="Calibri"/>
              </a:rPr>
              <a:t>live consumption, not an estimate.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Made in India — </a:t>
            </a:r>
            <a:r>
              <a:rPr sz="1700">
                <a:solidFill>
                  <a:srgbClr val="334155"/>
                </a:solidFill>
                <a:latin typeface="Calibri"/>
              </a:rPr>
              <a:t>our own hardware and firmware, supported directly by us.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6-month warranty and 7-day returns — </a:t>
            </a:r>
            <a:r>
              <a:rPr sz="1700">
                <a:solidFill>
                  <a:srgbClr val="334155"/>
                </a:solidFill>
                <a:latin typeface="Calibri"/>
              </a:rPr>
              <a:t>the same terms on the invoice, the website and the policy page.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C3AED"/>
                </a:solidFill>
                <a:latin typeface="Calibri"/>
              </a:rPr>
              <a:t>PRODUCT 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Safety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37214" cy="4462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2704"/>
                <a:gridCol w="4951807"/>
                <a:gridCol w="1467202"/>
                <a:gridCol w="1375501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MRP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Motion Sensor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PIR motion sensor — automate lights &amp; get intrusion alerts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₹799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₹999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Guardian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Personal safety SOS beacon — help is one press away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₹1,999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₹2,999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Camera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Live view and motion alerts, without a subscription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₹2,499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₹3,199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Sentinel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Gas and climate safety panel that acts, not just alarms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₹3,499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₹4,299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Smart Lock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Lock &amp; unlock your door from anywhere — with auto-relock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₹4,999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₹6,499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Drone Link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Puts your drone's telemetry, flight log and safety limits online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₹6,499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₹7,999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FaceDoor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PIN, fingerprint or face — with a calling bell built in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₹6,999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₹8,499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ANPR Camera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Reads number plates at your gate, and knows whose car it is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₹8,999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₹10,999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RFID Gate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Your gate opens as you drive up — no app, no remote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₹12,999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₹15,999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Drone X1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Our own airframe, our own flight stack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₹24,999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₹28,999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PRODUCT 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Home Automation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37214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2704"/>
                <a:gridCol w="4951807"/>
                <a:gridCol w="1467202"/>
                <a:gridCol w="1375501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MRP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Smart Light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Dimmable, colour-tunable Wi-Fi light — moods, schedules &amp; voice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₹899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₹1,299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Smart Plug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Make any appliance smart — Wi-Fi + voice + energy monitoring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₹999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₹1,499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Smart Fan Controller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Turn any ceiling fan into a smart, speed-controlled fan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₹1,099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₹1,499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Smart Switch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Retrofit Wi-Fi touch switch — control lights &amp; fans from anywher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₹1,499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₹1,999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Home Hub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The brain that ties your smart home together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₹2,499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₹2,999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Touch Switchboard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Three capacitive gangs with per-board energy metering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₹2,999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₹3,799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Smart Curtain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Open &amp; close your curtains on schedule, tap or voice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₹3,499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₹4,499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Touch Switchboard 8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Eight capacitive gangs with per-board energy metering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₹5,499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₹6,799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EA5E9"/>
                </a:solidFill>
                <a:latin typeface="Calibri"/>
              </a:rPr>
              <a:t>PRODUCT 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Water Management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37214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2704"/>
                <a:gridCol w="4951807"/>
                <a:gridCol w="1467202"/>
                <a:gridCol w="1375501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MRP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AquaGuard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Automatic water-tank controller — never overflow, never burn you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₹1,999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₹2,499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Agri GSM Starter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Start / stop your farm pump by a call or SMS — no smartphone nee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₹2,999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₹3,499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WaterTank Duo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Sump to overhead, filled automatically — no cable to the roof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₹3,999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₹4,999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9E0B"/>
                </a:solidFill>
                <a:latin typeface="Calibri"/>
              </a:rPr>
              <a:t>PRODUCT 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Energy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37214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2704"/>
                <a:gridCol w="4951807"/>
                <a:gridCol w="1467202"/>
                <a:gridCol w="1375501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MRP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Energy Monitor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See exactly where your electricity goes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₹1,299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₹1,699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BUYING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Terms, delivery and support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94560"/>
            <a:ext cx="2419273" cy="19202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8716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891B2"/>
                </a:solidFill>
                <a:latin typeface="Calibri"/>
              </a:rPr>
              <a:t>₹999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0156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334155"/>
                </a:solidFill>
                <a:latin typeface="Calibri"/>
              </a:rPr>
              <a:t>free shipping above this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194560"/>
            <a:ext cx="2419273" cy="19202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53713" y="248716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891B2"/>
                </a:solidFill>
                <a:latin typeface="Calibri"/>
              </a:rPr>
              <a:t>6 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3713" y="340156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334155"/>
                </a:solidFill>
                <a:latin typeface="Calibri"/>
              </a:rPr>
              <a:t>warranty on every device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5867" y="2194560"/>
            <a:ext cx="2419273" cy="19202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93027" y="248716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891B2"/>
                </a:solidFill>
                <a:latin typeface="Calibri"/>
              </a:rPr>
              <a:t>7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3027" y="340156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334155"/>
                </a:solidFill>
                <a:latin typeface="Calibri"/>
              </a:rPr>
              <a:t>return window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95181" y="2194560"/>
            <a:ext cx="2419273" cy="19202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32341" y="248716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891B2"/>
                </a:solidFill>
                <a:latin typeface="Calibri"/>
              </a:rPr>
              <a:t>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32341" y="340156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334155"/>
                </a:solidFill>
                <a:latin typeface="Calibri"/>
              </a:rPr>
              <a:t>products to choose from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5720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4748B"/>
                </a:solidFill>
                <a:latin typeface="Calibri"/>
              </a:rPr>
              <a:t>Orders below ₹999 carry flat ₹49 shipping. Returns apply to unused items in original packaging. Bundles are discounted automatically at checkout.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771900"/>
            <a:ext cx="146304" cy="30861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05840" y="246888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Calibri"/>
              </a:rPr>
              <a:t>Order or ask.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6576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100">
                <a:solidFill>
                  <a:srgbClr val="06B6D4"/>
                </a:solidFill>
                <a:latin typeface="Calibri"/>
              </a:rPr>
              <a:t>●  </a:t>
            </a:r>
            <a:r>
              <a:rPr sz="1600" b="1">
                <a:solidFill>
                  <a:srgbClr val="0F1729"/>
                </a:solidFill>
                <a:latin typeface="Calibri"/>
              </a:rPr>
              <a:t>Shop — </a:t>
            </a:r>
            <a:r>
              <a:rPr sz="1600">
                <a:solidFill>
                  <a:srgbClr val="94A3B8"/>
                </a:solidFill>
                <a:latin typeface="Calibri"/>
              </a:rPr>
              <a:t>circuvent.com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100">
                <a:solidFill>
                  <a:srgbClr val="06B6D4"/>
                </a:solidFill>
                <a:latin typeface="Calibri"/>
              </a:rPr>
              <a:t>●  </a:t>
            </a:r>
            <a:r>
              <a:rPr sz="1600" b="1">
                <a:solidFill>
                  <a:srgbClr val="0F1729"/>
                </a:solidFill>
                <a:latin typeface="Calibri"/>
              </a:rPr>
              <a:t>Sales — </a:t>
            </a:r>
            <a:r>
              <a:rPr sz="1600">
                <a:solidFill>
                  <a:srgbClr val="94A3B8"/>
                </a:solidFill>
                <a:latin typeface="Calibri"/>
              </a:rPr>
              <a:t>contact@circuvent.com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100">
                <a:solidFill>
                  <a:srgbClr val="06B6D4"/>
                </a:solidFill>
                <a:latin typeface="Calibri"/>
              </a:rPr>
              <a:t>●  </a:t>
            </a:r>
            <a:r>
              <a:rPr sz="1600" b="1">
                <a:solidFill>
                  <a:srgbClr val="0F1729"/>
                </a:solidFill>
                <a:latin typeface="Calibri"/>
              </a:rPr>
              <a:t>Support — </a:t>
            </a:r>
            <a:r>
              <a:rPr sz="1600">
                <a:solidFill>
                  <a:srgbClr val="94A3B8"/>
                </a:solidFill>
                <a:latin typeface="Calibri"/>
              </a:rPr>
              <a:t>support@circuvent.com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100">
                <a:solidFill>
                  <a:srgbClr val="06B6D4"/>
                </a:solidFill>
                <a:latin typeface="Calibri"/>
              </a:rPr>
              <a:t>●  </a:t>
            </a:r>
            <a:r>
              <a:rPr sz="1600" b="1">
                <a:solidFill>
                  <a:srgbClr val="0F1729"/>
                </a:solidFill>
                <a:latin typeface="Calibri"/>
              </a:rPr>
              <a:t>Phone — </a:t>
            </a:r>
            <a:r>
              <a:rPr sz="1600">
                <a:solidFill>
                  <a:srgbClr val="94A3B8"/>
                </a:solidFill>
                <a:latin typeface="Calibri"/>
              </a:rPr>
              <a:t>+91 765 999 333 1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6217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75569"/>
                </a:solidFill>
                <a:latin typeface="Calibri"/>
              </a:rPr>
              <a:t>Generated 2026-08-15 from the live product catalogue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