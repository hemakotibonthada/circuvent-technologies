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771900"/>
            <a:ext cx="146304" cy="3086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6B6D4"/>
                </a:solidFill>
                <a:latin typeface="Calibri"/>
              </a:rPr>
              <a:t>CIRCUVENT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2316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Connected hardware,
built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94A3B8"/>
                </a:solidFill>
                <a:latin typeface="Calibri"/>
              </a:rPr>
              <a:t>21 products on sale across 4 categories — designed, manufactured, and run on our own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120640"/>
            <a:ext cx="2011680" cy="411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5349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Company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1722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Generated 2026-08-13 from the live product catalogue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We build the whole stack, not a layer of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Hardware — </a:t>
            </a:r>
            <a:r>
              <a:rPr sz="1700">
                <a:solidFill>
                  <a:srgbClr val="334155"/>
                </a:solidFill>
                <a:latin typeface="Calibri"/>
              </a:rPr>
              <a:t>our own PCB designs, 25 board projects in the repository.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Firmware — </a:t>
            </a:r>
            <a:r>
              <a:rPr sz="1700">
                <a:solidFill>
                  <a:srgbClr val="334155"/>
                </a:solidFill>
                <a:latin typeface="Calibri"/>
              </a:rPr>
              <a:t>23 device types on a single shared ESP32 library, so provisioning, connectivity and over-the-air update behave identically across the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Platform — </a:t>
            </a:r>
            <a:r>
              <a:rPr sz="1700">
                <a:solidFill>
                  <a:srgbClr val="334155"/>
                </a:solidFill>
                <a:latin typeface="Calibri"/>
              </a:rPr>
              <a:t>a self-hosted control plane owning devices, telemetry, commands, scenes and automations.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Applications — </a:t>
            </a:r>
            <a:r>
              <a:rPr sz="1700">
                <a:solidFill>
                  <a:srgbClr val="334155"/>
                </a:solidFill>
                <a:latin typeface="Calibri"/>
              </a:rPr>
              <a:t>one console on the web and the same product on Android and iOS.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Commerce — </a:t>
            </a:r>
            <a:r>
              <a:rPr sz="1700">
                <a:solidFill>
                  <a:srgbClr val="334155"/>
                </a:solidFill>
                <a:latin typeface="Calibri"/>
              </a:rPr>
              <a:t>our own storefront, checkout, orders and support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Most companies in this category assemble a white-label device and resell an app. Owning every layer is why a fix reaches a customer's device the same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Smart home hardware fails in ways nobody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7C3AED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Devices go offline and stay offline — </a:t>
            </a:r>
            <a:r>
              <a:rPr sz="1700">
                <a:solidFill>
                  <a:srgbClr val="334155"/>
                </a:solidFill>
                <a:latin typeface="Calibri"/>
              </a:rPr>
              <a:t>a router that boots slower than the device strands it until somebody physically resets it.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7C3AED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Controls that do nothing — </a:t>
            </a:r>
            <a:r>
              <a:rPr sz="1700">
                <a:solidFill>
                  <a:srgbClr val="334155"/>
                </a:solidFill>
                <a:latin typeface="Calibri"/>
              </a:rPr>
              <a:t>an app offers a switch the hardware does not implement, and the customer reports faulty hardware.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7C3AED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No accountability — </a:t>
            </a:r>
            <a:r>
              <a:rPr sz="1700">
                <a:solidFill>
                  <a:srgbClr val="334155"/>
                </a:solidFill>
                <a:latin typeface="Calibri"/>
              </a:rPr>
              <a:t>when a pump burns out or a gate opens, there is no record of why.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7C3AED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Fragmented ownership — </a:t>
            </a:r>
            <a:r>
              <a:rPr sz="1700">
                <a:solidFill>
                  <a:srgbClr val="334155"/>
                </a:solidFill>
                <a:latin typeface="Calibri"/>
              </a:rPr>
              <a:t>hardware from one vendor, app from another, and neither owns the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These are not exotic faults. They are the ordinary ones, and they are invisible because nothing errors — which is exactly why they survive.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What is already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44144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5584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products in the catalogue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14884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53713" y="244144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3713" y="335584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firmware device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14884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93027" y="244144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3027" y="335584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PCB / hardware 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5181" y="2148840"/>
            <a:ext cx="2419273" cy="1920240"/>
          </a:xfrm>
          <a:prstGeom prst="round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32341" y="2441448"/>
            <a:ext cx="214495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2341" y="3355848"/>
            <a:ext cx="214495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4A3B8"/>
                </a:solidFill>
                <a:latin typeface="Calibri"/>
              </a:rPr>
              <a:t>independently shipped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94A3B8"/>
                </a:solidFill>
                <a:latin typeface="Calibri"/>
              </a:rPr>
              <a:t>Every figure on this slide is counted from the source repository at generation time, not maintained by hand. The catalogue spans ₹799 to ₹24,999 across Safety, Home Automation, Water Management, Energy.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PRODUCT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Four categories, one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011680"/>
          <a:ext cx="1063721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8406"/>
                <a:gridCol w="1834002"/>
                <a:gridCol w="2017402"/>
                <a:gridCol w="2017402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From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₹799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₹24,999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Home Automation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₹899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₹3,499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Water Management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₹3,999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Energy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₹1,299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₹1,299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A single account, one app and one automation engine cover all of them. A customer who buys one device can add any other without a second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Four systems, documented contracts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2419273" cy="2286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419273" cy="640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05351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9"/>
                </a:solidFill>
                <a:latin typeface="Calibri"/>
              </a:rPr>
              <a:t>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05351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334155"/>
                </a:solidFill>
                <a:latin typeface="Calibri"/>
              </a:rPr>
              <a:t>ESP32 firmware.
MQTT over TLS.
Local fallback when
the network is gone.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6553" y="2103120"/>
            <a:ext cx="2419273" cy="2286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516553" y="2103120"/>
            <a:ext cx="2419273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99433" y="2331720"/>
            <a:ext cx="205351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9"/>
                </a:solidFill>
                <a:latin typeface="Calibri"/>
              </a:rPr>
              <a:t>Control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9433" y="2880360"/>
            <a:ext cx="205351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334155"/>
                </a:solidFill>
                <a:latin typeface="Calibri"/>
              </a:rPr>
              <a:t>Self-hosted API.
Owns devices, telemetry,
commands, automations.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03120"/>
            <a:ext cx="2419273" cy="2286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55867" y="2103120"/>
            <a:ext cx="2419273" cy="640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38747" y="2331720"/>
            <a:ext cx="205351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9"/>
                </a:solidFill>
                <a:latin typeface="Calibri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2880360"/>
            <a:ext cx="205351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334155"/>
                </a:solidFill>
                <a:latin typeface="Calibri"/>
              </a:rPr>
              <a:t>Web console and
native mobile app,
the same product.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5181" y="2103120"/>
            <a:ext cx="2419273" cy="2286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995181" y="2103120"/>
            <a:ext cx="2419273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78061" y="2331720"/>
            <a:ext cx="205351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9"/>
                </a:solidFill>
                <a:latin typeface="Calibri"/>
              </a:rPr>
              <a:t>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8061" y="2880360"/>
            <a:ext cx="205351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334155"/>
                </a:solidFill>
                <a:latin typeface="Calibri"/>
              </a:rPr>
              <a:t>Storefront, checkout,
orders, warranty
and support.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748B"/>
                </a:solidFill>
                <a:latin typeface="Calibri"/>
              </a:rPr>
              <a:t>They deploy independently. If the storefront is down, devices keep working; if the device platform is down, the shop keeps selling. Commands reach hardware in under a second, and nothing in that path polls.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WHY IT HOLDS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Engineering decisions that show up commercially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Made in India — </a:t>
            </a:r>
            <a:r>
              <a:rPr sz="1700">
                <a:solidFill>
                  <a:srgbClr val="334155"/>
                </a:solidFill>
                <a:latin typeface="Calibri"/>
              </a:rPr>
              <a:t>our own boards and our own firmware, not a rebadged import with a skinned app.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One platform across every product — </a:t>
            </a:r>
            <a:r>
              <a:rPr sz="1700">
                <a:solidFill>
                  <a:srgbClr val="334155"/>
                </a:solidFill>
                <a:latin typeface="Calibri"/>
              </a:rPr>
              <a:t>a customer adds a second device, not a second app.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Recovers without a human — </a:t>
            </a:r>
            <a:r>
              <a:rPr sz="1700">
                <a:solidFill>
                  <a:srgbClr val="334155"/>
                </a:solidFill>
                <a:latin typeface="Calibri"/>
              </a:rPr>
              <a:t>devices retry the network indefinitely and only ask for setup when genuinely unconfigured.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Failures are made loud — </a:t>
            </a:r>
            <a:r>
              <a:rPr sz="1700">
                <a:solidFill>
                  <a:srgbClr val="334155"/>
                </a:solidFill>
                <a:latin typeface="Calibri"/>
              </a:rPr>
              <a:t>a control that cannot reach hardware is refused at build time rather than shipped as a dead button.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0891B2"/>
                </a:solidFill>
                <a:latin typeface="Calibri"/>
              </a:rPr>
              <a:t>●  </a:t>
            </a:r>
            <a:r>
              <a:rPr sz="1700" b="1">
                <a:solidFill>
                  <a:srgbClr val="0F1729"/>
                </a:solidFill>
                <a:latin typeface="Calibri"/>
              </a:rPr>
              <a:t>Support terms are part of the product — </a:t>
            </a:r>
            <a:r>
              <a:rPr sz="1700">
                <a:solidFill>
                  <a:srgbClr val="334155"/>
                </a:solidFill>
                <a:latin typeface="Calibri"/>
              </a:rPr>
              <a:t>6-month warranty and a 7-day return window, quoted from one source so the invoice, the site and the policy page cannot disagree.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COMMERCIAL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How the money works today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4" cy="389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8005"/>
                <a:gridCol w="6969209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Primary revenue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Direct hardware sales through our own storefront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Price band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₹799 – ₹24,999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Free shipping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Orders over ₹999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Shipping otherwise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₹49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Warranty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6 months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7 days, unused and in original packaging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Attach / bundles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Multi-device bundles priced server-side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Recurring revenue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[ to be supplied ]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[ to be supplied ]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Commercial terms above are read from the live catalogue. Margin and recurring revenue are held outside this repository.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Figures that live outside the product repository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5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009"/>
                <a:gridCol w="4218206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Units shipped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[ to be supplied ]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Revenue, trailing twelve months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[ to be supplied ]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Active devices on the platform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[ to be supplied ]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Registered customers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[ to be supplied ]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Repeat purchase rate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[ to be supplied ]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Headcount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[ to be supplied ]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Funding raised to date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[ to be supplied ]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This deck is generated from the engineering repository, which holds the product and its commercial terms but not the trading figures. These are deliberately left blank rather than estimated — an invented number in a deck is quoted back as 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Shipped, in progress,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3301898" cy="33832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3301898" cy="640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8408" y="2240280"/>
            <a:ext cx="289956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9"/>
                </a:solidFill>
                <a:latin typeface="Calibri"/>
              </a:rPr>
              <a:t>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43200"/>
            <a:ext cx="289956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21 products on sale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Web console and mobile app at parity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Scenes, schedules and automations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Number-plate recognition (ANPR)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Voice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4898" y="2011680"/>
            <a:ext cx="3301898" cy="33832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44898" y="2011680"/>
            <a:ext cx="3301898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46066" y="2240280"/>
            <a:ext cx="289956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9"/>
                </a:solidFill>
                <a:latin typeface="Calibri"/>
              </a:rPr>
              <a:t>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6066" y="2743200"/>
            <a:ext cx="289956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7C3AED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Drone platform and flight logging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7C3AED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Deeper energy analytics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7C3AED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Commercial and multi-site deployments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7C3AED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Partner and dealer channel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2011680"/>
            <a:ext cx="3301898" cy="33832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12556" y="2011680"/>
            <a:ext cx="3301898" cy="6400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13724" y="2240280"/>
            <a:ext cx="289956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9"/>
                </a:solidFill>
                <a:latin typeface="Calibri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724" y="2743200"/>
            <a:ext cx="289956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64748B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Wider retail distribution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64748B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Installer network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64748B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Subscription services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750">
                <a:solidFill>
                  <a:srgbClr val="64748B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Export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Roadmap reflects the state of the repository. Dates are set commercially and are not asserted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771900"/>
            <a:ext cx="146304" cy="3086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Let's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383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6B6D4"/>
                </a:solidFill>
                <a:latin typeface="Calibri"/>
              </a:rPr>
              <a:t>Circuvent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000">
                <a:solidFill>
                  <a:srgbClr val="06B6D4"/>
                </a:solidFill>
                <a:latin typeface="Calibri"/>
              </a:rPr>
              <a:t>●  </a:t>
            </a:r>
            <a:r>
              <a:rPr sz="1500">
                <a:solidFill>
                  <a:srgbClr val="94A3B8"/>
                </a:solidFill>
                <a:latin typeface="Calibri"/>
              </a:rPr>
              <a:t>circuvent.com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000">
                <a:solidFill>
                  <a:srgbClr val="06B6D4"/>
                </a:solidFill>
                <a:latin typeface="Calibri"/>
              </a:rPr>
              <a:t>●  </a:t>
            </a:r>
            <a:r>
              <a:rPr sz="1500">
                <a:solidFill>
                  <a:srgbClr val="94A3B8"/>
                </a:solidFill>
                <a:latin typeface="Calibri"/>
              </a:rPr>
              <a:t>contact@circuvent.com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000">
                <a:solidFill>
                  <a:srgbClr val="06B6D4"/>
                </a:solidFill>
                <a:latin typeface="Calibri"/>
              </a:rPr>
              <a:t>●  </a:t>
            </a:r>
            <a:r>
              <a:rPr sz="1500">
                <a:solidFill>
                  <a:srgbClr val="94A3B8"/>
                </a:solidFill>
                <a:latin typeface="Calibri"/>
              </a:rPr>
              <a:t>+91 765 999 333 1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000">
                <a:solidFill>
                  <a:srgbClr val="06B6D4"/>
                </a:solidFill>
                <a:latin typeface="Calibri"/>
              </a:rPr>
              <a:t>●  </a:t>
            </a:r>
            <a:r>
              <a:rPr sz="1500">
                <a:solidFill>
                  <a:srgbClr val="94A3B8"/>
                </a:solidFill>
                <a:latin typeface="Calibri"/>
              </a:rPr>
              <a:t>Hyderabad,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2179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Generated 2026-08-13 from the live product catalogue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