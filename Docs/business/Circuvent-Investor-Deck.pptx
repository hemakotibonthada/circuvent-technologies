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Connected hardware,
built end to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21 products on sale across 4 categories — designed, manufactured, and run on our own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Company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We build the whole stack, not a layer of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Hardware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PCB designs, 25 board projects in the repository.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Firmware — </a:t>
            </a:r>
            <a:r>
              <a:rPr sz="1700">
                <a:solidFill>
                  <a:srgbClr val="334155"/>
                </a:solidFill>
                <a:latin typeface="Calibri"/>
              </a:rPr>
              <a:t>22 device types on a single shared ESP32 library, so provisioning, connectivity and over-the-air update behave identically across the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Platform — </a:t>
            </a:r>
            <a:r>
              <a:rPr sz="1700">
                <a:solidFill>
                  <a:srgbClr val="334155"/>
                </a:solidFill>
                <a:latin typeface="Calibri"/>
              </a:rPr>
              <a:t>a self-hosted control plane owning devices, telemetry, commands, scenes and automations.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Applications — </a:t>
            </a:r>
            <a:r>
              <a:rPr sz="1700">
                <a:solidFill>
                  <a:srgbClr val="334155"/>
                </a:solidFill>
                <a:latin typeface="Calibri"/>
              </a:rPr>
              <a:t>one console on the web and the same product on Android and iOS.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Commerce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storefront, checkout, orders and support 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Most companies in this category assemble a white-label device and resell an app. Owning every layer is why a fix reaches a customer's device the same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Smart home hardware fails in ways nobody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Devices go offline and stay offline — </a:t>
            </a:r>
            <a:r>
              <a:rPr sz="1700">
                <a:solidFill>
                  <a:srgbClr val="334155"/>
                </a:solidFill>
                <a:latin typeface="Calibri"/>
              </a:rPr>
              <a:t>a router that boots slower than the device strands it until somebody physically resets it.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Controls that do nothing — </a:t>
            </a:r>
            <a:r>
              <a:rPr sz="1700">
                <a:solidFill>
                  <a:srgbClr val="334155"/>
                </a:solidFill>
                <a:latin typeface="Calibri"/>
              </a:rPr>
              <a:t>an app offers a switch the hardware does not implement, and the customer reports faulty hardware.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No accountability — </a:t>
            </a:r>
            <a:r>
              <a:rPr sz="1700">
                <a:solidFill>
                  <a:srgbClr val="334155"/>
                </a:solidFill>
                <a:latin typeface="Calibri"/>
              </a:rPr>
              <a:t>when a pump burns out or a gate opens, there is no record of why.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Fragmented ownership — </a:t>
            </a:r>
            <a:r>
              <a:rPr sz="1700">
                <a:solidFill>
                  <a:srgbClr val="334155"/>
                </a:solidFill>
                <a:latin typeface="Calibri"/>
              </a:rPr>
              <a:t>hardware from one vendor, app from another, and neither owns the failure.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These are not exotic faults. They are the ordinary ones, and they are invisible because nothing errors — which is exactly why they survive.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What is already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products in the catalogue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firmware device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PCB / hardware projects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independently shipped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94A3B8"/>
                </a:solidFill>
                <a:latin typeface="Calibri"/>
              </a:rPr>
              <a:t>Every figure on this slide is counted from the source repository at generation time, not maintained by hand. The catalogue spans ₹799 to ₹24,999 across Safety, Home Automation, Water Management, Energy.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categories, one platform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11680"/>
          <a:ext cx="10637212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8406"/>
                <a:gridCol w="1834002"/>
                <a:gridCol w="2017402"/>
                <a:gridCol w="2017402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Home Automation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Water Management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A single account, one app and one automation engine cover all of them. A customer who buys one device can add any other without a second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systems, documented 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419273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ESP32 firmware.
MQTT over TLS.
Local fallback when
the network is gone.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6553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516553" y="2103120"/>
            <a:ext cx="241927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9433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9433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Self-hosted API.
Owns devices, telemetry,
commands, automations.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55867" y="2103120"/>
            <a:ext cx="2419273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38747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747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Web console and
native mobile app,
the same product.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5181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995181" y="2103120"/>
            <a:ext cx="241927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78061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Commerce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8061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Storefront, checkout,
orders, warranty
and support.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09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They deploy independently. If the storefront is down, devices keep working; if the device platform is down, the shop keeps selling. Commands reach hardware in under a second, and nothing in that path polls.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WHY IT HOLDS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Engineering decisions that show up commercially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Made in India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boards and our own firmware, not a rebadged import with a skinned app.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One platform across every product — </a:t>
            </a:r>
            <a:r>
              <a:rPr sz="1700">
                <a:solidFill>
                  <a:srgbClr val="334155"/>
                </a:solidFill>
                <a:latin typeface="Calibri"/>
              </a:rPr>
              <a:t>a customer adds a second device, not a second app.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Recovers without a human — </a:t>
            </a:r>
            <a:r>
              <a:rPr sz="1700">
                <a:solidFill>
                  <a:srgbClr val="334155"/>
                </a:solidFill>
                <a:latin typeface="Calibri"/>
              </a:rPr>
              <a:t>devices retry the network indefinitely and only ask for setup when genuinely unconfigured.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Failures are made loud — </a:t>
            </a:r>
            <a:r>
              <a:rPr sz="1700">
                <a:solidFill>
                  <a:srgbClr val="334155"/>
                </a:solidFill>
                <a:latin typeface="Calibri"/>
              </a:rPr>
              <a:t>a control that cannot reach hardware is refused at build time rather than shipped as a dead button.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Support terms are part of the product — </a:t>
            </a:r>
            <a:r>
              <a:rPr sz="1700">
                <a:solidFill>
                  <a:srgbClr val="334155"/>
                </a:solidFill>
                <a:latin typeface="Calibri"/>
              </a:rPr>
              <a:t>6-month warranty and a 7-day return window, quoted from one source so the invoice, the site and the policy page cannot disagree.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COMMERCIAL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How the money works today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965960"/>
          <a:ext cx="10637214" cy="389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8005"/>
                <a:gridCol w="6969209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Primary revenue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Direct hardware sales through our own storefront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Price band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₹799 – ₹24,999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Free shipping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Orders over ₹999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Shipping otherwise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₹49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Warranty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6 months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Returns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7 days, unused and in original packaging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Attach / bundles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Multi-device bundles priced server-side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Recurring revenue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48B"/>
                </a:solidFill>
                <a:latin typeface="Calibri"/>
              </a:rPr>
              <a:t>Commercial terms above are read from the live catalogue. Margin and recurring revenue are held outside this repository.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Figures that live outside the product repository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965960"/>
          <a:ext cx="10637215" cy="3319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009"/>
                <a:gridCol w="4218206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Units shipped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Revenue, trailing twelve months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Active devices on the platform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Registered customers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Repeat purchase rate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Headcount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Funding raised to date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949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This deck is generated from the engineering repository, which holds the product and its commercial terms but not the trading figures. These are deliberately left blank rather than estimated — an invented number in a deck is quoted back as 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Shipped, in progress,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3301898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78408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21 products on sale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Web console and mobile app at parity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Scenes, schedules and automations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Number-plate recognition (ANPR)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Voice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4898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4898" y="2011680"/>
            <a:ext cx="3301898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46066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Drone platform and flight logging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Deeper energy analytics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Commercial and multi-site deployments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Partner and dealer channel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2556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12556" y="2011680"/>
            <a:ext cx="3301898" cy="6400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13724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724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Wider retail distribution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Installer network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Subscription services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Export markets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48B"/>
                </a:solidFill>
                <a:latin typeface="Calibri"/>
              </a:rPr>
              <a:t>Roadmap reflects the state of the repository. Dates are set commercially and are not asserted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Calibri"/>
              </a:rPr>
              <a:t>Let's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383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31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circuvent.com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contact@circuvent.com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+91 765 999 333 1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Hyderabad,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