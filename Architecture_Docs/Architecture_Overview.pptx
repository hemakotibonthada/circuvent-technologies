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997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What this repository is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23774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64748B"/>
                </a:solidFill>
                <a:latin typeface="Calibri"/>
              </a:rPr>
              <a:t>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37376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875"/>
                </a:solidFill>
                <a:latin typeface="Calibri"/>
              </a:rPr>
              <a:t>Circuvent Technologies · Architecture &amp; Technical Audit · 2026-08-20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70432"/>
            <a:ext cx="11185855" cy="566928"/>
          </a:xfrm>
          <a:prstGeom prst="roundRect">
            <a:avLst/>
          </a:prstGeom>
          <a:solidFill>
            <a:srgbClr val="EEF3FB"/>
          </a:solidFill>
          <a:ln w="1524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600" b="1">
                <a:solidFill>
                  <a:srgbClr val="1E3A8A"/>
                </a:solidFill>
                <a:latin typeface="Calibri"/>
              </a:rPr>
              <a:t>It is called "website". It is a company.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2093976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75104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A marketing site, an e-commerce store with payments, an 83-route admin back office, a smart-home IoT console with 60+ sections, and a public developer portal — all in one Next.js application.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862072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743200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Plus firmware for a 17-SKU retail hardware line sold on Amazon.in and Flipkart, real KiCad PCB designs, a self-hosted MQTT cloud on one Oracle VM, a shipped Play Store app, a drone, and an RC car.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3630168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11296"/>
            <a:ext cx="10545775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Plus a completely separate internal SaaS for project tracking, HR, payroll and a client portal.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4160520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041648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23,184 files · 1,810 src TypeScript files · 428,355 lines · 150 API routes · 108 pages · 533 commits · 5 git remotes.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4928616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809744"/>
            <a:ext cx="10545775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The README describes 18 routes and 50+ components. That was true once.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997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At a glance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23774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64748B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37376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875"/>
                </a:solidFill>
                <a:latin typeface="Calibri"/>
              </a:rPr>
              <a:t>Circuvent Technologies · Architecture &amp; Technical Audit · 2026-08-20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43584"/>
            <a:ext cx="11185855" cy="56692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43584"/>
            <a:ext cx="38100" cy="56692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362456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3A8A"/>
                </a:solidFill>
                <a:latin typeface="Calibri"/>
              </a:rPr>
              <a:t>Stack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9080" y="1362456"/>
            <a:ext cx="75282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933"/>
                </a:solidFill>
                <a:latin typeface="Calibri"/>
              </a:rPr>
              <a:t>Next.js 16.2 App Router · React 19.2 · TypeScript 5 strict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874520"/>
            <a:ext cx="11185855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874520"/>
            <a:ext cx="38100" cy="56692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1993392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3A8A"/>
                </a:solidFill>
                <a:latin typeface="Calibri"/>
              </a:rPr>
              <a:t>Database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69080" y="1993392"/>
            <a:ext cx="75282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933"/>
                </a:solidFill>
                <a:latin typeface="Calibri"/>
              </a:rPr>
              <a:t>Neon Postgres, HTTP driver · 10 tables · created at RUNTIME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505456"/>
            <a:ext cx="11185855" cy="56692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2505456"/>
            <a:ext cx="38100" cy="56692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2624328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3A8A"/>
                </a:solidFill>
                <a:latin typeface="Calibri"/>
              </a:rPr>
              <a:t>Sessions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69080" y="2624328"/>
            <a:ext cx="75282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933"/>
                </a:solidFill>
                <a:latin typeface="Calibri"/>
              </a:rPr>
              <a:t>Home-grown HMAC-SHA256. No JWT library is used at all.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136392"/>
            <a:ext cx="11185855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3136392"/>
            <a:ext cx="38100" cy="56692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3255264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3A8A"/>
                </a:solidFill>
                <a:latin typeface="Calibri"/>
              </a:rPr>
              <a:t>Devices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69080" y="3255264"/>
            <a:ext cx="75282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933"/>
                </a:solidFill>
                <a:latin typeface="Calibri"/>
              </a:rPr>
              <a:t>17 SKUs · ESP32 · MQTT/TLS on an own broker with an own CA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767328"/>
            <a:ext cx="11185855" cy="56692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3767328"/>
            <a:ext cx="38100" cy="56692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3232" y="38862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3A8A"/>
                </a:solidFill>
                <a:latin typeface="Calibri"/>
              </a:rPr>
              <a:t>Mobile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69080" y="3886200"/>
            <a:ext cx="75282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933"/>
                </a:solidFill>
                <a:latin typeface="Calibri"/>
              </a:rPr>
              <a:t>Expo, SHIPPED at v1.13.1 · a Kotlin/Swift prototype alongside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4398264"/>
            <a:ext cx="11185855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4398264"/>
            <a:ext cx="38100" cy="56692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3232" y="4517136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3A8A"/>
                </a:solidFill>
                <a:latin typeface="Calibri"/>
              </a:rPr>
              <a:t>Tests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69080" y="4517136"/>
            <a:ext cx="75282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933"/>
                </a:solidFill>
                <a:latin typeface="Calibri"/>
              </a:rPr>
              <a:t>236 suites · 4,328 tests · 1 failing · 49 seconds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029200"/>
            <a:ext cx="11185855" cy="56692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5029200"/>
            <a:ext cx="38100" cy="56692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3232" y="5148072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3A8A"/>
                </a:solidFill>
                <a:latin typeface="Calibri"/>
              </a:rPr>
              <a:t>CI/CD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69080" y="5148072"/>
            <a:ext cx="75282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933"/>
                </a:solidFill>
                <a:latin typeface="Calibri"/>
              </a:rPr>
              <a:t>14 steps, 13 hard gates — and 27 of 27 runs failed to start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5660136"/>
            <a:ext cx="11185855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5660136"/>
            <a:ext cx="38100" cy="56692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3232" y="5779008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3A8A"/>
                </a:solidFill>
                <a:latin typeface="Calibri"/>
              </a:rPr>
              <a:t>Observability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69080" y="5779008"/>
            <a:ext cx="75282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933"/>
                </a:solidFill>
                <a:latin typeface="Calibri"/>
              </a:rPr>
              <a:t>None. No error tracking, no alerting, no log sink.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997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Architectural topology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23774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64748B"/>
                </a:solidFill>
                <a:latin typeface="Calibri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37376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875"/>
                </a:solidFill>
                <a:latin typeface="Calibri"/>
              </a:rPr>
              <a:t>Circuvent Technologies · Architecture &amp; Technical Audit · 2026-08-20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66647" y="1554480"/>
            <a:ext cx="2651760" cy="1051560"/>
          </a:xfrm>
          <a:prstGeom prst="roundRect">
            <a:avLst/>
          </a:prstGeom>
          <a:solidFill>
            <a:srgbClr val="FEF3C7"/>
          </a:solidFill>
          <a:ln w="1524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7C2D12"/>
                </a:solidFill>
                <a:latin typeface="Calibri"/>
              </a:rPr>
              <a:t>17 SKUs of hardware</a:t>
            </a:r>
          </a:p>
          <a:p>
            <a:pPr algn="ctr"/>
            <a:r>
              <a:rPr sz="1400" b="0">
                <a:solidFill>
                  <a:srgbClr val="7C2D12"/>
                </a:solidFill>
                <a:latin typeface="Calibri"/>
              </a:rPr>
              <a:t>ESP32 · MQTT/TLS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69967" y="1554480"/>
            <a:ext cx="2651760" cy="1051560"/>
          </a:xfrm>
          <a:prstGeom prst="roundRect">
            <a:avLst/>
          </a:prstGeom>
          <a:solidFill>
            <a:srgbClr val="DBEAFE"/>
          </a:solidFill>
          <a:ln w="1524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E3A8A"/>
                </a:solidFill>
                <a:latin typeface="Calibri"/>
              </a:rPr>
              <a:t>website</a:t>
            </a:r>
          </a:p>
          <a:p>
            <a:pPr algn="ctr"/>
            <a:r>
              <a:rPr sz="1400" b="0">
                <a:solidFill>
                  <a:srgbClr val="1E3A8A"/>
                </a:solidFill>
                <a:latin typeface="Calibri"/>
              </a:rPr>
              <a:t>150 routes · 5 products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73287" y="1554480"/>
            <a:ext cx="2651760" cy="1051560"/>
          </a:xfrm>
          <a:prstGeom prst="roundRect">
            <a:avLst/>
          </a:prstGeom>
          <a:solidFill>
            <a:srgbClr val="F5F3FF"/>
          </a:solidFill>
          <a:ln w="1524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4C1D95"/>
                </a:solidFill>
                <a:latin typeface="Calibri"/>
              </a:rPr>
              <a:t>platform/</a:t>
            </a:r>
          </a:p>
          <a:p>
            <a:pPr algn="ctr"/>
            <a:r>
              <a:rPr sz="1400" b="0">
                <a:solidFill>
                  <a:srgbClr val="4C1D95"/>
                </a:solidFill>
                <a:latin typeface="Calibri"/>
              </a:rPr>
              <a:t>ONE Oracle VM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09847" y="2061210"/>
            <a:ext cx="868680" cy="3810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18407" y="1677924"/>
            <a:ext cx="10515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A6875"/>
                </a:solidFill>
                <a:latin typeface="Calibri"/>
              </a:rPr>
              <a:t>telemetry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13167" y="2061210"/>
            <a:ext cx="868680" cy="3810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21727" y="1677924"/>
            <a:ext cx="10515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A6875"/>
                </a:solidFill>
                <a:latin typeface="Calibri"/>
              </a:rPr>
              <a:t>federation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566160"/>
            <a:ext cx="2645587" cy="868680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4532D"/>
                </a:solidFill>
                <a:latin typeface="Calibri"/>
              </a:rPr>
              <a:t>Neon Postgres</a:t>
            </a:r>
          </a:p>
          <a:p>
            <a:pPr algn="ctr"/>
            <a:r>
              <a:rPr sz="1200" b="0">
                <a:solidFill>
                  <a:srgbClr val="14532D"/>
                </a:solidFill>
                <a:latin typeface="Calibri"/>
              </a:rPr>
              <a:t>10 tables · made at boot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49675" y="3566160"/>
            <a:ext cx="2645587" cy="868680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4532D"/>
                </a:solidFill>
                <a:latin typeface="Calibri"/>
              </a:rPr>
              <a:t>.data/ JSON files</a:t>
            </a:r>
          </a:p>
          <a:p>
            <a:pPr algn="ctr"/>
            <a:r>
              <a:rPr sz="1200" b="0">
                <a:solidFill>
                  <a:srgbClr val="14532D"/>
                </a:solidFill>
                <a:latin typeface="Calibri"/>
              </a:rPr>
              <a:t>~27 modules, memory-only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6430" y="3566160"/>
            <a:ext cx="2645587" cy="868680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4532D"/>
                </a:solidFill>
                <a:latin typeface="Calibri"/>
              </a:rPr>
              <a:t>Razorpay</a:t>
            </a:r>
          </a:p>
          <a:p>
            <a:pPr algn="ctr"/>
            <a:r>
              <a:rPr sz="1200" b="0">
                <a:solidFill>
                  <a:srgbClr val="14532D"/>
                </a:solidFill>
                <a:latin typeface="Calibri"/>
              </a:rPr>
              <a:t>webhook is a STUB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43185" y="3566160"/>
            <a:ext cx="2645587" cy="868680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4532D"/>
                </a:solidFill>
                <a:latin typeface="Calibri"/>
              </a:rPr>
              <a:t>mobile/ Expo</a:t>
            </a:r>
          </a:p>
          <a:p>
            <a:pPr algn="ctr"/>
            <a:r>
              <a:rPr sz="1200" b="0">
                <a:solidFill>
                  <a:srgbClr val="14532D"/>
                </a:solidFill>
                <a:latin typeface="Calibri"/>
              </a:rPr>
              <a:t>SHIPPED v1.13.1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76797" y="2606040"/>
            <a:ext cx="38100" cy="475488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825713" y="3081528"/>
            <a:ext cx="8540265" cy="3810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806663" y="3081528"/>
            <a:ext cx="38100" cy="484632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53418" y="3081528"/>
            <a:ext cx="38100" cy="484632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500173" y="3081528"/>
            <a:ext cx="38100" cy="484632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346928" y="3081528"/>
            <a:ext cx="38100" cy="484632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4581144"/>
            <a:ext cx="11185855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14532D"/>
                </a:solidFill>
                <a:latin typeface="Calibri"/>
              </a:rPr>
              <a:t>Wi-Fi, GSM, LoRa, ESP-NOW and MAVLink all terminate on one free-tier virtual machine.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48640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E3A8A"/>
                </a:solidFill>
                <a:latin typeface="Calibri"/>
              </a:rPr>
              <a:t>circuvent-platform/ is a DIFFERENT product entirely. The names are a trap.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997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The finding that matters most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23774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64748B"/>
                </a:solidFill>
                <a:latin typeface="Calibri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37376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875"/>
                </a:solidFill>
                <a:latin typeface="Calibri"/>
              </a:rPr>
              <a:t>Circuvent Technologies · Architecture &amp; Technical Audit · 2026-08-20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70432"/>
            <a:ext cx="11185855" cy="566928"/>
          </a:xfrm>
          <a:prstGeom prst="roundRect">
            <a:avLst/>
          </a:prstGeom>
          <a:solidFill>
            <a:srgbClr val="EEF3FB"/>
          </a:solidFill>
          <a:ln w="1524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600" b="1">
                <a:solidFill>
                  <a:srgbClr val="1E3A8A"/>
                </a:solidFill>
                <a:latin typeface="Calibri"/>
              </a:rPr>
              <a:t>Roughly twenty-seven storage modules have no database behind them.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2093976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75104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createFileStore() keeps an in-memory working copy and writes through to a JSON file. Its own comment: “On read-only filesystems... writes silently stop and the module degrades to in-memory-only for that instance, instead of throwing and breaking the request.”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862072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743200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About thirty modules are built on it. EXACTLY THREE pass durable: true — icm-store, admin-warranty and api-failures.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3630168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11296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The other ~27 include CMS content, CRM records, pricing, currency, tax configuration, feature flags, marketing, staff activity, 570 KB of telemetry, developer-portal tokens — and PASSKEYS.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4398264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279392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In production those live in one lambda instance's memory. When the instance recycles the data is gone. Not stale. Not corrupted. Gone.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5166360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047488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AND THE REPOSITORY ALREADY KNOWS: “Incidents filed weeks ago were not hidden; they were gone.” That bug was found, understood, written down — and fixed for ONE module.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997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Layered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23774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64748B"/>
                </a:solidFill>
                <a:latin typeface="Calibri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37376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875"/>
                </a:solidFill>
                <a:latin typeface="Calibri"/>
              </a:rPr>
              <a:t>Circuvent Technologies · Architecture &amp; Technical Audit · 2026-08-20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261872"/>
            <a:ext cx="10820095" cy="786384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/>
          <a:lstStyle/>
          <a:p>
            <a:pPr algn="l"/>
            <a:r>
              <a:rPr sz="1500" b="1">
                <a:solidFill>
                  <a:srgbClr val="1D4ED8"/>
                </a:solidFill>
                <a:latin typeface="Calibri"/>
              </a:rPr>
              <a:t>PRESENTATION</a:t>
            </a:r>
          </a:p>
          <a:p>
            <a:pPr algn="l"/>
            <a:r>
              <a:rPr sz="1150">
                <a:solidFill>
                  <a:srgbClr val="5A6875"/>
                </a:solidFill>
                <a:latin typeface="Calibri"/>
              </a:rPr>
              <a:t>React 19 server + client components · Tailwind v4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176272"/>
            <a:ext cx="10820095" cy="786384"/>
          </a:xfrm>
          <a:prstGeom prst="roundRect">
            <a:avLst/>
          </a:prstGeom>
          <a:solidFill>
            <a:srgbClr val="F5F3FF"/>
          </a:solidFill>
          <a:ln w="1524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/>
          <a:lstStyle/>
          <a:p>
            <a:pPr algn="l"/>
            <a:r>
              <a:rPr sz="1500" b="1">
                <a:solidFill>
                  <a:srgbClr val="6D28D9"/>
                </a:solidFill>
                <a:latin typeface="Calibri"/>
              </a:rPr>
              <a:t>APPLICATION</a:t>
            </a:r>
          </a:p>
          <a:p>
            <a:pPr algn="l"/>
            <a:r>
              <a:rPr sz="1150">
                <a:solidFill>
                  <a:srgbClr val="5A6875"/>
                </a:solidFill>
                <a:latin typeface="Calibri"/>
              </a:rPr>
              <a:t>App Router pages · server actions · route handlers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3090672"/>
            <a:ext cx="10820095" cy="786384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/>
          <a:lstStyle/>
          <a:p>
            <a:pPr algn="l"/>
            <a:r>
              <a:rPr sz="1500" b="1">
                <a:solidFill>
                  <a:srgbClr val="15803D"/>
                </a:solidFill>
                <a:latin typeface="Calibri"/>
              </a:rPr>
              <a:t>DOMAIN — pure, no I/O</a:t>
            </a:r>
          </a:p>
          <a:p>
            <a:pPr algn="l"/>
            <a:r>
              <a:rPr sz="1150">
                <a:solidFill>
                  <a:srgbClr val="5A6875"/>
                </a:solidFill>
                <a:latin typeface="Calibri"/>
              </a:rPr>
              <a:t>filter · format · resume · registration-validate · portal-groups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4005072"/>
            <a:ext cx="10820095" cy="786384"/>
          </a:xfrm>
          <a:prstGeom prst="roundRect">
            <a:avLst/>
          </a:prstGeom>
          <a:solidFill>
            <a:srgbClr val="FFF7ED"/>
          </a:solidFill>
          <a:ln w="1524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/>
          <a:lstStyle/>
          <a:p>
            <a:pPr algn="l"/>
            <a:r>
              <a:rPr sz="1500" b="1">
                <a:solidFill>
                  <a:srgbClr val="B45309"/>
                </a:solidFill>
                <a:latin typeface="Calibri"/>
              </a:rPr>
              <a:t>INTEGRATION</a:t>
            </a:r>
          </a:p>
          <a:p>
            <a:pPr algn="l"/>
            <a:r>
              <a:rPr sz="1150">
                <a:solidFill>
                  <a:srgbClr val="5A6875"/>
                </a:solidFill>
                <a:latin typeface="Calibri"/>
              </a:rPr>
              <a:t>ats.ts · candidate.ts · insights-reporter.ts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4919472"/>
            <a:ext cx="10820095" cy="786384"/>
          </a:xfrm>
          <a:prstGeom prst="roundRect">
            <a:avLst/>
          </a:prstGeom>
          <a:solidFill>
            <a:srgbClr val="F1F5F9"/>
          </a:solidFill>
          <a:ln w="1524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/>
          <a:lstStyle/>
          <a:p>
            <a:pPr algn="l"/>
            <a:r>
              <a:rPr sz="1500" b="1">
                <a:solidFill>
                  <a:srgbClr val="64748B"/>
                </a:solidFill>
                <a:latin typeface="Calibri"/>
              </a:rPr>
              <a:t>PLATFORM</a:t>
            </a:r>
          </a:p>
          <a:p>
            <a:pPr algn="l"/>
            <a:r>
              <a:rPr sz="1150">
                <a:solidFill>
                  <a:srgbClr val="5A6875"/>
                </a:solidFill>
                <a:latin typeface="Calibri"/>
              </a:rPr>
              <a:t>Node.js on Vercel · CDN · 60-second ISR cache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989320"/>
            <a:ext cx="108200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E3A8A"/>
                </a:solidFill>
                <a:latin typeface="Calibri"/>
              </a:rPr>
              <a:t>Auth is enforced per route, by helper calls. The gate does not gate.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997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Data flow - schema, and where it comes from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23774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64748B"/>
                </a:solidFill>
                <a:latin typeface="Calibri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37376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875"/>
                </a:solidFill>
                <a:latin typeface="Calibri"/>
              </a:rPr>
              <a:t>Circuvent Technologies · Architecture &amp; Technical Audit · 2026-08-20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399032"/>
            <a:ext cx="2512999" cy="1783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32104" y="1216152"/>
            <a:ext cx="420624" cy="420624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1783080"/>
            <a:ext cx="2220391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1E3A8A"/>
                </a:solidFill>
                <a:latin typeface="Calibri"/>
              </a:rPr>
              <a:t>Cold start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" y="2167128"/>
            <a:ext cx="2220391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875"/>
                </a:solidFill>
                <a:latin typeface="Calibri"/>
              </a:rPr>
              <a:t>A lambda boots. Nothing exists yet.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4831" y="1399032"/>
            <a:ext cx="2512999" cy="1783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601135" y="1216152"/>
            <a:ext cx="420624" cy="420624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01135" y="1783080"/>
            <a:ext cx="2220391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1E3A8A"/>
                </a:solidFill>
                <a:latin typeface="Calibri"/>
              </a:rPr>
              <a:t>initDb()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1135" y="2167128"/>
            <a:ext cx="2220391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875"/>
                </a:solidFill>
                <a:latin typeface="Calibri"/>
              </a:rPr>
              <a:t>Runs an array of CREATE TABLE IF NOT EXISTS strings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23863" y="1399032"/>
            <a:ext cx="2512999" cy="1783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370167" y="1216152"/>
            <a:ext cx="420624" cy="420624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0167" y="1783080"/>
            <a:ext cx="2220391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1E3A8A"/>
                </a:solidFill>
                <a:latin typeface="Calibri"/>
              </a:rPr>
              <a:t>Every call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0167" y="2167128"/>
            <a:ext cx="2220391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875"/>
                </a:solidFill>
                <a:latin typeface="Calibri"/>
              </a:rPr>
              <a:t>Every db* function awaits initDb() before querying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92895" y="1399032"/>
            <a:ext cx="2512999" cy="1783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139199" y="1216152"/>
            <a:ext cx="420624" cy="420624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39199" y="1783080"/>
            <a:ext cx="2220391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1E3A8A"/>
                </a:solidFill>
                <a:latin typeface="Calibri"/>
              </a:rPr>
              <a:t>Consequence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39199" y="2167128"/>
            <a:ext cx="2220391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875"/>
                </a:solidFill>
                <a:latin typeface="Calibri"/>
              </a:rPr>
              <a:t>The role must hold DDL rights, permanently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3566160"/>
            <a:ext cx="2512999" cy="1783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32104" y="3383280"/>
            <a:ext cx="420624" cy="420624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" y="3950208"/>
            <a:ext cx="2220391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1E3A8A"/>
                </a:solidFill>
                <a:latin typeface="Calibri"/>
              </a:rPr>
              <a:t>Driver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" y="4334256"/>
            <a:ext cx="2220391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875"/>
                </a:solidFill>
                <a:latin typeface="Calibri"/>
              </a:rPr>
              <a:t>neon() HTTP — so transactions are IMPOSSIBLE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454831" y="3566160"/>
            <a:ext cx="2512999" cy="1783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601135" y="3383280"/>
            <a:ext cx="420624" cy="420624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01135" y="3950208"/>
            <a:ext cx="2220391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1E3A8A"/>
                </a:solidFill>
                <a:latin typeface="Calibri"/>
              </a:rPr>
              <a:t>store_kv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01135" y="4334256"/>
            <a:ext cx="2220391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875"/>
                </a:solidFill>
                <a:latin typeface="Calibri"/>
              </a:rPr>
              <a:t>23 shop collections, ONE JSONB ROW EACH, key='_all'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23863" y="3566160"/>
            <a:ext cx="2512999" cy="1783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70167" y="3383280"/>
            <a:ext cx="420624" cy="420624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70167" y="3950208"/>
            <a:ext cx="2220391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1E3A8A"/>
                </a:solidFill>
                <a:latin typeface="Calibri"/>
              </a:rPr>
              <a:t>Fallback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70167" y="4334256"/>
            <a:ext cx="2220391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875"/>
                </a:solidFill>
                <a:latin typeface="Calibri"/>
              </a:rPr>
              <a:t>No DATABASE_URL? Silently write JSON files instead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92895" y="3566160"/>
            <a:ext cx="2512999" cy="1783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139199" y="3383280"/>
            <a:ext cx="420624" cy="420624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39199" y="3950208"/>
            <a:ext cx="2220391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1E3A8A"/>
                </a:solidFill>
                <a:latin typeface="Calibri"/>
              </a:rPr>
              <a:t>Production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39199" y="4334256"/>
            <a:ext cx="2220391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A6875"/>
                </a:solidFill>
                <a:latin typeface="Calibri"/>
              </a:rPr>
              <a:t>Read-only disk. The write fails. The catch swallows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997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Firmware: no signature verification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23774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64748B"/>
                </a:solidFill>
                <a:latin typeface="Calibri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37376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875"/>
                </a:solidFill>
                <a:latin typeface="Calibri"/>
              </a:rPr>
              <a:t>Circuvent Technologies · Architecture &amp; Technical Audit · 2026-08-20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70432"/>
            <a:ext cx="11185855" cy="566928"/>
          </a:xfrm>
          <a:prstGeom prst="roundRect">
            <a:avLst/>
          </a:prstGeom>
          <a:solidFill>
            <a:srgbClr val="EEF3FB"/>
          </a:solidFill>
          <a:ln w="1524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600" b="1">
                <a:solidFill>
                  <a:srgbClr val="1E3A8A"/>
                </a:solidFill>
                <a:latin typeface="Calibri"/>
              </a:rPr>
              <a:t>On devices that switch mains relays and door locks.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2093976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75104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Both OTA paths download over a certificate-PINNED TLS connection. That authenticates the SERVER. It does not authenticate the FIRMWARE.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862072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743200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Searched for and not found anywhere: Ed25519 or RSA signature verification, a hash manifest checked against an on-device public key, or ESP32 Secure Boot in any of the 29 platformio.ini files.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3630168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11296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The code articulates the stakes itself, explaining why setInsecure() was removed: “anyone able to intercept that connection... could serve arbitrary firmware and take permanent control of a board that switches mains relays and door locks.”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4398264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279392"/>
            <a:ext cx="10545775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The transport hole was closed. The integrity hole was not.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4928616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809744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And the device polls a manifest endpoint on a timer that DOES NOT EXIST — platform/api has no firmware route. The hardware checklist marks both signed builds and a rollback plan unchecked.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997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The payment webhook is a stub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23774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64748B"/>
                </a:solidFill>
                <a:latin typeface="Calibri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37376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875"/>
                </a:solidFill>
                <a:latin typeface="Calibri"/>
              </a:rPr>
              <a:t>Circuvent Technologies · Architecture &amp; Technical Audit · 2026-08-20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70432"/>
            <a:ext cx="11185855" cy="566928"/>
          </a:xfrm>
          <a:prstGeom prst="roundRect">
            <a:avLst/>
          </a:prstGeom>
          <a:solidFill>
            <a:srgbClr val="EEF3FB"/>
          </a:solidFill>
          <a:ln w="1524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600" b="1">
                <a:solidFill>
                  <a:srgbClr val="1E3A8A"/>
                </a:solidFill>
                <a:latin typeface="Calibri"/>
              </a:rPr>
              <a:t>It verifies its signature correctly. Then it does nothing.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2093976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75104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const expected = crypto.createHmac("sha256", secret).update(raw).digest("hex"); — correct, and constant-time compared.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862072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743200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Then it console.log()s and returns. Its own comment: “Reconciliation hook: when a persistent order store exists, mark the order paid/failed here...”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3630168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11296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Any payment captured at the gateway whose browser never returns — a closed tab, a dropped connection, a failed redirect — is money taken and an order never marked paid.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4398264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279392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The checkout-side path is genuinely good: verifyCapturedPayment re-fetches the payment from Razorpay and requires status === “captured” before trusting the amount, so a forged client signature cannot credit an order.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5166360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047488"/>
            <a:ext cx="10545775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The webhook was meant to be the safety net under that.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997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Five credential schemes, one gate that doesn't gate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23774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64748B"/>
                </a:solidFill>
                <a:latin typeface="Calibri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37376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875"/>
                </a:solidFill>
                <a:latin typeface="Calibri"/>
              </a:rPr>
              <a:t>Circuvent Technologies · Architecture &amp; Technical Audit · 2026-08-20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70432"/>
            <a:ext cx="11185855" cy="566928"/>
          </a:xfrm>
          <a:prstGeom prst="roundRect">
            <a:avLst/>
          </a:prstGeom>
          <a:solidFill>
            <a:srgbClr val="EEF3FB"/>
          </a:solidFill>
          <a:ln w="1524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600" b="1">
                <a:solidFill>
                  <a:srgbClr val="1E3A8A"/>
                </a:solidFill>
                <a:latin typeface="Calibri"/>
              </a:rPr>
              <a:t>src/proxy.ts performs no authentication at all.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2093976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75104"/>
            <a:ext cx="10545775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Customer sessions: HMAC-SHA256 over email|issuedAt|tokenVersion, signed with ACCOUNT_SECRET.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624328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05456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Staff sessions: the same shape, but ADMIN_SECRET — “Staff sessions get their own key so a leaked customer key cannot mint one.”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3392424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273552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Plus a static ADMIN_API_KEY header, a CRON_SECRET bearer, and a bridged external JWT for the control plane. Zero use of jose or jsonwebtoken anywhere in src/.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4160520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041648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This app does NOT share the suite's HS256 AUTH_JWT_SECRET. It is the only Circuvent application outside that scheme.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4928616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809744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proxy.ts handles host mounts, a legacy redirect, X-Request-Id and the CSP header — and no auth. Seven routes could not be matched to any known mechanism at all.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997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The same rule, written four times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23774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64748B"/>
                </a:solidFill>
                <a:latin typeface="Calibri"/>
              </a:rP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37376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875"/>
                </a:solidFill>
                <a:latin typeface="Calibri"/>
              </a:rPr>
              <a:t>Circuvent Technologies · Architecture &amp; Technical Audit · 2026-08-20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70432"/>
            <a:ext cx="11185855" cy="566928"/>
          </a:xfrm>
          <a:prstGeom prst="roundRect">
            <a:avLst/>
          </a:prstGeom>
          <a:solidFill>
            <a:srgbClr val="EEF3FB"/>
          </a:solidFill>
          <a:ln w="1524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600" b="1">
                <a:solidFill>
                  <a:srgbClr val="1E3A8A"/>
                </a:solidFill>
                <a:latin typeface="Calibri"/>
              </a:rPr>
              <a:t>And the bug it causes has already shipped twice.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2093976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75104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The per-device capability table decides which fields a device reports, which command keys control it, and which device types must expose no toggle at all — a camera's only switch is streaming; a drone's is flight permission.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862072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743200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It is implemented independently in Expo TypeScript, in Kotlin, in Swift, and again in the web console. No shared schema, no code generation.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3630168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11296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native/README.md names the failure: “A Home Hub reports power2 and is commanded with {ch: 1, on: true}... Send the state key to a device that wanted the command key and nothing errors. THAT BUG HAS ALREADY SHIPPED TWICE — once on the web and once in the Expo app.”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4398264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279392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The only guard is a parity test that diffs the three tables. Drift is CAUGHT BY AN ASSERTION, not PREVENTED BY A SCHEMA.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997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CI has never executed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23774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64748B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37376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875"/>
                </a:solidFill>
                <a:latin typeface="Calibri"/>
              </a:rPr>
              <a:t>Circuvent Technologies · Architecture &amp; Technical Audit · 2026-08-20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70432"/>
            <a:ext cx="11185855" cy="566928"/>
          </a:xfrm>
          <a:prstGeom prst="roundRect">
            <a:avLst/>
          </a:prstGeom>
          <a:solidFill>
            <a:srgbClr val="EEF3FB"/>
          </a:solidFill>
          <a:ln w="1524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600" b="1">
                <a:solidFill>
                  <a:srgbClr val="1E3A8A"/>
                </a:solidFill>
                <a:latin typeface="Calibri"/>
              </a:rPr>
              <a:t>The most thorough pipeline in the suite. Zero runs.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2093976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75104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27 workflow runs on record. 27 startup_failure. Zero seconds each. And the registered “CI” workflow has zero runs attributed to it at all — every one belongs to a synthetic, deleted placeholder.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862072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743200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What is not running: a typecheck, 4,328 root tests, the control plane's own ~290 tests, a PGlite database test, a production build, and a full Playwright suite. Thirteen hard gates; only lint is advisory.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3630168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11296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The workflow's own comments describe fixing exactly the gaps that made those tests unable to block a deploy: “That left ~290 tests... unable to block a deploy” and “E2E was never run in CI, which is how the sitemap assertion stayed broken.” Those fixes have never run either.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4398264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279392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And verify:secrets is not a CI gate — it is guarded only by a local pre-commit hook that git commit --no-verify defeats.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997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Every module names the bug it prevents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23774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64748B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37376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875"/>
                </a:solidFill>
                <a:latin typeface="Calibri"/>
              </a:rPr>
              <a:t>Circuvent Technologies · Architecture &amp; Technical Audit · 2026-08-20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70432"/>
            <a:ext cx="11185855" cy="566928"/>
          </a:xfrm>
          <a:prstGeom prst="roundRect">
            <a:avLst/>
          </a:prstGeom>
          <a:solidFill>
            <a:srgbClr val="EEF3FB"/>
          </a:solidFill>
          <a:ln w="1524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600" b="1">
                <a:solidFill>
                  <a:srgbClr val="1E3A8A"/>
                </a:solidFill>
                <a:latin typeface="Calibri"/>
              </a:rPr>
              <a:t>The best convention in the entire Circuvent suite.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2093976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75104"/>
            <a:ext cx="10545775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passkeys.ts: “The passkey still existed, still verified, and belonged to nobody.”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624328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05456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sso.ts: “Production users could sign in to dev, and dev quietly accumulated live credentials while doing it. The isolation guard was pointed at the wrong door.”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3392424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273552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install-hooks.mjs: “bash on the Windows box that does the builds is WSL with no distribution installed — it failed silently and the build carried on with the wrong signing key.”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4160520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041648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check-no-secrets.js: “a secret pushed once is in every clone and every fork, and deleting the file in a later commit does not remove it from history.”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4928616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809744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verify_kt_docs.py: “a build script in this repository has previously reported success while publishing the previous run's artifact, so 'the command succeeded' is not evidence.”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997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Verification that proves, not asserts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23774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64748B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37376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875"/>
                </a:solidFill>
                <a:latin typeface="Calibri"/>
              </a:rPr>
              <a:t>Circuvent Technologies · Architecture &amp; Technical Audit · 2026-08-20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70432"/>
            <a:ext cx="11185855" cy="566928"/>
          </a:xfrm>
          <a:prstGeom prst="roundRect">
            <a:avLst/>
          </a:prstGeom>
          <a:solidFill>
            <a:srgbClr val="EEF3FB"/>
          </a:solidFill>
          <a:ln w="1524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600" b="1">
                <a:solidFill>
                  <a:srgbClr val="1E3A8A"/>
                </a:solidFill>
                <a:latin typeface="Calibri"/>
              </a:rPr>
              <a:t>The engineering instinct here is excellent. Almost none of it is automated.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2093976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75104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verify-icm-durability.ts spawns FOUR REAL OPERATING-SYSTEM PROCESSES, sharing no memory, to prove data survives a cold start — rather than mocking one. It was run during this audit and passed.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862072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743200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audit-code-contrast.mjs reads COMPUTED CSS in a real browser, “because the bug it checks for was invisible to every existing test... the only symptom was that a human could not read it.”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3630168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11296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perf-probe.mjs uses the Resource Timing API for real transferred bytes and DIRECTLY OBSERVES layout shift rather than inferring it from missing dimensions.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4398264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279392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verify_business_docs.py opens the generated PowerPoint and asserts a real catalogue price is inside it — and that no raw unformatted price slipped past the formatter.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5166360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047488"/>
            <a:ext cx="10545775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None of these five scripts runs in CI. Thirteen npm scripts run nowhere automated at all.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997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The sub-projects, sized honestly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23774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64748B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37376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875"/>
                </a:solidFill>
                <a:latin typeface="Calibri"/>
              </a:rPr>
              <a:t>Circuvent Technologies · Architecture &amp; Technical Audit · 2026-08-20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43584"/>
            <a:ext cx="11185855" cy="56692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43584"/>
            <a:ext cx="38100" cy="56692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362456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3A8A"/>
                </a:solidFill>
                <a:latin typeface="Calibri"/>
              </a:rPr>
              <a:t>firmware/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9080" y="1362456"/>
            <a:ext cx="75282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933"/>
                </a:solidFill>
                <a:latin typeface="Calibri"/>
              </a:rPr>
              <a:t>13,003 files on disk — but git tracks only 84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874520"/>
            <a:ext cx="11185855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874520"/>
            <a:ext cx="38100" cy="56692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1993392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3A8A"/>
                </a:solidFill>
                <a:latin typeface="Calibr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69080" y="1993392"/>
            <a:ext cx="75282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933"/>
                </a:solidFill>
                <a:latin typeface="Calibri"/>
              </a:rPr>
              <a:t>29 sketches, one shared library, 17 retail products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505456"/>
            <a:ext cx="11185855" cy="56692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2505456"/>
            <a:ext cx="38100" cy="56692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2624328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3A8A"/>
                </a:solidFill>
                <a:latin typeface="Calibri"/>
              </a:rPr>
              <a:t>platform/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69080" y="2624328"/>
            <a:ext cx="75282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933"/>
                </a:solidFill>
                <a:latin typeface="Calibri"/>
              </a:rPr>
              <a:t>The IoT control plane. Mosquitto + Express + Postgres.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136392"/>
            <a:ext cx="11185855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3136392"/>
            <a:ext cx="38100" cy="56692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3255264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3A8A"/>
                </a:solidFill>
                <a:latin typeface="Calibri"/>
              </a:rPr>
              <a:t>circuvent-platform/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69080" y="3255264"/>
            <a:ext cx="75282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933"/>
                </a:solidFill>
                <a:latin typeface="Calibri"/>
              </a:rPr>
              <a:t>A DIFFERENT product: internal HR, payroll, projects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767328"/>
            <a:ext cx="11185855" cy="56692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3767328"/>
            <a:ext cx="38100" cy="56692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3232" y="38862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3A8A"/>
                </a:solidFill>
                <a:latin typeface="Calibri"/>
              </a:rPr>
              <a:t>mobile/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69080" y="3886200"/>
            <a:ext cx="75282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933"/>
                </a:solidFill>
                <a:latin typeface="Calibri"/>
              </a:rPr>
              <a:t>Expo. SHIPPED. Real signed artifacts, v1.1.0 through 1.12.0+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4398264"/>
            <a:ext cx="11185855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4398264"/>
            <a:ext cx="38100" cy="56692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3232" y="4517136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3A8A"/>
                </a:solidFill>
                <a:latin typeface="Calibri"/>
              </a:rPr>
              <a:t>native/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69080" y="4517136"/>
            <a:ext cx="75282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933"/>
                </a:solidFill>
                <a:latin typeface="Calibri"/>
              </a:rPr>
              <a:t>Kotlin buildable, Swift NEVER COMPILED. A candid prototype.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029200"/>
            <a:ext cx="11185855" cy="566928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5029200"/>
            <a:ext cx="38100" cy="56692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3232" y="5148072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3A8A"/>
                </a:solidFill>
                <a:latin typeface="Calibri"/>
              </a:rPr>
              <a:t>hardware/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69080" y="5148072"/>
            <a:ext cx="75282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933"/>
                </a:solidFill>
                <a:latin typeface="Calibri"/>
              </a:rPr>
              <a:t>Real KiCad boards and Gerbers, generated from BOM + schematic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5660136"/>
            <a:ext cx="11185855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5660136"/>
            <a:ext cx="38100" cy="56692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3232" y="5779008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3A8A"/>
                </a:solidFill>
                <a:latin typeface="Calibri"/>
              </a:rPr>
              <a:t>Not manufactured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69080" y="5779008"/>
            <a:ext cx="752825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F2933"/>
                </a:solidFill>
                <a:latin typeface="Calibri"/>
              </a:rPr>
              <a:t>Certification, tooling and fabrication remain unchecked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997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Health assessment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23774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64748B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37376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875"/>
                </a:solidFill>
                <a:latin typeface="Calibri"/>
              </a:rPr>
              <a:t>Circuvent Technologies · Architecture &amp; Technical Audit · 2026-08-20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16152"/>
            <a:ext cx="11185855" cy="309067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261872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2933"/>
                </a:solidFill>
                <a:latin typeface="Calibri"/>
              </a:rPr>
              <a:t>Incident documentation</a:t>
            </a:r>
          </a:p>
        </p:txBody>
      </p:sp>
      <p:sp>
        <p:nvSpPr>
          <p:cNvPr id="9" name="Oval 8"/>
          <p:cNvSpPr/>
          <p:nvPr/>
        </p:nvSpPr>
        <p:spPr>
          <a:xfrm>
            <a:off x="3657600" y="1316736"/>
            <a:ext cx="107899" cy="107899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986784" y="1316736"/>
            <a:ext cx="107899" cy="107899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315968" y="1316736"/>
            <a:ext cx="107899" cy="107899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45152" y="1316736"/>
            <a:ext cx="107899" cy="107899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974336" y="1316736"/>
            <a:ext cx="107899" cy="107899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23560" y="1271016"/>
            <a:ext cx="5973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6875"/>
                </a:solidFill>
                <a:latin typeface="Calibri"/>
              </a:rPr>
              <a:t>Eleven quoted examples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1561795"/>
            <a:ext cx="11185855" cy="3090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1607515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2933"/>
                </a:solidFill>
                <a:latin typeface="Calibri"/>
              </a:rPr>
              <a:t>Security headers</a:t>
            </a:r>
          </a:p>
        </p:txBody>
      </p:sp>
      <p:sp>
        <p:nvSpPr>
          <p:cNvPr id="17" name="Oval 16"/>
          <p:cNvSpPr/>
          <p:nvPr/>
        </p:nvSpPr>
        <p:spPr>
          <a:xfrm>
            <a:off x="3657600" y="1662379"/>
            <a:ext cx="107899" cy="107899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986784" y="1662379"/>
            <a:ext cx="107899" cy="107899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315968" y="1662379"/>
            <a:ext cx="107899" cy="107899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645152" y="1662379"/>
            <a:ext cx="107899" cy="107899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974336" y="1662379"/>
            <a:ext cx="107899" cy="107899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23560" y="1616659"/>
            <a:ext cx="5973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6875"/>
                </a:solidFill>
                <a:latin typeface="Calibri"/>
              </a:rPr>
              <a:t>Complete, applied at edge and globally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1907438"/>
            <a:ext cx="11185855" cy="309067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1953158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2933"/>
                </a:solidFill>
                <a:latin typeface="Calibri"/>
              </a:rPr>
              <a:t>Secret history hygiene</a:t>
            </a:r>
          </a:p>
        </p:txBody>
      </p:sp>
      <p:sp>
        <p:nvSpPr>
          <p:cNvPr id="25" name="Oval 24"/>
          <p:cNvSpPr/>
          <p:nvPr/>
        </p:nvSpPr>
        <p:spPr>
          <a:xfrm>
            <a:off x="3657600" y="2008022"/>
            <a:ext cx="107899" cy="107899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986784" y="2008022"/>
            <a:ext cx="107899" cy="107899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315968" y="2008022"/>
            <a:ext cx="107899" cy="107899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645152" y="2008022"/>
            <a:ext cx="107899" cy="107899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974336" y="2008022"/>
            <a:ext cx="107899" cy="107899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23560" y="1962302"/>
            <a:ext cx="5973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6875"/>
                </a:solidFill>
                <a:latin typeface="Calibri"/>
              </a:rPr>
              <a:t>Provably clean across all branches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2253081"/>
            <a:ext cx="11185855" cy="3090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232" y="2298801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2933"/>
                </a:solidFill>
                <a:latin typeface="Calibri"/>
              </a:rPr>
              <a:t>Verification thinking</a:t>
            </a:r>
          </a:p>
        </p:txBody>
      </p:sp>
      <p:sp>
        <p:nvSpPr>
          <p:cNvPr id="33" name="Oval 32"/>
          <p:cNvSpPr/>
          <p:nvPr/>
        </p:nvSpPr>
        <p:spPr>
          <a:xfrm>
            <a:off x="3657600" y="2353665"/>
            <a:ext cx="107899" cy="107899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986784" y="2353665"/>
            <a:ext cx="107899" cy="107899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315968" y="2353665"/>
            <a:ext cx="107899" cy="107899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645152" y="2353665"/>
            <a:ext cx="107899" cy="107899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974336" y="2353665"/>
            <a:ext cx="107899" cy="107899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23560" y="2307945"/>
            <a:ext cx="5973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6875"/>
                </a:solidFill>
                <a:latin typeface="Calibri"/>
              </a:rPr>
              <a:t>Scripts prove rather than assert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2598724"/>
            <a:ext cx="11185855" cy="309067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3232" y="2644444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2933"/>
                </a:solidFill>
                <a:latin typeface="Calibri"/>
              </a:rPr>
              <a:t>Test volume</a:t>
            </a:r>
          </a:p>
        </p:txBody>
      </p:sp>
      <p:sp>
        <p:nvSpPr>
          <p:cNvPr id="41" name="Oval 40"/>
          <p:cNvSpPr/>
          <p:nvPr/>
        </p:nvSpPr>
        <p:spPr>
          <a:xfrm>
            <a:off x="3657600" y="2699308"/>
            <a:ext cx="107899" cy="107899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986784" y="2699308"/>
            <a:ext cx="107899" cy="107899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315968" y="2699308"/>
            <a:ext cx="107899" cy="107899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645152" y="2699308"/>
            <a:ext cx="107899" cy="107899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974336" y="2699308"/>
            <a:ext cx="107899" cy="107899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23560" y="2653588"/>
            <a:ext cx="5973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6875"/>
                </a:solidFill>
                <a:latin typeface="Calibri"/>
              </a:rPr>
              <a:t>4,328 tests, one failing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2944367"/>
            <a:ext cx="11185855" cy="3090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13232" y="2990087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2933"/>
                </a:solidFill>
                <a:latin typeface="Calibri"/>
              </a:rPr>
              <a:t>Hardware engineering</a:t>
            </a:r>
          </a:p>
        </p:txBody>
      </p:sp>
      <p:sp>
        <p:nvSpPr>
          <p:cNvPr id="49" name="Oval 48"/>
          <p:cNvSpPr/>
          <p:nvPr/>
        </p:nvSpPr>
        <p:spPr>
          <a:xfrm>
            <a:off x="3657600" y="3044951"/>
            <a:ext cx="107899" cy="107899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986784" y="3044951"/>
            <a:ext cx="107899" cy="107899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315968" y="3044951"/>
            <a:ext cx="107899" cy="107899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645152" y="3044951"/>
            <a:ext cx="107899" cy="107899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974336" y="3044951"/>
            <a:ext cx="107899" cy="107899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623560" y="2999231"/>
            <a:ext cx="5973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6875"/>
                </a:solidFill>
                <a:latin typeface="Calibri"/>
              </a:rPr>
              <a:t>17 real board designs with Gerbers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" y="3290010"/>
            <a:ext cx="11185855" cy="309067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13232" y="3335730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2933"/>
                </a:solidFill>
                <a:latin typeface="Calibri"/>
              </a:rPr>
              <a:t>Code hygiene</a:t>
            </a:r>
          </a:p>
        </p:txBody>
      </p:sp>
      <p:sp>
        <p:nvSpPr>
          <p:cNvPr id="57" name="Oval 56"/>
          <p:cNvSpPr/>
          <p:nvPr/>
        </p:nvSpPr>
        <p:spPr>
          <a:xfrm>
            <a:off x="3657600" y="3390594"/>
            <a:ext cx="107899" cy="107899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3986784" y="3390594"/>
            <a:ext cx="107899" cy="107899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315968" y="3390594"/>
            <a:ext cx="107899" cy="107899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4645152" y="3390594"/>
            <a:ext cx="107899" cy="107899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4974336" y="3390594"/>
            <a:ext cx="107899" cy="107899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623560" y="3344874"/>
            <a:ext cx="5973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6875"/>
                </a:solidFill>
                <a:latin typeface="Calibri"/>
              </a:rPr>
              <a:t>0 ts-ignore, 1 TODO — but lint config broken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02920" y="3635653"/>
            <a:ext cx="11185855" cy="3090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13232" y="3681373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2933"/>
                </a:solidFill>
                <a:latin typeface="Calibri"/>
              </a:rPr>
              <a:t>Documentation accuracy</a:t>
            </a:r>
          </a:p>
        </p:txBody>
      </p:sp>
      <p:sp>
        <p:nvSpPr>
          <p:cNvPr id="65" name="Oval 64"/>
          <p:cNvSpPr/>
          <p:nvPr/>
        </p:nvSpPr>
        <p:spPr>
          <a:xfrm>
            <a:off x="3657600" y="3736237"/>
            <a:ext cx="107899" cy="107899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3986784" y="3736237"/>
            <a:ext cx="107899" cy="107899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4315968" y="3736237"/>
            <a:ext cx="107899" cy="107899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645152" y="3736237"/>
            <a:ext cx="107899" cy="107899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974336" y="3736237"/>
            <a:ext cx="107899" cy="107899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623560" y="3690517"/>
            <a:ext cx="5973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6875"/>
                </a:solidFill>
                <a:latin typeface="Calibri"/>
              </a:rPr>
              <a:t>README describes an eighth of it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02920" y="3981296"/>
            <a:ext cx="11185855" cy="309067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13232" y="4027016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2933"/>
                </a:solidFill>
                <a:latin typeface="Calibri"/>
              </a:rPr>
              <a:t>Auth architecture</a:t>
            </a:r>
          </a:p>
        </p:txBody>
      </p:sp>
      <p:sp>
        <p:nvSpPr>
          <p:cNvPr id="73" name="Oval 72"/>
          <p:cNvSpPr/>
          <p:nvPr/>
        </p:nvSpPr>
        <p:spPr>
          <a:xfrm>
            <a:off x="3657600" y="4081880"/>
            <a:ext cx="107899" cy="107899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3986784" y="4081880"/>
            <a:ext cx="107899" cy="107899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4315968" y="4081880"/>
            <a:ext cx="107899" cy="107899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4645152" y="4081880"/>
            <a:ext cx="107899" cy="107899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4974336" y="4081880"/>
            <a:ext cx="107899" cy="107899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623560" y="4036160"/>
            <a:ext cx="5973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6875"/>
                </a:solidFill>
                <a:latin typeface="Calibri"/>
              </a:rPr>
              <a:t>Five schemes, no central gate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02920" y="4326939"/>
            <a:ext cx="11185855" cy="3090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13232" y="4372659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2933"/>
                </a:solidFill>
                <a:latin typeface="Calibri"/>
              </a:rPr>
              <a:t>Payment reconciliation</a:t>
            </a:r>
          </a:p>
        </p:txBody>
      </p:sp>
      <p:sp>
        <p:nvSpPr>
          <p:cNvPr id="81" name="Oval 80"/>
          <p:cNvSpPr/>
          <p:nvPr/>
        </p:nvSpPr>
        <p:spPr>
          <a:xfrm>
            <a:off x="3657600" y="4427523"/>
            <a:ext cx="107899" cy="107899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986784" y="4427523"/>
            <a:ext cx="107899" cy="107899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4315968" y="4427523"/>
            <a:ext cx="107899" cy="107899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4645152" y="4427523"/>
            <a:ext cx="107899" cy="107899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4974336" y="4427523"/>
            <a:ext cx="107899" cy="107899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623560" y="4381803"/>
            <a:ext cx="5973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6875"/>
                </a:solidFill>
                <a:latin typeface="Calibri"/>
              </a:rPr>
              <a:t>Webhook verifies, then does nothing</a:t>
            </a:r>
          </a:p>
        </p:txBody>
      </p:sp>
      <p:sp>
        <p:nvSpPr>
          <p:cNvPr id="87" name="Rectangle 86"/>
          <p:cNvSpPr/>
          <p:nvPr/>
        </p:nvSpPr>
        <p:spPr>
          <a:xfrm>
            <a:off x="502920" y="4672582"/>
            <a:ext cx="11185855" cy="309067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13232" y="4718302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2933"/>
                </a:solidFill>
                <a:latin typeface="Calibri"/>
              </a:rPr>
              <a:t>Schema management</a:t>
            </a:r>
          </a:p>
        </p:txBody>
      </p:sp>
      <p:sp>
        <p:nvSpPr>
          <p:cNvPr id="89" name="Oval 88"/>
          <p:cNvSpPr/>
          <p:nvPr/>
        </p:nvSpPr>
        <p:spPr>
          <a:xfrm>
            <a:off x="3657600" y="4773166"/>
            <a:ext cx="107899" cy="107899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986784" y="4773166"/>
            <a:ext cx="107899" cy="107899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4315968" y="4773166"/>
            <a:ext cx="107899" cy="107899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4645152" y="4773166"/>
            <a:ext cx="107899" cy="107899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4974336" y="4773166"/>
            <a:ext cx="107899" cy="107899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623560" y="4727446"/>
            <a:ext cx="5973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6875"/>
                </a:solidFill>
                <a:latin typeface="Calibri"/>
              </a:rPr>
              <a:t>Created at runtime, no migrations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02920" y="5018225"/>
            <a:ext cx="11185855" cy="3090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13232" y="5063945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2933"/>
                </a:solidFill>
                <a:latin typeface="Calibri"/>
              </a:rPr>
              <a:t>Firmware supply chain</a:t>
            </a:r>
          </a:p>
        </p:txBody>
      </p:sp>
      <p:sp>
        <p:nvSpPr>
          <p:cNvPr id="97" name="Oval 96"/>
          <p:cNvSpPr/>
          <p:nvPr/>
        </p:nvSpPr>
        <p:spPr>
          <a:xfrm>
            <a:off x="3657600" y="5118809"/>
            <a:ext cx="107899" cy="107899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3986784" y="5118809"/>
            <a:ext cx="107899" cy="107899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4315968" y="5118809"/>
            <a:ext cx="107899" cy="107899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4645152" y="5118809"/>
            <a:ext cx="107899" cy="107899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4974336" y="5118809"/>
            <a:ext cx="107899" cy="107899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5623560" y="5073089"/>
            <a:ext cx="5973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6875"/>
                </a:solidFill>
                <a:latin typeface="Calibri"/>
              </a:rPr>
              <a:t>No image signature verification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02920" y="5363868"/>
            <a:ext cx="11185855" cy="309067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713232" y="5409588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2933"/>
                </a:solidFill>
                <a:latin typeface="Calibri"/>
              </a:rPr>
              <a:t>Data durability</a:t>
            </a:r>
          </a:p>
        </p:txBody>
      </p:sp>
      <p:sp>
        <p:nvSpPr>
          <p:cNvPr id="105" name="Oval 104"/>
          <p:cNvSpPr/>
          <p:nvPr/>
        </p:nvSpPr>
        <p:spPr>
          <a:xfrm>
            <a:off x="3657600" y="5464452"/>
            <a:ext cx="107899" cy="107899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3986784" y="5464452"/>
            <a:ext cx="107899" cy="107899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4315968" y="5464452"/>
            <a:ext cx="107899" cy="107899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4645152" y="5464452"/>
            <a:ext cx="107899" cy="107899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4974336" y="5464452"/>
            <a:ext cx="107899" cy="107899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5623560" y="5418732"/>
            <a:ext cx="5973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6875"/>
                </a:solidFill>
                <a:latin typeface="Calibri"/>
              </a:rPr>
              <a:t>~27 modules memory-only in production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02920" y="5709511"/>
            <a:ext cx="11185855" cy="3090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713232" y="5755231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2933"/>
                </a:solidFill>
                <a:latin typeface="Calibri"/>
              </a:rPr>
              <a:t>Observability</a:t>
            </a:r>
          </a:p>
        </p:txBody>
      </p:sp>
      <p:sp>
        <p:nvSpPr>
          <p:cNvPr id="113" name="Oval 112"/>
          <p:cNvSpPr/>
          <p:nvPr/>
        </p:nvSpPr>
        <p:spPr>
          <a:xfrm>
            <a:off x="3657600" y="5810095"/>
            <a:ext cx="107899" cy="107899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3986784" y="5810095"/>
            <a:ext cx="107899" cy="107899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4315968" y="5810095"/>
            <a:ext cx="107899" cy="107899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4645152" y="5810095"/>
            <a:ext cx="107899" cy="107899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4974336" y="5810095"/>
            <a:ext cx="107899" cy="107899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5623560" y="5764375"/>
            <a:ext cx="5973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6875"/>
                </a:solidFill>
                <a:latin typeface="Calibri"/>
              </a:rPr>
              <a:t>No error tracking, no alerting, no sink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502920" y="6055154"/>
            <a:ext cx="11185855" cy="309067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713232" y="6100874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2933"/>
                </a:solidFill>
                <a:latin typeface="Calibri"/>
              </a:rPr>
              <a:t>CI actually running</a:t>
            </a:r>
          </a:p>
        </p:txBody>
      </p:sp>
      <p:sp>
        <p:nvSpPr>
          <p:cNvPr id="121" name="Oval 120"/>
          <p:cNvSpPr/>
          <p:nvPr/>
        </p:nvSpPr>
        <p:spPr>
          <a:xfrm>
            <a:off x="3657600" y="6155738"/>
            <a:ext cx="107899" cy="107899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3986784" y="6155738"/>
            <a:ext cx="107899" cy="107899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4315968" y="6155738"/>
            <a:ext cx="107899" cy="107899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4645152" y="6155738"/>
            <a:ext cx="107899" cy="107899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4974336" y="6155738"/>
            <a:ext cx="107899" cy="107899"/>
          </a:xfrm>
          <a:prstGeom prst="ellipse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623560" y="6110018"/>
            <a:ext cx="5973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6875"/>
                </a:solidFill>
                <a:latin typeface="Calibri"/>
              </a:rPr>
              <a:t>0 of 27 runs have ever started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997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Top five gaps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23774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64748B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37376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875"/>
                </a:solidFill>
                <a:latin typeface="Calibri"/>
              </a:rPr>
              <a:t>Circuvent Technologies · Architecture &amp; Technical Audit · 2026-08-20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70432"/>
            <a:ext cx="11185855" cy="566928"/>
          </a:xfrm>
          <a:prstGeom prst="roundRect">
            <a:avLst/>
          </a:prstGeom>
          <a:solidFill>
            <a:srgbClr val="EEF3FB"/>
          </a:solidFill>
          <a:ln w="1524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600" b="1">
                <a:solidFill>
                  <a:srgbClr val="1E3A8A"/>
                </a:solidFill>
                <a:latin typeface="Calibri"/>
              </a:rPr>
              <a:t>One is losing data right now. One takes a day.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2093976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75104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~27 storage modules are memory-only in production. Passkeys and developer tokens are among them. The fix is a flag on a function that already supports it.  [3 weeks]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862072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743200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Firmware OTA has no image signature verification, on devices controlling mains relays and door locks — and the manifest endpoint they poll does not exist.  [6 weeks]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3630168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11296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CI has never run, and verify:secrets is not a CI gate. Thirteen hard gates and 4,328 tests are decorative.  [1 day]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4398264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279392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The payment webhook verifies its signature and then does nothing, so a payment without a browser return is never reconciled.  [2 weeks]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5166360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047488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Database schema is created at runtime by the app booting — no migrations, no foreign keys, no access control of any kind.  [1 month]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997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Phased roadmap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23774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64748B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37376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875"/>
                </a:solidFill>
                <a:latin typeface="Calibri"/>
              </a:rPr>
              <a:t>Circuvent Technologies · Architecture &amp; Technical Audit · 2026-08-20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90472"/>
            <a:ext cx="2526715" cy="3566160"/>
          </a:xfrm>
          <a:prstGeom prst="roundRect">
            <a:avLst/>
          </a:prstGeom>
          <a:solidFill>
            <a:srgbClr val="FEF2F2"/>
          </a:solidFill>
          <a:ln w="15240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490472"/>
            <a:ext cx="2526715" cy="566928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Phase 1   about 1 week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212847"/>
            <a:ext cx="2160955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B91C1C"/>
                </a:solidFill>
                <a:latin typeface="Calibri"/>
              </a:rPr>
              <a:t>Turn the lights 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871216"/>
            <a:ext cx="2160955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1F2933"/>
                </a:solidFill>
                <a:latin typeface="Calibri"/>
              </a:rPr>
              <a:t>Fix whatever prevents GitHub Actions from starting</a:t>
            </a: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1F2933"/>
                </a:solidFill>
                <a:latin typeface="Calibri"/>
              </a:rPr>
              <a:t>add verify:secrets to CI</a:t>
            </a: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1F2933"/>
                </a:solidFill>
                <a:latin typeface="Calibri"/>
              </a:rPr>
              <a:t>fix the failing report-logo test</a:t>
            </a: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1F2933"/>
                </a:solidFill>
                <a:latin typeface="Calibri"/>
              </a:rPr>
              <a:t>fix the eslint ignore patterns so lint reports 705 real problems instead of 29,687</a:t>
            </a: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1F2933"/>
                </a:solidFill>
                <a:latin typeface="Calibri"/>
              </a:rPr>
              <a:t>rewrite the README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0259" y="1490472"/>
            <a:ext cx="2526715" cy="356616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50259" y="1490472"/>
            <a:ext cx="2526715" cy="56692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Phase 2   about 1 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33139" y="2212847"/>
            <a:ext cx="2160955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B45309"/>
                </a:solidFill>
                <a:latin typeface="Calibri"/>
              </a:rPr>
              <a:t>Stop losing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3139" y="2871216"/>
            <a:ext cx="2160955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1F2933"/>
                </a:solidFill>
                <a:latin typeface="Calibri"/>
              </a:rPr>
              <a:t>Audit all thirty createFileStore callers</a:t>
            </a: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1F2933"/>
                </a:solidFill>
                <a:latin typeface="Calibri"/>
              </a:rPr>
              <a:t>set durable: true on every module whose data matters</a:t>
            </a: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1F2933"/>
                </a:solidFill>
                <a:latin typeface="Calibri"/>
              </a:rPr>
              <a:t>generalise the four-process durability harness from one module to all of them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4719" y="1490472"/>
            <a:ext cx="2526715" cy="3566160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4719" y="1490472"/>
            <a:ext cx="2526715" cy="56692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Phase 3   about 1 month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97599" y="2212847"/>
            <a:ext cx="2160955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D4ED8"/>
                </a:solidFill>
                <a:latin typeface="Calibri"/>
              </a:rPr>
              <a:t>Money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97599" y="2871216"/>
            <a:ext cx="2160955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1F2933"/>
                </a:solidFill>
                <a:latin typeface="Calibri"/>
              </a:rPr>
              <a:t>Wire the payment webhook to actually mark orders paid or failed</a:t>
            </a: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1F2933"/>
                </a:solidFill>
                <a:latin typeface="Calibri"/>
              </a:rPr>
              <a:t>add a reconciliation job against the gateway</a:t>
            </a: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1F2933"/>
                </a:solidFill>
                <a:latin typeface="Calibri"/>
              </a:rPr>
              <a:t>give money a branded integer type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79179" y="1490472"/>
            <a:ext cx="2526715" cy="3566160"/>
          </a:xfrm>
          <a:prstGeom prst="roundRect">
            <a:avLst/>
          </a:prstGeom>
          <a:solidFill>
            <a:srgbClr val="F0FDF4"/>
          </a:solidFill>
          <a:ln w="1524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79179" y="1490472"/>
            <a:ext cx="2526715" cy="566928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Phase 4-5   1-2 quarters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62059" y="2212847"/>
            <a:ext cx="2160955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5803D"/>
                </a:solidFill>
                <a:latin typeface="Calibri"/>
              </a:rPr>
              <a:t>Supply chain, then foundations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62059" y="2871216"/>
            <a:ext cx="2160955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1F2933"/>
                </a:solidFill>
                <a:latin typeface="Calibri"/>
              </a:rPr>
              <a:t>Ed25519 firmware signing verified on-device before flashing</a:t>
            </a: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1F2933"/>
                </a:solidFill>
                <a:latin typeface="Calibri"/>
              </a:rPr>
              <a:t>build the OTA manifest endpoint</a:t>
            </a: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1F2933"/>
                </a:solidFill>
                <a:latin typeface="Calibri"/>
              </a:rPr>
              <a:t>rollback and key-rotation policy</a:t>
            </a: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1F2933"/>
                </a:solidFill>
                <a:latin typeface="Calibri"/>
              </a:rPr>
              <a:t>real migrations</a:t>
            </a: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1F2933"/>
                </a:solidFill>
                <a:latin typeface="Calibri"/>
              </a:rPr>
              <a:t>split store_kv into real tables</a:t>
            </a: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1F2933"/>
                </a:solidFill>
                <a:latin typeface="Calibri"/>
              </a:rPr>
              <a:t>error tracking and alerting</a:t>
            </a: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1F2933"/>
                </a:solidFill>
                <a:latin typeface="Calibri"/>
              </a:rPr>
              <a:t>one shared capability schema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897880"/>
            <a:ext cx="108200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E3A8A"/>
                </a:solidFill>
                <a:latin typeface="Calibri"/>
              </a:rPr>
              <a:t>Roughly ten days of work moves operational maturity from two stars to four.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997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What must NOT change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23774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64748B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37376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875"/>
                </a:solidFill>
                <a:latin typeface="Calibri"/>
              </a:rPr>
              <a:t>Circuvent Technologies · Architecture &amp; Technical Audit · 2026-08-20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70432"/>
            <a:ext cx="11185855" cy="566928"/>
          </a:xfrm>
          <a:prstGeom prst="roundRect">
            <a:avLst/>
          </a:prstGeom>
          <a:solidFill>
            <a:srgbClr val="EEF3FB"/>
          </a:solidFill>
          <a:ln w="1524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/>
          <a:lstStyle/>
          <a:p>
            <a:pPr algn="l"/>
            <a:r>
              <a:rPr sz="1600" b="1">
                <a:solidFill>
                  <a:srgbClr val="1E3A8A"/>
                </a:solidFill>
                <a:latin typeface="Calibri"/>
              </a:rPr>
              <a:t>Decisions that look like overhead and are not.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2093976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75104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The incident-comment convention. Eleven examples are quoted in these documents. It made this audit possible.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862072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743200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Verification that proves rather than asserts — four real processes, computed CSS in a real browser, a generated deck opened and checked.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3630168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11296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Separate session secrets for staff and customers, plus the token version counter added after a departing employee's copied token stayed valid forever.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4398264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279392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Passkey scopes that “must never be interchangeable”, and server-side TOTP QR rendering so the secret never reaches a third-party service.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5166360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047488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Payment capture re-fetched from the gateway, and image remotePatterns scoped to two hosts: “/** would turn the Next image optimizer into an open proxy.”</a:t>
            </a:r>
          </a:p>
        </p:txBody>
      </p:sp>
      <p:sp>
        <p:nvSpPr>
          <p:cNvPr id="18" name="Oval 17"/>
          <p:cNvSpPr/>
          <p:nvPr/>
        </p:nvSpPr>
        <p:spPr>
          <a:xfrm>
            <a:off x="685800" y="5934456"/>
            <a:ext cx="109728" cy="109728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5815584"/>
            <a:ext cx="10545775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>
                <a:solidFill>
                  <a:srgbClr val="1F2933"/>
                </a:solidFill>
                <a:latin typeface="Calibri"/>
              </a:rPr>
              <a:t>The drone companion-computer design: “WHY THE CLOUD IS NEVER IN THE CONTROL LOOP... There is deliberately no 'nudge forward while I hold this button'.”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99713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20095" y="237744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64748B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37376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A6875"/>
                </a:solidFill>
                <a:latin typeface="Calibri"/>
              </a:rPr>
              <a:t>Circuvent Technologies · Architecture &amp; Technical Audit · 2026-08-20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353312"/>
            <a:ext cx="10820095" cy="868680"/>
          </a:xfrm>
          <a:prstGeom prst="roundRect">
            <a:avLst/>
          </a:prstGeom>
          <a:solidFill>
            <a:srgbClr val="EEF3FB"/>
          </a:solidFill>
          <a:ln w="1524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1E3A8A"/>
                </a:solidFill>
                <a:latin typeface="Calibri"/>
              </a:rPr>
              <a:t>Real engineering judgement, almost none of it automated.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587752"/>
            <a:ext cx="10180015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50" b="0">
                <a:solidFill>
                  <a:srgbClr val="1F2933"/>
                </a:solidFill>
                <a:latin typeface="Calibri"/>
              </a:rPr>
              <a:t>Four hundred and twenty-eight thousand lines spanning a storefront, an admin console, an IoT platform, firmware for seventeen retail products, real PCB designs and a shipped mobile app. Modules that open by naming the production incident they exist to prevent. Verification scripts that spawn four real operating-system processes rather than mocking a cold start, because “'the command succeeded' is not evidence.” A complete security-header set. A git history provably free of any committed secret.</a:t>
            </a:r>
          </a:p>
          <a:p>
            <a:pPr algn="l">
              <a:lnSpc>
                <a:spcPct val="140000"/>
              </a:lnSpc>
            </a:pPr>
            <a:r>
              <a:rPr sz="1550" b="0">
                <a:solidFill>
                  <a:srgbClr val="1F2933"/>
                </a:solidFill>
                <a:latin typeface="Calibr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50" b="0">
                <a:solidFill>
                  <a:srgbClr val="1F2933"/>
                </a:solidFill>
                <a:latin typeface="Calibri"/>
              </a:rPr>
              <a:t>And: a CI pipeline of thirteen hard gates that has never executed once in twenty-seven attempts; roughly twenty-seven storage modules — including passkeys — that lose everything on a serverless cold start; firmware updates with no signature verification on devices that switch mains relays and door locks; a payment webhook that checks its signature and then does nothing; and a README describing about an eighth of what is here.</a:t>
            </a:r>
          </a:p>
          <a:p>
            <a:pPr algn="l">
              <a:lnSpc>
                <a:spcPct val="140000"/>
              </a:lnSpc>
            </a:pPr>
            <a:r>
              <a:rPr sz="1550" b="0">
                <a:solidFill>
                  <a:srgbClr val="1F2933"/>
                </a:solidFill>
                <a:latin typeface="Calibr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50" b="0">
                <a:solidFill>
                  <a:srgbClr val="1F2933"/>
                </a:solidFill>
                <a:latin typeface="Calibri"/>
              </a:rPr>
              <a:t>This repository knows what good looks like. It has written the reasons down, in the files themselves. What it lacks is anything that runs them without being asked.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